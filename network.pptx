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495" r:id="rId3"/>
    <p:sldId id="494" r:id="rId4"/>
    <p:sldId id="496" r:id="rId5"/>
    <p:sldId id="498" r:id="rId6"/>
    <p:sldId id="499" r:id="rId7"/>
    <p:sldId id="500" r:id="rId8"/>
    <p:sldId id="479" r:id="rId9"/>
    <p:sldId id="544" r:id="rId10"/>
    <p:sldId id="489" r:id="rId11"/>
    <p:sldId id="462" r:id="rId12"/>
    <p:sldId id="257" r:id="rId13"/>
    <p:sldId id="535" r:id="rId14"/>
    <p:sldId id="583" r:id="rId15"/>
    <p:sldId id="570" r:id="rId16"/>
    <p:sldId id="571" r:id="rId17"/>
    <p:sldId id="572" r:id="rId18"/>
    <p:sldId id="573" r:id="rId19"/>
    <p:sldId id="574" r:id="rId20"/>
    <p:sldId id="575" r:id="rId21"/>
    <p:sldId id="576" r:id="rId22"/>
    <p:sldId id="577" r:id="rId23"/>
    <p:sldId id="569" r:id="rId24"/>
    <p:sldId id="258" r:id="rId25"/>
    <p:sldId id="261" r:id="rId26"/>
    <p:sldId id="262" r:id="rId27"/>
    <p:sldId id="263" r:id="rId28"/>
    <p:sldId id="264" r:id="rId29"/>
    <p:sldId id="265" r:id="rId30"/>
    <p:sldId id="266" r:id="rId31"/>
    <p:sldId id="267" r:id="rId32"/>
    <p:sldId id="268" r:id="rId33"/>
    <p:sldId id="269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91A83-8F29-44FF-807D-0725AF48CE82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C1B300-CF2F-448B-B7BC-5B18E3B87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151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1">
            <a:extLst>
              <a:ext uri="{FF2B5EF4-FFF2-40B4-BE49-F238E27FC236}">
                <a16:creationId xmlns:a16="http://schemas.microsoft.com/office/drawing/2014/main" id="{561AD1BD-1237-BB07-F7F1-87858B70AA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5DD9D777-8FED-4B15-9F62-7BB94A3D8771}" type="slidenum">
              <a:rPr lang="ar-SA" altLang="en-US" sz="80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3</a:t>
            </a:fld>
            <a:endParaRPr lang="en-US" altLang="en-US" sz="80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8E838747-FACD-1D93-ECA4-2D1868E736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7288" y="681038"/>
            <a:ext cx="4541837" cy="3406775"/>
          </a:xfrm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10A3A1F4-6C1F-02D1-018F-88119AE414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14825"/>
            <a:ext cx="5026025" cy="40878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1">
            <a:extLst>
              <a:ext uri="{FF2B5EF4-FFF2-40B4-BE49-F238E27FC236}">
                <a16:creationId xmlns:a16="http://schemas.microsoft.com/office/drawing/2014/main" id="{F41D28CA-DE92-8078-C6AC-CDF2F13064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A817106B-346F-44D6-8070-1600E1EC1119}" type="slidenum">
              <a:rPr lang="ar-SA" altLang="en-US" sz="80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5</a:t>
            </a:fld>
            <a:endParaRPr lang="en-US" altLang="en-US" sz="8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95D70966-F7BC-3050-D306-8990264C9E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7288" y="681038"/>
            <a:ext cx="4541837" cy="3406775"/>
          </a:xfrm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B41D0A37-80D9-6D8C-5A89-DAB8E32515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14825"/>
            <a:ext cx="5026025" cy="40878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1">
            <a:extLst>
              <a:ext uri="{FF2B5EF4-FFF2-40B4-BE49-F238E27FC236}">
                <a16:creationId xmlns:a16="http://schemas.microsoft.com/office/drawing/2014/main" id="{B80C93E5-B431-1F0B-FD88-3EBEBC4E61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8756A637-B017-40C7-A867-3C8420FAF141}" type="slidenum">
              <a:rPr lang="ar-SA" altLang="en-US" sz="80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6</a:t>
            </a:fld>
            <a:endParaRPr lang="en-US" altLang="en-US" sz="8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10460DCC-5475-75E3-5471-3CD76DF230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7288" y="681038"/>
            <a:ext cx="4541837" cy="3406775"/>
          </a:xfrm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F5E02E7D-DDAD-09BD-9254-23857A863B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14825"/>
            <a:ext cx="5026025" cy="40878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1">
            <a:extLst>
              <a:ext uri="{FF2B5EF4-FFF2-40B4-BE49-F238E27FC236}">
                <a16:creationId xmlns:a16="http://schemas.microsoft.com/office/drawing/2014/main" id="{26D14DB9-F612-611E-51C2-F1C19F65D5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93FCD129-9222-465E-BA7C-99050020EBD4}" type="slidenum">
              <a:rPr lang="ar-SA" altLang="en-US" sz="80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7</a:t>
            </a:fld>
            <a:endParaRPr lang="en-US" altLang="en-US" sz="8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C0F3FA69-FCC3-445F-9690-DF793C84B5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7288" y="681038"/>
            <a:ext cx="4541837" cy="3406775"/>
          </a:xfrm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4BB2164E-A252-2B5A-31B2-22302CCB12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14825"/>
            <a:ext cx="5026025" cy="40878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1">
            <a:extLst>
              <a:ext uri="{FF2B5EF4-FFF2-40B4-BE49-F238E27FC236}">
                <a16:creationId xmlns:a16="http://schemas.microsoft.com/office/drawing/2014/main" id="{3C5BB2EA-3968-7684-FF32-DAB568C908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B2378742-FC19-46EE-A9FD-A0D2D92B70D1}" type="slidenum">
              <a:rPr lang="ar-SA" altLang="en-US" sz="80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8</a:t>
            </a:fld>
            <a:endParaRPr lang="en-US" altLang="en-US" sz="8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29392D86-D5A1-D5E2-7618-D0C46514F7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B4D1E3C1-2A41-A38F-F3D0-A6920493CA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1">
            <a:extLst>
              <a:ext uri="{FF2B5EF4-FFF2-40B4-BE49-F238E27FC236}">
                <a16:creationId xmlns:a16="http://schemas.microsoft.com/office/drawing/2014/main" id="{97D64019-082D-15D1-7788-6B582F6659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316A87EE-2168-48EC-92AE-A9BAFD6AF902}" type="slidenum">
              <a:rPr lang="ar-SA" altLang="en-US" sz="80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9</a:t>
            </a:fld>
            <a:endParaRPr lang="en-US" altLang="en-US" sz="8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3F34FB5C-41E9-F876-7E05-B72A536579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9002AAA2-EA97-6F7E-219A-E8D56815E5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1">
            <a:extLst>
              <a:ext uri="{FF2B5EF4-FFF2-40B4-BE49-F238E27FC236}">
                <a16:creationId xmlns:a16="http://schemas.microsoft.com/office/drawing/2014/main" id="{A63552FA-A45A-EA23-84CD-EEACA75A63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AE35B774-39CC-4B11-9EE5-C4E5F820AC21}" type="slidenum">
              <a:rPr lang="ar-SA" altLang="en-US" sz="80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10</a:t>
            </a:fld>
            <a:endParaRPr lang="en-US" altLang="en-US" sz="800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6630F67B-1B24-CF55-6781-874D9EC779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BF58F072-5112-6EFD-80D1-C8B54D160A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11">
            <a:extLst>
              <a:ext uri="{FF2B5EF4-FFF2-40B4-BE49-F238E27FC236}">
                <a16:creationId xmlns:a16="http://schemas.microsoft.com/office/drawing/2014/main" id="{84C96DA2-EB35-4DEB-BDC0-31A4E10A1B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947302DC-DA4E-46BC-B95B-75EE21D60BF1}" type="slidenum">
              <a:rPr lang="ar-SA" altLang="en-US" sz="80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11</a:t>
            </a:fld>
            <a:endParaRPr lang="en-US" altLang="en-US" sz="8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F8376F1B-B9FE-F8E8-D3B3-1B78E22530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55953536-A642-9413-E061-33A5F12FFD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11">
            <a:extLst>
              <a:ext uri="{FF2B5EF4-FFF2-40B4-BE49-F238E27FC236}">
                <a16:creationId xmlns:a16="http://schemas.microsoft.com/office/drawing/2014/main" id="{58359C2C-57C9-6E04-84CB-260CB4534A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lnSpc>
                <a:spcPct val="90000"/>
              </a:lnSpc>
              <a:spcBef>
                <a:spcPct val="40000"/>
              </a:spcBef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SzPct val="100000"/>
              <a:buChar char="•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8AAF5C40-A264-4654-B6DF-E1639048F8E5}" type="slidenum">
              <a:rPr lang="ar-SA" altLang="en-US" sz="80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22</a:t>
            </a:fld>
            <a:endParaRPr lang="en-US" altLang="en-US" sz="800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AC449AF6-C955-9CAE-5DB3-AD619548C4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834822F9-D0CE-BB19-1220-94663112ED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عنوان وأربعة من ال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 sz="quarter"/>
          </p:nvPr>
        </p:nvSpPr>
        <p:spPr>
          <a:xfrm>
            <a:off x="655638" y="627063"/>
            <a:ext cx="8145462" cy="838200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sz="quarter" idx="1"/>
          </p:nvPr>
        </p:nvSpPr>
        <p:spPr>
          <a:xfrm>
            <a:off x="655638" y="1900238"/>
            <a:ext cx="3894137" cy="1709737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محتوى 3"/>
          <p:cNvSpPr>
            <a:spLocks noGrp="1"/>
          </p:cNvSpPr>
          <p:nvPr>
            <p:ph sz="quarter" idx="2"/>
          </p:nvPr>
        </p:nvSpPr>
        <p:spPr>
          <a:xfrm>
            <a:off x="4702175" y="1900238"/>
            <a:ext cx="3894138" cy="1709737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5" name="عنصر نائب للمحتوى 4"/>
          <p:cNvSpPr>
            <a:spLocks noGrp="1"/>
          </p:cNvSpPr>
          <p:nvPr>
            <p:ph sz="quarter" idx="3"/>
          </p:nvPr>
        </p:nvSpPr>
        <p:spPr>
          <a:xfrm>
            <a:off x="655638" y="3762375"/>
            <a:ext cx="3894137" cy="17097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4702175" y="3762375"/>
            <a:ext cx="3894138" cy="17097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614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Internet Technology </a:t>
            </a:r>
            <a:br>
              <a:rPr lang="en-US" dirty="0"/>
            </a:b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>
                <a:solidFill>
                  <a:schemeClr val="tx1"/>
                </a:solidFill>
              </a:rPr>
              <a:t>Lecture 1</a:t>
            </a:r>
            <a:endParaRPr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>
            <a:extLst>
              <a:ext uri="{FF2B5EF4-FFF2-40B4-BE49-F238E27FC236}">
                <a16:creationId xmlns:a16="http://schemas.microsoft.com/office/drawing/2014/main" id="{2E3F0D05-1C56-C21D-6B4C-568437418B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162175"/>
            <a:ext cx="146050" cy="34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3025" tIns="36512" rIns="73025" bIns="36512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800" b="1">
              <a:cs typeface="Arial" panose="020B0604020202020204" pitchFamily="34" charset="0"/>
            </a:endParaRPr>
          </a:p>
        </p:txBody>
      </p:sp>
      <p:sp>
        <p:nvSpPr>
          <p:cNvPr id="13315" name="Text Box 3">
            <a:extLst>
              <a:ext uri="{FF2B5EF4-FFF2-40B4-BE49-F238E27FC236}">
                <a16:creationId xmlns:a16="http://schemas.microsoft.com/office/drawing/2014/main" id="{E6F0E2FF-3B66-93F0-0EAF-5BC4FD576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844675"/>
            <a:ext cx="8001000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3025" tIns="36512" rIns="73025" bIns="36512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folHlink"/>
              </a:buClr>
              <a:buFontTx/>
              <a:buChar char="•"/>
            </a:pPr>
            <a:r>
              <a:rPr lang="en-US" altLang="en-US" b="1">
                <a:cs typeface="Arial" panose="020B0604020202020204" pitchFamily="34" charset="0"/>
              </a:rPr>
              <a:t> </a:t>
            </a:r>
            <a:r>
              <a:rPr lang="en-US" altLang="en-US" b="1" u="sng">
                <a:cs typeface="Arial" panose="020B0604020202020204" pitchFamily="34" charset="0"/>
              </a:rPr>
              <a:t>Network:</a:t>
            </a:r>
            <a:r>
              <a:rPr lang="en-US" altLang="en-US" b="1">
                <a:cs typeface="Arial" panose="020B0604020202020204" pitchFamily="34" charset="0"/>
              </a:rPr>
              <a:t> </a:t>
            </a:r>
          </a:p>
          <a:p>
            <a:pPr>
              <a:buClr>
                <a:schemeClr val="folHlink"/>
              </a:buClr>
            </a:pPr>
            <a:r>
              <a:rPr lang="en-US" altLang="en-US">
                <a:cs typeface="Arial" panose="020B0604020202020204" pitchFamily="34" charset="0"/>
              </a:rPr>
              <a:t>Group of components or </a:t>
            </a:r>
            <a:r>
              <a:rPr lang="en-US" altLang="en-US">
                <a:solidFill>
                  <a:schemeClr val="tx2"/>
                </a:solidFill>
                <a:cs typeface="Arial" panose="020B0604020202020204" pitchFamily="34" charset="0"/>
              </a:rPr>
              <a:t>devices </a:t>
            </a:r>
            <a:r>
              <a:rPr lang="en-US" altLang="en-US">
                <a:cs typeface="Arial" panose="020B0604020202020204" pitchFamily="34" charset="0"/>
              </a:rPr>
              <a:t>which are</a:t>
            </a:r>
            <a:r>
              <a:rPr lang="en-US" altLang="en-US">
                <a:solidFill>
                  <a:schemeClr val="tx2"/>
                </a:solidFill>
                <a:cs typeface="Arial" panose="020B0604020202020204" pitchFamily="34" charset="0"/>
              </a:rPr>
              <a:t> connected</a:t>
            </a:r>
            <a:r>
              <a:rPr lang="en-US" altLang="en-US">
                <a:cs typeface="Arial" panose="020B0604020202020204" pitchFamily="34" charset="0"/>
              </a:rPr>
              <a:t> together to give the user a certain </a:t>
            </a:r>
            <a:r>
              <a:rPr lang="en-US" altLang="en-US">
                <a:solidFill>
                  <a:schemeClr val="tx2"/>
                </a:solidFill>
                <a:cs typeface="Arial" panose="020B0604020202020204" pitchFamily="34" charset="0"/>
              </a:rPr>
              <a:t>service </a:t>
            </a:r>
            <a:r>
              <a:rPr lang="en-US" altLang="en-US">
                <a:cs typeface="Arial" panose="020B0604020202020204" pitchFamily="34" charset="0"/>
              </a:rPr>
              <a:t>(application).</a:t>
            </a:r>
          </a:p>
          <a:p>
            <a:pPr>
              <a:buClr>
                <a:schemeClr val="folHlink"/>
              </a:buClr>
            </a:pPr>
            <a:endParaRPr lang="en-US" altLang="en-US">
              <a:cs typeface="Arial" panose="020B060402020202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en-US"/>
          </a:p>
          <a:p>
            <a:endParaRPr lang="en-US" altLang="en-US" b="1">
              <a:cs typeface="Arial" panose="020B0604020202020204" pitchFamily="34" charset="0"/>
            </a:endParaRP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38AF5799-0BCD-68AB-C9E3-31B7019B4BD4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>
          <a:xfrm>
            <a:off x="466725" y="642938"/>
            <a:ext cx="8145463" cy="838200"/>
          </a:xfrm>
        </p:spPr>
        <p:txBody>
          <a:bodyPr/>
          <a:lstStyle/>
          <a:p>
            <a:pPr algn="ctr" eaLnBrk="1" hangingPunct="1"/>
            <a:r>
              <a:rPr lang="en-US" altLang="en-US"/>
              <a:t>2- Network definition</a:t>
            </a:r>
          </a:p>
        </p:txBody>
      </p:sp>
      <p:pic>
        <p:nvPicPr>
          <p:cNvPr id="13317" name="Picture 5">
            <a:extLst>
              <a:ext uri="{FF2B5EF4-FFF2-40B4-BE49-F238E27FC236}">
                <a16:creationId xmlns:a16="http://schemas.microsoft.com/office/drawing/2014/main" id="{45684627-F780-BD03-F5E4-1DBD02AAC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3117850"/>
            <a:ext cx="7748587" cy="3367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3">
            <a:extLst>
              <a:ext uri="{FF2B5EF4-FFF2-40B4-BE49-F238E27FC236}">
                <a16:creationId xmlns:a16="http://schemas.microsoft.com/office/drawing/2014/main" id="{76A114AC-9418-5226-BAD6-127E8B54F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77988"/>
            <a:ext cx="8382000" cy="1174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4">
            <a:extLst>
              <a:ext uri="{FF2B5EF4-FFF2-40B4-BE49-F238E27FC236}">
                <a16:creationId xmlns:a16="http://schemas.microsoft.com/office/drawing/2014/main" id="{7D79D5E2-3571-EB7F-646D-C9423F8C72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3490913"/>
            <a:ext cx="2133600" cy="185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5">
            <a:extLst>
              <a:ext uri="{FF2B5EF4-FFF2-40B4-BE49-F238E27FC236}">
                <a16:creationId xmlns:a16="http://schemas.microsoft.com/office/drawing/2014/main" id="{1FA04744-477C-473E-8249-8D146FABE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24313"/>
            <a:ext cx="1617663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6">
            <a:extLst>
              <a:ext uri="{FF2B5EF4-FFF2-40B4-BE49-F238E27FC236}">
                <a16:creationId xmlns:a16="http://schemas.microsoft.com/office/drawing/2014/main" id="{E9BB8FED-B105-2934-5250-0D88BC791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3643313"/>
            <a:ext cx="1295400" cy="820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0" name="Picture 7">
            <a:extLst>
              <a:ext uri="{FF2B5EF4-FFF2-40B4-BE49-F238E27FC236}">
                <a16:creationId xmlns:a16="http://schemas.microsoft.com/office/drawing/2014/main" id="{FDF6B52F-FC9F-7832-666A-38C0E262F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78303">
            <a:off x="1371600" y="4176713"/>
            <a:ext cx="1371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1" name="Picture 8">
            <a:extLst>
              <a:ext uri="{FF2B5EF4-FFF2-40B4-BE49-F238E27FC236}">
                <a16:creationId xmlns:a16="http://schemas.microsoft.com/office/drawing/2014/main" id="{C5D3A9B3-80AE-B55F-5128-FDBFE7D0AD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1684350">
            <a:off x="5867400" y="4176713"/>
            <a:ext cx="1371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2" name="Picture 9">
            <a:extLst>
              <a:ext uri="{FF2B5EF4-FFF2-40B4-BE49-F238E27FC236}">
                <a16:creationId xmlns:a16="http://schemas.microsoft.com/office/drawing/2014/main" id="{AE1AAFEB-8BAE-BBDC-AA58-F9AFCA429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033713"/>
            <a:ext cx="1295400" cy="820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3" name="Picture 10">
            <a:extLst>
              <a:ext uri="{FF2B5EF4-FFF2-40B4-BE49-F238E27FC236}">
                <a16:creationId xmlns:a16="http://schemas.microsoft.com/office/drawing/2014/main" id="{0F35D49C-416B-C600-9B82-1D2D7C59B6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4633913"/>
            <a:ext cx="144780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4" name="Picture 11">
            <a:extLst>
              <a:ext uri="{FF2B5EF4-FFF2-40B4-BE49-F238E27FC236}">
                <a16:creationId xmlns:a16="http://schemas.microsoft.com/office/drawing/2014/main" id="{001D0DCB-A3CC-D0DC-39B2-1B28D2AB58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633913"/>
            <a:ext cx="14478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275" name="Line 12">
            <a:extLst>
              <a:ext uri="{FF2B5EF4-FFF2-40B4-BE49-F238E27FC236}">
                <a16:creationId xmlns:a16="http://schemas.microsoft.com/office/drawing/2014/main" id="{7E49BF13-74DD-697E-741A-90F443EA0654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4862513"/>
            <a:ext cx="160020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6" name="Rectangle 13">
            <a:extLst>
              <a:ext uri="{FF2B5EF4-FFF2-40B4-BE49-F238E27FC236}">
                <a16:creationId xmlns:a16="http://schemas.microsoft.com/office/drawing/2014/main" id="{227B5676-44BF-74AF-2429-E75F335EC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38" y="1025525"/>
            <a:ext cx="8229600" cy="817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defTabSz="814388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14388">
              <a:lnSpc>
                <a:spcPct val="95000"/>
              </a:lnSpc>
              <a:spcBef>
                <a:spcPct val="35000"/>
              </a:spcBef>
              <a:buClr>
                <a:srgbClr val="708CA1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14388">
              <a:lnSpc>
                <a:spcPct val="95000"/>
              </a:lnSpc>
              <a:spcBef>
                <a:spcPct val="35000"/>
              </a:spcBef>
              <a:buClr>
                <a:srgbClr val="708CA1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14388">
              <a:lnSpc>
                <a:spcPct val="95000"/>
              </a:lnSpc>
              <a:spcBef>
                <a:spcPct val="35000"/>
              </a:spcBef>
              <a:buClr>
                <a:srgbClr val="708CA1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14388">
              <a:lnSpc>
                <a:spcPct val="95000"/>
              </a:lnSpc>
              <a:spcBef>
                <a:spcPct val="35000"/>
              </a:spcBef>
              <a:buClr>
                <a:srgbClr val="708CA1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14388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>
                <a:solidFill>
                  <a:srgbClr val="708CA1"/>
                </a:solidFill>
              </a:rPr>
              <a:t>1- Elements of Communication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E20446B6-A2A0-EE0F-C0F1-8C84DF6847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5638" y="627063"/>
            <a:ext cx="8145462" cy="69215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/>
              <a:t>3- Network components</a:t>
            </a:r>
          </a:p>
        </p:txBody>
      </p:sp>
      <p:sp>
        <p:nvSpPr>
          <p:cNvPr id="16387" name="Text Box 3">
            <a:extLst>
              <a:ext uri="{FF2B5EF4-FFF2-40B4-BE49-F238E27FC236}">
                <a16:creationId xmlns:a16="http://schemas.microsoft.com/office/drawing/2014/main" id="{E5B49F35-D3DA-9098-A91F-2DBC7DD49C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450975"/>
            <a:ext cx="8243888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3025" tIns="36512" rIns="73025" bIns="36512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folHlink"/>
              </a:buClr>
              <a:buFontTx/>
              <a:buChar char="•"/>
            </a:pPr>
            <a:r>
              <a:rPr lang="en-US" altLang="en-US" sz="1800" b="1">
                <a:cs typeface="Arial" panose="020B0604020202020204" pitchFamily="34" charset="0"/>
              </a:rPr>
              <a:t> Network has three main components</a:t>
            </a:r>
          </a:p>
          <a:p>
            <a:pPr lvl="1"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en-US" altLang="en-US" sz="1800" b="1">
                <a:cs typeface="Arial" panose="020B0604020202020204" pitchFamily="34" charset="0"/>
              </a:rPr>
              <a:t>  End devices </a:t>
            </a:r>
            <a:r>
              <a:rPr lang="en-US" altLang="en-US" sz="1800">
                <a:cs typeface="Arial" panose="020B0604020202020204" pitchFamily="34" charset="0"/>
              </a:rPr>
              <a:t> </a:t>
            </a:r>
            <a:r>
              <a:rPr lang="en-US" altLang="en-US" sz="1800">
                <a:solidFill>
                  <a:schemeClr val="tx2"/>
                </a:solidFill>
                <a:cs typeface="Arial" panose="020B0604020202020204" pitchFamily="34" charset="0"/>
              </a:rPr>
              <a:t>(servers and hosts)</a:t>
            </a:r>
          </a:p>
          <a:p>
            <a:pPr lvl="1">
              <a:buClr>
                <a:schemeClr val="folHlink"/>
              </a:buClr>
            </a:pPr>
            <a:r>
              <a:rPr lang="en-US" altLang="en-US" sz="1800">
                <a:cs typeface="Arial" panose="020B0604020202020204" pitchFamily="34" charset="0"/>
              </a:rPr>
              <a:t>     </a:t>
            </a:r>
            <a:r>
              <a:rPr lang="en-US" altLang="en-US" sz="1800">
                <a:solidFill>
                  <a:schemeClr val="folHlink"/>
                </a:solidFill>
                <a:cs typeface="Arial" panose="020B0604020202020204" pitchFamily="34" charset="0"/>
              </a:rPr>
              <a:t>- </a:t>
            </a:r>
            <a:r>
              <a:rPr lang="en-US" altLang="en-US" sz="1800">
                <a:cs typeface="Arial" panose="020B0604020202020204" pitchFamily="34" charset="0"/>
              </a:rPr>
              <a:t>Source of applications (network aware applications)</a:t>
            </a:r>
          </a:p>
          <a:p>
            <a:pPr lvl="1">
              <a:buClr>
                <a:schemeClr val="folHlink"/>
              </a:buClr>
            </a:pPr>
            <a:r>
              <a:rPr lang="en-US" altLang="en-US" sz="1800">
                <a:cs typeface="Arial" panose="020B0604020202020204" pitchFamily="34" charset="0"/>
              </a:rPr>
              <a:t>     </a:t>
            </a:r>
            <a:r>
              <a:rPr lang="en-US" altLang="en-US" sz="1800">
                <a:solidFill>
                  <a:schemeClr val="folHlink"/>
                </a:solidFill>
                <a:cs typeface="Arial" panose="020B0604020202020204" pitchFamily="34" charset="0"/>
              </a:rPr>
              <a:t>- </a:t>
            </a:r>
            <a:r>
              <a:rPr lang="en-US" altLang="en-US" sz="1800">
                <a:cs typeface="Arial" panose="020B0604020202020204" pitchFamily="34" charset="0"/>
              </a:rPr>
              <a:t>ex:  HTTP (Hyper Text Transmission Protocol),</a:t>
            </a:r>
          </a:p>
          <a:p>
            <a:pPr lvl="1">
              <a:buClr>
                <a:schemeClr val="folHlink"/>
              </a:buClr>
            </a:pPr>
            <a:r>
              <a:rPr lang="en-US" altLang="en-US" sz="1800">
                <a:cs typeface="Arial" panose="020B0604020202020204" pitchFamily="34" charset="0"/>
              </a:rPr>
              <a:t>              FTP (File Transfer Protocol),</a:t>
            </a:r>
          </a:p>
          <a:p>
            <a:pPr lvl="1">
              <a:buClr>
                <a:schemeClr val="folHlink"/>
              </a:buClr>
            </a:pPr>
            <a:r>
              <a:rPr lang="en-US" altLang="en-US" sz="1800">
                <a:cs typeface="Arial" panose="020B0604020202020204" pitchFamily="34" charset="0"/>
              </a:rPr>
              <a:t>              SMTP (Simple Mail Transfer  Protocol)</a:t>
            </a:r>
          </a:p>
          <a:p>
            <a:pPr lvl="1">
              <a:buClr>
                <a:schemeClr val="folHlink"/>
              </a:buClr>
            </a:pPr>
            <a:r>
              <a:rPr lang="en-US" altLang="en-US" sz="1800">
                <a:cs typeface="Arial" panose="020B0604020202020204" pitchFamily="34" charset="0"/>
              </a:rPr>
              <a:t>              POP3 (Post Office Protocol 3)</a:t>
            </a:r>
          </a:p>
          <a:p>
            <a:pPr lvl="1">
              <a:buClr>
                <a:schemeClr val="folHlink"/>
              </a:buClr>
            </a:pPr>
            <a:r>
              <a:rPr lang="en-US" altLang="en-US" sz="1800">
                <a:cs typeface="Arial" panose="020B0604020202020204" pitchFamily="34" charset="0"/>
              </a:rPr>
              <a:t>              Telnet</a:t>
            </a:r>
          </a:p>
          <a:p>
            <a:pPr lvl="1">
              <a:buClr>
                <a:schemeClr val="folHlink"/>
              </a:buClr>
            </a:pPr>
            <a:endParaRPr lang="en-US" altLang="en-US" sz="1800">
              <a:cs typeface="Arial" panose="020B0604020202020204" pitchFamily="34" charset="0"/>
            </a:endParaRPr>
          </a:p>
          <a:p>
            <a:pPr lvl="1"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en-US" altLang="en-US" sz="1800" b="1">
                <a:solidFill>
                  <a:schemeClr val="folHlink"/>
                </a:solidFill>
                <a:cs typeface="Arial" panose="020B0604020202020204" pitchFamily="34" charset="0"/>
              </a:rPr>
              <a:t>  </a:t>
            </a:r>
            <a:r>
              <a:rPr lang="en-US" altLang="en-US" sz="1800" b="1">
                <a:cs typeface="Arial" panose="020B0604020202020204" pitchFamily="34" charset="0"/>
              </a:rPr>
              <a:t>Network Devices</a:t>
            </a:r>
          </a:p>
          <a:p>
            <a:pPr lvl="1"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en-US" altLang="en-US" sz="1800" b="1">
                <a:cs typeface="Arial" panose="020B0604020202020204" pitchFamily="34" charset="0"/>
              </a:rPr>
              <a:t>     </a:t>
            </a:r>
            <a:r>
              <a:rPr lang="en-US" altLang="en-US" sz="1800">
                <a:solidFill>
                  <a:schemeClr val="folHlink"/>
                </a:solidFill>
                <a:cs typeface="Arial" panose="020B0604020202020204" pitchFamily="34" charset="0"/>
              </a:rPr>
              <a:t>- </a:t>
            </a:r>
            <a:r>
              <a:rPr lang="en-US" altLang="en-US" sz="1800">
                <a:cs typeface="Arial" panose="020B0604020202020204" pitchFamily="34" charset="0"/>
              </a:rPr>
              <a:t>Devices that interconnect different computers together</a:t>
            </a:r>
          </a:p>
          <a:p>
            <a:pPr lvl="1"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en-US" altLang="en-US" sz="1800">
                <a:cs typeface="Arial" panose="020B0604020202020204" pitchFamily="34" charset="0"/>
              </a:rPr>
              <a:t>     </a:t>
            </a:r>
            <a:r>
              <a:rPr lang="en-US" altLang="en-US" sz="1800">
                <a:solidFill>
                  <a:schemeClr val="folHlink"/>
                </a:solidFill>
                <a:cs typeface="Arial" panose="020B0604020202020204" pitchFamily="34" charset="0"/>
              </a:rPr>
              <a:t>- </a:t>
            </a:r>
            <a:r>
              <a:rPr lang="en-US" altLang="en-US" sz="1800">
                <a:cs typeface="Arial" panose="020B0604020202020204" pitchFamily="34" charset="0"/>
              </a:rPr>
              <a:t>ex: </a:t>
            </a:r>
            <a:r>
              <a:rPr lang="en-US" altLang="en-US" sz="1800">
                <a:solidFill>
                  <a:schemeClr val="tx2"/>
                </a:solidFill>
                <a:cs typeface="Arial" panose="020B0604020202020204" pitchFamily="34" charset="0"/>
              </a:rPr>
              <a:t>Repeaters, hub, bridge, switch, router, NIC and modems</a:t>
            </a:r>
          </a:p>
          <a:p>
            <a:pPr lvl="1">
              <a:buClr>
                <a:schemeClr val="folHlink"/>
              </a:buClr>
              <a:buFont typeface="Wingdings" panose="05000000000000000000" pitchFamily="2" charset="2"/>
              <a:buNone/>
            </a:pPr>
            <a:endParaRPr lang="en-US" altLang="en-US" sz="1800" b="1">
              <a:solidFill>
                <a:schemeClr val="tx2"/>
              </a:solidFill>
              <a:cs typeface="Arial" panose="020B0604020202020204" pitchFamily="34" charset="0"/>
            </a:endParaRPr>
          </a:p>
          <a:p>
            <a:pPr lvl="1"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en-US" altLang="en-US" sz="1800" b="1">
                <a:cs typeface="Arial" panose="020B0604020202020204" pitchFamily="34" charset="0"/>
              </a:rPr>
              <a:t>  Connectivity</a:t>
            </a:r>
          </a:p>
          <a:p>
            <a:pPr lvl="1"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en-US" altLang="en-US" sz="1800" b="1">
                <a:solidFill>
                  <a:schemeClr val="folHlink"/>
                </a:solidFill>
                <a:cs typeface="Arial" panose="020B0604020202020204" pitchFamily="34" charset="0"/>
              </a:rPr>
              <a:t>    </a:t>
            </a:r>
            <a:r>
              <a:rPr lang="en-US" altLang="en-US" sz="1800">
                <a:solidFill>
                  <a:schemeClr val="folHlink"/>
                </a:solidFill>
                <a:cs typeface="Arial" panose="020B0604020202020204" pitchFamily="34" charset="0"/>
              </a:rPr>
              <a:t>- </a:t>
            </a:r>
            <a:r>
              <a:rPr lang="en-US" altLang="en-US" sz="1800">
                <a:cs typeface="Arial" panose="020B0604020202020204" pitchFamily="34" charset="0"/>
              </a:rPr>
              <a:t>Media that physically connect the computers and network devices</a:t>
            </a:r>
          </a:p>
          <a:p>
            <a:pPr lvl="1"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en-US" altLang="en-US" sz="1800">
                <a:cs typeface="Arial" panose="020B0604020202020204" pitchFamily="34" charset="0"/>
              </a:rPr>
              <a:t>    </a:t>
            </a:r>
            <a:r>
              <a:rPr lang="en-US" altLang="en-US" sz="1800">
                <a:solidFill>
                  <a:schemeClr val="folHlink"/>
                </a:solidFill>
                <a:cs typeface="Arial" panose="020B0604020202020204" pitchFamily="34" charset="0"/>
              </a:rPr>
              <a:t>- </a:t>
            </a:r>
            <a:r>
              <a:rPr lang="en-US" altLang="en-US" sz="1800">
                <a:cs typeface="Arial" panose="020B0604020202020204" pitchFamily="34" charset="0"/>
              </a:rPr>
              <a:t>ex: </a:t>
            </a:r>
            <a:r>
              <a:rPr lang="en-US" altLang="en-US" sz="1800">
                <a:solidFill>
                  <a:schemeClr val="tx2"/>
                </a:solidFill>
                <a:cs typeface="Arial" panose="020B0604020202020204" pitchFamily="34" charset="0"/>
              </a:rPr>
              <a:t>Wireless and cables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27FB9EB3-60B1-2A68-1049-5DB31972F9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842963"/>
            <a:ext cx="2889250" cy="1219200"/>
          </a:xfrm>
        </p:spPr>
        <p:txBody>
          <a:bodyPr/>
          <a:lstStyle/>
          <a:p>
            <a:pPr eaLnBrk="1" hangingPunct="1"/>
            <a:r>
              <a:rPr lang="en-US" altLang="en-US" sz="2800"/>
              <a:t>Intermediary Devices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9916F489-5129-AF02-2181-8C2D591167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3276600"/>
            <a:ext cx="8534400" cy="35814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b="1"/>
              <a:t>Intermediary devices</a:t>
            </a:r>
            <a:r>
              <a:rPr lang="en-US" altLang="en-US"/>
              <a:t>:</a:t>
            </a:r>
          </a:p>
          <a:p>
            <a:pPr lvl="1" eaLnBrk="1" hangingPunct="1"/>
            <a:r>
              <a:rPr lang="en-US" altLang="en-US" sz="2400" b="1">
                <a:solidFill>
                  <a:schemeClr val="tx2"/>
                </a:solidFill>
              </a:rPr>
              <a:t>Provide </a:t>
            </a:r>
            <a:r>
              <a:rPr lang="en-US" altLang="en-US" sz="2400" b="1" u="sng">
                <a:solidFill>
                  <a:schemeClr val="tx2"/>
                </a:solidFill>
              </a:rPr>
              <a:t>connectivity to the network</a:t>
            </a:r>
            <a:r>
              <a:rPr lang="en-US" altLang="en-US"/>
              <a:t> (switches/hubs) </a:t>
            </a:r>
          </a:p>
          <a:p>
            <a:pPr lvl="1" eaLnBrk="1" hangingPunct="1"/>
            <a:r>
              <a:rPr lang="en-US" altLang="en-US" sz="2400" b="1" u="sng">
                <a:solidFill>
                  <a:schemeClr val="tx2"/>
                </a:solidFill>
              </a:rPr>
              <a:t>Connect individual networks</a:t>
            </a:r>
            <a:r>
              <a:rPr lang="en-US" altLang="en-US"/>
              <a:t> (routers)</a:t>
            </a:r>
          </a:p>
          <a:p>
            <a:pPr eaLnBrk="1" hangingPunct="1"/>
            <a:r>
              <a:rPr lang="en-US" altLang="en-US"/>
              <a:t>Examples:</a:t>
            </a:r>
          </a:p>
          <a:p>
            <a:pPr lvl="1" eaLnBrk="1" hangingPunct="1"/>
            <a:r>
              <a:rPr lang="en-US" altLang="en-US"/>
              <a:t>Network </a:t>
            </a:r>
            <a:r>
              <a:rPr lang="en-US" altLang="en-US">
                <a:solidFill>
                  <a:schemeClr val="tx2"/>
                </a:solidFill>
              </a:rPr>
              <a:t>Access Devices</a:t>
            </a:r>
            <a:r>
              <a:rPr lang="en-US" altLang="en-US"/>
              <a:t> (Hubs, switches, and wireless access points)</a:t>
            </a:r>
          </a:p>
          <a:p>
            <a:pPr lvl="1" eaLnBrk="1" hangingPunct="1"/>
            <a:r>
              <a:rPr lang="en-US" altLang="en-US">
                <a:solidFill>
                  <a:schemeClr val="tx2"/>
                </a:solidFill>
              </a:rPr>
              <a:t>Internetworking </a:t>
            </a:r>
            <a:r>
              <a:rPr lang="en-US" altLang="en-US"/>
              <a:t>Devices (routers)</a:t>
            </a:r>
          </a:p>
          <a:p>
            <a:pPr lvl="1" eaLnBrk="1" hangingPunct="1"/>
            <a:r>
              <a:rPr lang="en-US" altLang="en-US">
                <a:solidFill>
                  <a:schemeClr val="tx2"/>
                </a:solidFill>
              </a:rPr>
              <a:t>Security</a:t>
            </a:r>
            <a:r>
              <a:rPr lang="en-US" altLang="en-US"/>
              <a:t> Devices (firewalls) </a:t>
            </a:r>
          </a:p>
        </p:txBody>
      </p:sp>
      <p:pic>
        <p:nvPicPr>
          <p:cNvPr id="19460" name="Picture 4">
            <a:extLst>
              <a:ext uri="{FF2B5EF4-FFF2-40B4-BE49-F238E27FC236}">
                <a16:creationId xmlns:a16="http://schemas.microsoft.com/office/drawing/2014/main" id="{405639EF-1FDD-8458-5033-54301FE93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675" y="0"/>
            <a:ext cx="6791325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461" name="Text Box 5">
            <a:extLst>
              <a:ext uri="{FF2B5EF4-FFF2-40B4-BE49-F238E27FC236}">
                <a16:creationId xmlns:a16="http://schemas.microsoft.com/office/drawing/2014/main" id="{DFC4072A-83B7-B33C-B56E-86B8D4ACC5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1066800"/>
            <a:ext cx="990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b="1">
                <a:solidFill>
                  <a:srgbClr val="0000FF"/>
                </a:solidFill>
                <a:cs typeface="Arial" panose="020B0604020202020204" pitchFamily="34" charset="0"/>
              </a:rPr>
              <a:t>routers</a:t>
            </a:r>
          </a:p>
        </p:txBody>
      </p:sp>
      <p:sp>
        <p:nvSpPr>
          <p:cNvPr id="19462" name="Text Box 6">
            <a:extLst>
              <a:ext uri="{FF2B5EF4-FFF2-40B4-BE49-F238E27FC236}">
                <a16:creationId xmlns:a16="http://schemas.microsoft.com/office/drawing/2014/main" id="{649C3827-7EA9-A889-25A2-912B014687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457200"/>
            <a:ext cx="990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b="1">
                <a:solidFill>
                  <a:srgbClr val="0000FF"/>
                </a:solidFill>
                <a:cs typeface="Arial" panose="020B0604020202020204" pitchFamily="34" charset="0"/>
              </a:rPr>
              <a:t>switch or hub</a:t>
            </a:r>
          </a:p>
        </p:txBody>
      </p:sp>
      <p:sp>
        <p:nvSpPr>
          <p:cNvPr id="19463" name="Text Box 7">
            <a:extLst>
              <a:ext uri="{FF2B5EF4-FFF2-40B4-BE49-F238E27FC236}">
                <a16:creationId xmlns:a16="http://schemas.microsoft.com/office/drawing/2014/main" id="{7D7FF994-4A1A-FACD-B9E0-7AE10EB3E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457200"/>
            <a:ext cx="990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b="1">
                <a:solidFill>
                  <a:srgbClr val="0000FF"/>
                </a:solidFill>
                <a:cs typeface="Arial" panose="020B0604020202020204" pitchFamily="34" charset="0"/>
              </a:rPr>
              <a:t>switch or hub</a:t>
            </a:r>
          </a:p>
        </p:txBody>
      </p:sp>
      <p:sp>
        <p:nvSpPr>
          <p:cNvPr id="19464" name="Line 8">
            <a:extLst>
              <a:ext uri="{FF2B5EF4-FFF2-40B4-BE49-F238E27FC236}">
                <a16:creationId xmlns:a16="http://schemas.microsoft.com/office/drawing/2014/main" id="{F1356BA1-2285-A92A-E111-7D2E1A0F2E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57600" y="838200"/>
            <a:ext cx="609600" cy="152400"/>
          </a:xfrm>
          <a:prstGeom prst="line">
            <a:avLst/>
          </a:prstGeom>
          <a:noFill/>
          <a:ln w="50800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5" name="Line 9">
            <a:extLst>
              <a:ext uri="{FF2B5EF4-FFF2-40B4-BE49-F238E27FC236}">
                <a16:creationId xmlns:a16="http://schemas.microsoft.com/office/drawing/2014/main" id="{A815CBE9-62C0-C4EB-D4DA-605E266A1BF2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838200"/>
            <a:ext cx="533400" cy="152400"/>
          </a:xfrm>
          <a:prstGeom prst="line">
            <a:avLst/>
          </a:prstGeom>
          <a:noFill/>
          <a:ln w="50800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6" name="Oval 10">
            <a:extLst>
              <a:ext uri="{FF2B5EF4-FFF2-40B4-BE49-F238E27FC236}">
                <a16:creationId xmlns:a16="http://schemas.microsoft.com/office/drawing/2014/main" id="{CEBCDE13-67E0-04DC-81CB-D8C33FE41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762000"/>
            <a:ext cx="533400" cy="457200"/>
          </a:xfrm>
          <a:prstGeom prst="ellips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</a:pPr>
            <a:endParaRPr lang="en-US" altLang="en-US"/>
          </a:p>
        </p:txBody>
      </p:sp>
      <p:sp>
        <p:nvSpPr>
          <p:cNvPr id="19467" name="Oval 11">
            <a:extLst>
              <a:ext uri="{FF2B5EF4-FFF2-40B4-BE49-F238E27FC236}">
                <a16:creationId xmlns:a16="http://schemas.microsoft.com/office/drawing/2014/main" id="{1726F538-A5F6-4663-C29B-2C533570FB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762000"/>
            <a:ext cx="533400" cy="457200"/>
          </a:xfrm>
          <a:prstGeom prst="ellips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</a:pPr>
            <a:endParaRPr lang="en-US" altLang="en-US"/>
          </a:p>
        </p:txBody>
      </p:sp>
      <p:sp>
        <p:nvSpPr>
          <p:cNvPr id="19468" name="Oval 12">
            <a:extLst>
              <a:ext uri="{FF2B5EF4-FFF2-40B4-BE49-F238E27FC236}">
                <a16:creationId xmlns:a16="http://schemas.microsoft.com/office/drawing/2014/main" id="{0D51F7D7-49F4-4BE1-79C4-3F7D119AD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1371600"/>
            <a:ext cx="685800" cy="457200"/>
          </a:xfrm>
          <a:prstGeom prst="ellips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</a:pPr>
            <a:endParaRPr lang="en-US" altLang="en-US"/>
          </a:p>
        </p:txBody>
      </p:sp>
      <p:sp>
        <p:nvSpPr>
          <p:cNvPr id="19469" name="Oval 13">
            <a:extLst>
              <a:ext uri="{FF2B5EF4-FFF2-40B4-BE49-F238E27FC236}">
                <a16:creationId xmlns:a16="http://schemas.microsoft.com/office/drawing/2014/main" id="{C5847B53-EDEA-A230-1C87-8A5D3148C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1676400"/>
            <a:ext cx="685800" cy="457200"/>
          </a:xfrm>
          <a:prstGeom prst="ellips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</a:pPr>
            <a:endParaRPr lang="en-US" altLang="en-US"/>
          </a:p>
        </p:txBody>
      </p:sp>
      <p:sp>
        <p:nvSpPr>
          <p:cNvPr id="19470" name="Oval 14">
            <a:extLst>
              <a:ext uri="{FF2B5EF4-FFF2-40B4-BE49-F238E27FC236}">
                <a16:creationId xmlns:a16="http://schemas.microsoft.com/office/drawing/2014/main" id="{DBD26B95-8550-34D3-18D9-EDAF343F7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1676400"/>
            <a:ext cx="685800" cy="457200"/>
          </a:xfrm>
          <a:prstGeom prst="ellips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</a:pPr>
            <a:endParaRPr lang="en-US" altLang="en-US"/>
          </a:p>
        </p:txBody>
      </p:sp>
      <p:sp>
        <p:nvSpPr>
          <p:cNvPr id="19471" name="Oval 15">
            <a:extLst>
              <a:ext uri="{FF2B5EF4-FFF2-40B4-BE49-F238E27FC236}">
                <a16:creationId xmlns:a16="http://schemas.microsoft.com/office/drawing/2014/main" id="{07E1F707-9037-0BD5-E199-FAF7AB5F6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133600"/>
            <a:ext cx="685800" cy="457200"/>
          </a:xfrm>
          <a:prstGeom prst="ellips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</a:pP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7B97549E-C1CF-5A38-D24B-A3B44FBC73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8488" y="1562100"/>
            <a:ext cx="16002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/>
              <a:t>Network Media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E84BC8EE-6372-C559-A00D-56086D7969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3962400"/>
            <a:ext cx="8534400" cy="2895600"/>
          </a:xfrm>
        </p:spPr>
        <p:txBody>
          <a:bodyPr/>
          <a:lstStyle/>
          <a:p>
            <a:pPr eaLnBrk="1" hangingPunct="1"/>
            <a:r>
              <a:rPr lang="en-US" altLang="en-US" sz="2000" b="1"/>
              <a:t>Network media</a:t>
            </a:r>
            <a:r>
              <a:rPr lang="en-US" altLang="en-US" sz="2000"/>
              <a:t>: The medium </a:t>
            </a:r>
            <a:r>
              <a:rPr lang="en-US" altLang="en-US" sz="2000" u="sng"/>
              <a:t>provides the channel over which the message travels from source to destination</a:t>
            </a:r>
            <a:r>
              <a:rPr lang="en-US" altLang="en-US" sz="2000"/>
              <a:t>.  </a:t>
            </a:r>
          </a:p>
          <a:p>
            <a:pPr lvl="1" eaLnBrk="1" hangingPunct="1"/>
            <a:r>
              <a:rPr lang="en-US" altLang="en-US" sz="1800" b="1"/>
              <a:t>Metallic wires</a:t>
            </a:r>
            <a:r>
              <a:rPr lang="en-US" altLang="en-US" sz="1800"/>
              <a:t> - encoding into patterns of </a:t>
            </a:r>
            <a:r>
              <a:rPr lang="en-US" altLang="en-US" sz="1800" u="sng"/>
              <a:t>electrical impulses</a:t>
            </a:r>
            <a:r>
              <a:rPr lang="en-US" altLang="en-US" sz="1800"/>
              <a:t>. </a:t>
            </a:r>
          </a:p>
          <a:p>
            <a:pPr lvl="1" eaLnBrk="1" hangingPunct="1"/>
            <a:r>
              <a:rPr lang="en-US" altLang="en-US" sz="1800" b="1"/>
              <a:t>Fiber optics</a:t>
            </a:r>
            <a:r>
              <a:rPr lang="en-US" altLang="en-US" sz="1800"/>
              <a:t> – encoding into </a:t>
            </a:r>
            <a:r>
              <a:rPr lang="en-US" altLang="en-US" sz="1800" u="sng"/>
              <a:t>pulses of light</a:t>
            </a:r>
            <a:r>
              <a:rPr lang="en-US" altLang="en-US" sz="1800"/>
              <a:t> (infrared or visible light ranges) </a:t>
            </a:r>
          </a:p>
          <a:p>
            <a:pPr lvl="1" eaLnBrk="1" hangingPunct="1"/>
            <a:r>
              <a:rPr lang="en-US" altLang="en-US" sz="1800" b="1"/>
              <a:t>Wireless </a:t>
            </a:r>
            <a:r>
              <a:rPr lang="en-US" altLang="en-US" sz="1800"/>
              <a:t>– encoding patterns of </a:t>
            </a:r>
            <a:r>
              <a:rPr lang="en-US" altLang="en-US" sz="1800" u="sng"/>
              <a:t>electromagnetic waves</a:t>
            </a:r>
            <a:r>
              <a:rPr lang="en-US" altLang="en-US" sz="1800"/>
              <a:t>. </a:t>
            </a:r>
          </a:p>
          <a:p>
            <a:pPr eaLnBrk="1" hangingPunct="1"/>
            <a:r>
              <a:rPr lang="en-US" altLang="en-US" sz="2000"/>
              <a:t>(Later: OSI Physical Layer)</a:t>
            </a:r>
          </a:p>
        </p:txBody>
      </p:sp>
      <p:pic>
        <p:nvPicPr>
          <p:cNvPr id="21508" name="Picture 4">
            <a:extLst>
              <a:ext uri="{FF2B5EF4-FFF2-40B4-BE49-F238E27FC236}">
                <a16:creationId xmlns:a16="http://schemas.microsoft.com/office/drawing/2014/main" id="{D66B3143-6F68-7836-FB54-A1476D89CC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0"/>
            <a:ext cx="5715000" cy="399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47E40BE-CB95-8E8B-EC80-C03278A86A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735138"/>
            <a:ext cx="16002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/>
              <a:t>Network Media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B2FC239E-0882-0279-E69E-AB40CF2BDB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3962400"/>
            <a:ext cx="8534400" cy="28956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000"/>
              <a:t>Different media considerations:</a:t>
            </a:r>
          </a:p>
          <a:p>
            <a:pPr lvl="1" eaLnBrk="1" hangingPunct="1">
              <a:buFontTx/>
              <a:buChar char="–"/>
            </a:pPr>
            <a:r>
              <a:rPr lang="en-US" altLang="en-US" b="1" u="sng"/>
              <a:t>Distance</a:t>
            </a:r>
            <a:r>
              <a:rPr lang="en-US" altLang="en-US" b="1"/>
              <a:t> it can carry the signal</a:t>
            </a:r>
          </a:p>
          <a:p>
            <a:pPr lvl="1" eaLnBrk="1" hangingPunct="1">
              <a:buFontTx/>
              <a:buChar char="–"/>
            </a:pPr>
            <a:r>
              <a:rPr lang="en-US" altLang="en-US" b="1" u="sng"/>
              <a:t>Environment</a:t>
            </a:r>
            <a:r>
              <a:rPr lang="en-US" altLang="en-US" b="1"/>
              <a:t> it works in</a:t>
            </a:r>
          </a:p>
          <a:p>
            <a:pPr lvl="1" eaLnBrk="1" hangingPunct="1">
              <a:buFontTx/>
              <a:buChar char="–"/>
            </a:pPr>
            <a:r>
              <a:rPr lang="en-US" altLang="en-US" b="1" u="sng"/>
              <a:t>Bandwidth</a:t>
            </a:r>
          </a:p>
          <a:p>
            <a:pPr lvl="1" eaLnBrk="1" hangingPunct="1">
              <a:buFontTx/>
              <a:buChar char="–"/>
            </a:pPr>
            <a:r>
              <a:rPr lang="en-US" altLang="en-US" b="1" u="sng"/>
              <a:t>Cost of medium</a:t>
            </a:r>
            <a:r>
              <a:rPr lang="en-US" altLang="en-US" b="1"/>
              <a:t> and installation</a:t>
            </a:r>
          </a:p>
          <a:p>
            <a:pPr lvl="1" eaLnBrk="1" hangingPunct="1">
              <a:buFontTx/>
              <a:buChar char="–"/>
            </a:pPr>
            <a:r>
              <a:rPr lang="en-US" altLang="en-US" b="1" u="sng"/>
              <a:t>Cost</a:t>
            </a:r>
            <a:r>
              <a:rPr lang="en-US" altLang="en-US" b="1"/>
              <a:t> of </a:t>
            </a:r>
            <a:r>
              <a:rPr lang="en-US" altLang="en-US" b="1" u="sng"/>
              <a:t>connectors and equipment</a:t>
            </a:r>
          </a:p>
        </p:txBody>
      </p:sp>
      <p:pic>
        <p:nvPicPr>
          <p:cNvPr id="23556" name="Picture 4">
            <a:extLst>
              <a:ext uri="{FF2B5EF4-FFF2-40B4-BE49-F238E27FC236}">
                <a16:creationId xmlns:a16="http://schemas.microsoft.com/office/drawing/2014/main" id="{27512FCC-6C70-272D-EE41-49E80B740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0"/>
            <a:ext cx="5715000" cy="399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B6B2C52B-E967-6844-9313-C2764A3172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4- Network Topologies</a:t>
            </a:r>
          </a:p>
        </p:txBody>
      </p:sp>
      <p:sp>
        <p:nvSpPr>
          <p:cNvPr id="27651" name="Text Box 3">
            <a:extLst>
              <a:ext uri="{FF2B5EF4-FFF2-40B4-BE49-F238E27FC236}">
                <a16:creationId xmlns:a16="http://schemas.microsoft.com/office/drawing/2014/main" id="{7AD59597-B24E-1BD5-67E0-0A011FEA1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4425" y="1514475"/>
            <a:ext cx="7805738" cy="117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3025" tIns="36512" rIns="73025" bIns="36512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folHlink"/>
              </a:buClr>
              <a:buFontTx/>
              <a:buChar char="•"/>
            </a:pPr>
            <a:r>
              <a:rPr lang="en-US" altLang="en-US" sz="1800" b="1"/>
              <a:t> </a:t>
            </a:r>
            <a:r>
              <a:rPr lang="en-US" altLang="en-US" sz="1800" b="1" u="sng"/>
              <a:t>Topology:</a:t>
            </a:r>
            <a:r>
              <a:rPr lang="en-US" altLang="en-US" sz="1800" b="1"/>
              <a:t> </a:t>
            </a:r>
            <a:r>
              <a:rPr lang="en-US" altLang="en-US" sz="1800"/>
              <a:t>How devices are connected together</a:t>
            </a:r>
          </a:p>
          <a:p>
            <a:pPr lvl="1"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en-US" altLang="en-US" sz="1800"/>
              <a:t> </a:t>
            </a:r>
            <a:r>
              <a:rPr lang="en-US" altLang="en-US" sz="1800" b="1" u="sng">
                <a:solidFill>
                  <a:schemeClr val="tx2"/>
                </a:solidFill>
              </a:rPr>
              <a:t>Physical Topology:</a:t>
            </a:r>
            <a:r>
              <a:rPr lang="en-US" altLang="en-US" sz="1800"/>
              <a:t> It describes how devices are physically cabled</a:t>
            </a:r>
          </a:p>
          <a:p>
            <a:pPr lvl="1"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en-US" altLang="en-US" sz="1800"/>
              <a:t> </a:t>
            </a:r>
            <a:r>
              <a:rPr lang="en-US" altLang="en-US" sz="1800" b="1" u="sng">
                <a:solidFill>
                  <a:schemeClr val="tx2"/>
                </a:solidFill>
              </a:rPr>
              <a:t>Logical Topology:</a:t>
            </a:r>
            <a:r>
              <a:rPr lang="en-US" altLang="en-US" sz="1800"/>
              <a:t> It describes </a:t>
            </a:r>
            <a:r>
              <a:rPr lang="en-US" altLang="en-US" sz="1800" b="1">
                <a:solidFill>
                  <a:schemeClr val="tx2"/>
                </a:solidFill>
              </a:rPr>
              <a:t>how devices communicate</a:t>
            </a:r>
            <a:r>
              <a:rPr lang="en-US" altLang="en-US" sz="1800"/>
              <a:t> across </a:t>
            </a:r>
          </a:p>
          <a:p>
            <a:pPr lvl="1"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en-US" altLang="en-US" sz="1800"/>
              <a:t>    physical topology</a:t>
            </a:r>
            <a:endParaRPr lang="en-US" altLang="en-US" sz="1800" u="sng"/>
          </a:p>
        </p:txBody>
      </p:sp>
      <p:graphicFrame>
        <p:nvGraphicFramePr>
          <p:cNvPr id="27652" name="Object 4">
            <a:extLst>
              <a:ext uri="{FF2B5EF4-FFF2-40B4-BE49-F238E27FC236}">
                <a16:creationId xmlns:a16="http://schemas.microsoft.com/office/drawing/2014/main" id="{E1D35E9D-11D3-BB1C-DCF5-876E4F247D6D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763713" y="2708275"/>
          <a:ext cx="5694362" cy="377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5334745" imgH="3533333" progId="Paint.Picture">
                  <p:embed/>
                </p:oleObj>
              </mc:Choice>
              <mc:Fallback>
                <p:oleObj name="Bitmap Image" r:id="rId3" imgW="5334745" imgH="3533333" progId="Paint.Picture">
                  <p:embed/>
                  <p:pic>
                    <p:nvPicPr>
                      <p:cNvPr id="27652" name="Object 4">
                        <a:extLst>
                          <a:ext uri="{FF2B5EF4-FFF2-40B4-BE49-F238E27FC236}">
                            <a16:creationId xmlns:a16="http://schemas.microsoft.com/office/drawing/2014/main" id="{E1D35E9D-11D3-BB1C-DCF5-876E4F247D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2708275"/>
                        <a:ext cx="5694362" cy="3771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41F2ACF8-D2DF-FF7E-C1EB-84BD9E8A60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Physical VS. Logical Topology</a:t>
            </a:r>
          </a:p>
        </p:txBody>
      </p:sp>
      <p:sp>
        <p:nvSpPr>
          <p:cNvPr id="29699" name="Text Box 3">
            <a:extLst>
              <a:ext uri="{FF2B5EF4-FFF2-40B4-BE49-F238E27FC236}">
                <a16:creationId xmlns:a16="http://schemas.microsoft.com/office/drawing/2014/main" id="{B4B01359-BC8C-0480-45DB-67F7F515A7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512888"/>
            <a:ext cx="1589087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3025" tIns="36512" rIns="73025" bIns="36512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b="1"/>
              <a:t>10-Base-2</a:t>
            </a:r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6FE8A109-43BE-C3F7-4268-B3B465897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868863"/>
            <a:ext cx="2519363" cy="477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124" tIns="41061" rIns="82124" bIns="41061" anchor="b"/>
          <a:lstStyle>
            <a:lvl1pPr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5000"/>
              </a:lnSpc>
              <a:spcBef>
                <a:spcPct val="35000"/>
              </a:spcBef>
              <a:buClr>
                <a:srgbClr val="708CA1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5000"/>
              </a:lnSpc>
              <a:spcBef>
                <a:spcPct val="35000"/>
              </a:spcBef>
              <a:buClr>
                <a:srgbClr val="708CA1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5000"/>
              </a:lnSpc>
              <a:spcBef>
                <a:spcPct val="35000"/>
              </a:spcBef>
              <a:buClr>
                <a:srgbClr val="708CA1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5000"/>
              </a:lnSpc>
              <a:spcBef>
                <a:spcPct val="35000"/>
              </a:spcBef>
              <a:buClr>
                <a:srgbClr val="708CA1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 b="1">
                <a:solidFill>
                  <a:srgbClr val="708CA1"/>
                </a:solidFill>
              </a:rPr>
              <a:t>Physical Topology is </a:t>
            </a:r>
          </a:p>
        </p:txBody>
      </p:sp>
      <p:sp>
        <p:nvSpPr>
          <p:cNvPr id="29701" name="Text Box 5">
            <a:extLst>
              <a:ext uri="{FF2B5EF4-FFF2-40B4-BE49-F238E27FC236}">
                <a16:creationId xmlns:a16="http://schemas.microsoft.com/office/drawing/2014/main" id="{AA5DDE46-860D-9F42-2284-25603BFB2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445125"/>
            <a:ext cx="2292350" cy="34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3025" tIns="36512" rIns="73025" bIns="36512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800" b="1"/>
              <a:t>Logical Topology is</a:t>
            </a:r>
          </a:p>
        </p:txBody>
      </p:sp>
      <p:sp>
        <p:nvSpPr>
          <p:cNvPr id="29702" name="Text Box 6">
            <a:extLst>
              <a:ext uri="{FF2B5EF4-FFF2-40B4-BE49-F238E27FC236}">
                <a16:creationId xmlns:a16="http://schemas.microsoft.com/office/drawing/2014/main" id="{20898B79-B8F1-47BA-AB04-1D2E2C157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7350" y="5445125"/>
            <a:ext cx="577850" cy="34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3025" tIns="36512" rIns="73025" bIns="36512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800" b="1"/>
              <a:t>Bus</a:t>
            </a:r>
          </a:p>
        </p:txBody>
      </p:sp>
      <p:sp>
        <p:nvSpPr>
          <p:cNvPr id="29703" name="Text Box 7">
            <a:extLst>
              <a:ext uri="{FF2B5EF4-FFF2-40B4-BE49-F238E27FC236}">
                <a16:creationId xmlns:a16="http://schemas.microsoft.com/office/drawing/2014/main" id="{6BDF5DBA-7915-911D-0963-16F139062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6238" y="5013325"/>
            <a:ext cx="577850" cy="34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3025" tIns="36512" rIns="73025" bIns="36512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800" b="1"/>
              <a:t>Bus</a:t>
            </a:r>
          </a:p>
        </p:txBody>
      </p:sp>
      <p:sp>
        <p:nvSpPr>
          <p:cNvPr id="29704" name="Text Box 8">
            <a:extLst>
              <a:ext uri="{FF2B5EF4-FFF2-40B4-BE49-F238E27FC236}">
                <a16:creationId xmlns:a16="http://schemas.microsoft.com/office/drawing/2014/main" id="{56D947C5-05FB-BE5D-67AC-534FDFEF5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838325"/>
            <a:ext cx="1589087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3025" tIns="36512" rIns="73025" bIns="36512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b="1"/>
              <a:t>10-Base-5</a:t>
            </a:r>
          </a:p>
        </p:txBody>
      </p:sp>
      <p:pic>
        <p:nvPicPr>
          <p:cNvPr id="29705" name="Picture 9">
            <a:extLst>
              <a:ext uri="{FF2B5EF4-FFF2-40B4-BE49-F238E27FC236}">
                <a16:creationId xmlns:a16="http://schemas.microsoft.com/office/drawing/2014/main" id="{56FFAB83-29AD-D9DE-9E23-9E33DE0CB64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82875" y="2546350"/>
            <a:ext cx="4867275" cy="1897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C6E79E9D-E8E1-D7AF-9E8D-1BCF24F40D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5- Network Types</a:t>
            </a:r>
          </a:p>
        </p:txBody>
      </p:sp>
      <p:sp>
        <p:nvSpPr>
          <p:cNvPr id="46083" name="Text Box 3">
            <a:extLst>
              <a:ext uri="{FF2B5EF4-FFF2-40B4-BE49-F238E27FC236}">
                <a16:creationId xmlns:a16="http://schemas.microsoft.com/office/drawing/2014/main" id="{2301119F-330D-BF8E-C684-395C0EE66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484313"/>
            <a:ext cx="7129462" cy="501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3025" tIns="36512" rIns="73025" bIns="36512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folHlink"/>
              </a:buClr>
              <a:buFontTx/>
              <a:buChar char="•"/>
            </a:pPr>
            <a:r>
              <a:rPr lang="en-US" altLang="en-US" sz="1800" b="1"/>
              <a:t> </a:t>
            </a:r>
            <a:r>
              <a:rPr lang="en-US" altLang="en-US" sz="1800" b="1" u="sng"/>
              <a:t>LAN</a:t>
            </a:r>
            <a:r>
              <a:rPr lang="en-US" altLang="en-US" sz="1800" b="1"/>
              <a:t> (Local Area Network):</a:t>
            </a:r>
          </a:p>
          <a:p>
            <a:pPr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en-US" altLang="en-US" sz="1800"/>
              <a:t>  It is a group of network components that work within small area.</a:t>
            </a:r>
          </a:p>
          <a:p>
            <a:pPr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en-US" altLang="en-US" sz="1800"/>
              <a:t> It characterized by high data speeds (up to 10Gbps) using:</a:t>
            </a:r>
          </a:p>
          <a:p>
            <a:pPr>
              <a:buClr>
                <a:schemeClr val="folHlink"/>
              </a:buClr>
            </a:pPr>
            <a:r>
              <a:rPr lang="en-US" altLang="en-US" sz="1800"/>
              <a:t>    Ethernet, Fast Ethernet, GigaEthernet,10Gigabit Ethernet </a:t>
            </a:r>
          </a:p>
          <a:p>
            <a:pPr>
              <a:buClr>
                <a:schemeClr val="folHlink"/>
              </a:buClr>
            </a:pPr>
            <a:r>
              <a:rPr lang="en-US" altLang="en-US" sz="1800"/>
              <a:t>    and ATM.</a:t>
            </a:r>
          </a:p>
          <a:p>
            <a:pPr>
              <a:buClr>
                <a:schemeClr val="folHlink"/>
              </a:buClr>
            </a:pPr>
            <a:endParaRPr lang="en-US" altLang="en-US" sz="1800" b="1"/>
          </a:p>
          <a:p>
            <a:pPr>
              <a:buClr>
                <a:schemeClr val="folHlink"/>
              </a:buClr>
              <a:buFontTx/>
              <a:buChar char="•"/>
            </a:pPr>
            <a:r>
              <a:rPr lang="en-US" altLang="en-US" sz="1800" b="1"/>
              <a:t> </a:t>
            </a:r>
            <a:r>
              <a:rPr lang="en-US" altLang="en-US" sz="1800" b="1" u="sng"/>
              <a:t>MAN</a:t>
            </a:r>
            <a:r>
              <a:rPr lang="en-US" altLang="en-US" sz="1800" b="1"/>
              <a:t> (Metropolitan Area Network):</a:t>
            </a:r>
          </a:p>
          <a:p>
            <a:pPr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en-US" altLang="en-US" sz="1800" b="1"/>
              <a:t>  </a:t>
            </a:r>
            <a:r>
              <a:rPr lang="en-US" altLang="en-US" sz="1800"/>
              <a:t>It is a group of LANs that are interconnected within small area.</a:t>
            </a:r>
          </a:p>
          <a:p>
            <a:pPr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en-US" altLang="en-US" sz="1800"/>
              <a:t>  It characterized by very high data speeds (up to 40Gbps) using:</a:t>
            </a:r>
          </a:p>
          <a:p>
            <a:r>
              <a:rPr lang="en-US" altLang="en-US" sz="1800"/>
              <a:t>     Metro Ethernet, ATM over SONET and SDH.</a:t>
            </a:r>
          </a:p>
          <a:p>
            <a:endParaRPr lang="en-US" altLang="en-US" sz="1800" b="1"/>
          </a:p>
          <a:p>
            <a:pPr>
              <a:buClr>
                <a:schemeClr val="folHlink"/>
              </a:buClr>
              <a:buFontTx/>
              <a:buChar char="•"/>
            </a:pPr>
            <a:r>
              <a:rPr lang="en-US" altLang="en-US" sz="1800" b="1"/>
              <a:t> </a:t>
            </a:r>
            <a:r>
              <a:rPr lang="en-US" altLang="en-US" sz="1800" b="1" u="sng"/>
              <a:t>WAN</a:t>
            </a:r>
            <a:r>
              <a:rPr lang="en-US" altLang="en-US" sz="1800" b="1"/>
              <a:t> (Wide Area Network):</a:t>
            </a:r>
          </a:p>
          <a:p>
            <a:pPr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en-US" altLang="en-US" sz="1800" b="1"/>
              <a:t>  </a:t>
            </a:r>
            <a:r>
              <a:rPr lang="en-US" altLang="en-US" sz="1800"/>
              <a:t>It is a group of LANs that are interconnected within large area</a:t>
            </a:r>
            <a:endParaRPr lang="en-US" altLang="en-US" sz="1800" b="1"/>
          </a:p>
          <a:p>
            <a:pPr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en-US" altLang="en-US" sz="1800"/>
              <a:t>  It characterized by slow data speeds (up to 155Mbps &amp; 622Mbps   </a:t>
            </a:r>
          </a:p>
          <a:p>
            <a:pPr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en-US" altLang="en-US" sz="1800"/>
              <a:t>     using:</a:t>
            </a:r>
          </a:p>
          <a:p>
            <a:r>
              <a:rPr lang="en-US" altLang="en-US" sz="1800"/>
              <a:t>     analog dial-up, digital dial-up (ISDN), leased lines, X.25, DSL,  </a:t>
            </a:r>
          </a:p>
          <a:p>
            <a:r>
              <a:rPr lang="en-US" altLang="en-US" sz="1800"/>
              <a:t>     Frame-Relay &amp; ATM.</a:t>
            </a:r>
          </a:p>
          <a:p>
            <a:pPr>
              <a:buClr>
                <a:schemeClr val="folHlink"/>
              </a:buClr>
            </a:pPr>
            <a:endParaRPr lang="en-US" altLang="en-US" sz="1800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1BE4791B-6D19-989B-6091-9E5B4474B3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Network Types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6E67A289-8912-7F14-F407-0077412A2A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5638" y="1392238"/>
            <a:ext cx="7940675" cy="5076825"/>
          </a:xfrm>
        </p:spPr>
        <p:txBody>
          <a:bodyPr/>
          <a:lstStyle/>
          <a:p>
            <a:pPr eaLnBrk="1" hangingPunct="1"/>
            <a:r>
              <a:rPr lang="en-US" altLang="en-US"/>
              <a:t>Define the Internet	</a:t>
            </a:r>
          </a:p>
          <a:p>
            <a:pPr lvl="1" eaLnBrk="1" hangingPunct="1"/>
            <a:r>
              <a:rPr lang="en-US" altLang="en-US"/>
              <a:t>The internet is defined as a</a:t>
            </a:r>
          </a:p>
          <a:p>
            <a:pPr lvl="1" eaLnBrk="1" hangingPunct="1"/>
            <a:r>
              <a:rPr lang="en-US" altLang="en-US"/>
              <a:t>	global mesh of interconnected networks</a:t>
            </a:r>
          </a:p>
        </p:txBody>
      </p:sp>
      <p:pic>
        <p:nvPicPr>
          <p:cNvPr id="52228" name="Picture 4">
            <a:extLst>
              <a:ext uri="{FF2B5EF4-FFF2-40B4-BE49-F238E27FC236}">
                <a16:creationId xmlns:a16="http://schemas.microsoft.com/office/drawing/2014/main" id="{43E34B2C-CA8E-537A-CF6E-62BCBED5B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0863" y="2932113"/>
            <a:ext cx="4873625" cy="3633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Internet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dirty="0"/>
              <a:t>Hosts, links, routers, switches</a:t>
            </a:r>
          </a:p>
          <a:p>
            <a:pPr lvl="1"/>
            <a:r>
              <a:rPr dirty="0"/>
              <a:t>LAN, MAN, WAN structures</a:t>
            </a:r>
          </a:p>
          <a:p>
            <a:pPr lvl="1"/>
            <a:r>
              <a:rPr dirty="0"/>
              <a:t>Client–server vs peer-to-peer architecture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1398F2BE-1522-835F-6649-5FDA6B3627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6- Reference Models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F797D973-E0C5-0D8F-1154-8EF700C438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9713" y="1516063"/>
            <a:ext cx="8610600" cy="4525962"/>
          </a:xfrm>
        </p:spPr>
        <p:txBody>
          <a:bodyPr/>
          <a:lstStyle/>
          <a:p>
            <a:pPr eaLnBrk="1" hangingPunct="1"/>
            <a:r>
              <a:rPr lang="en-US" altLang="en-US" sz="2000" b="1"/>
              <a:t>A framework </a:t>
            </a:r>
            <a:r>
              <a:rPr lang="en-US" altLang="en-US" sz="2000" b="1" u="sng">
                <a:solidFill>
                  <a:schemeClr val="accent2"/>
                </a:solidFill>
              </a:rPr>
              <a:t>(guideline)</a:t>
            </a:r>
            <a:r>
              <a:rPr lang="en-US" altLang="en-US" sz="2000" b="1"/>
              <a:t> for network implementation and troubleshooting</a:t>
            </a:r>
          </a:p>
          <a:p>
            <a:pPr eaLnBrk="1" hangingPunct="1"/>
            <a:r>
              <a:rPr lang="en-US" altLang="en-US" sz="2000" b="1"/>
              <a:t>Divides complex functions into simpler components</a:t>
            </a:r>
            <a:endParaRPr lang="ar-EG" altLang="en-US" sz="2000" b="1"/>
          </a:p>
          <a:p>
            <a:pPr eaLnBrk="1" hangingPunct="1"/>
            <a:r>
              <a:rPr lang="en-US" altLang="en-US" sz="2000" u="sng"/>
              <a:t>Importance of reference model:</a:t>
            </a:r>
          </a:p>
          <a:p>
            <a:pPr lvl="1" eaLnBrk="1" hangingPunct="1"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en-US" altLang="en-US" sz="1800" b="1"/>
              <a:t>Vendor interoperability “standardization”.</a:t>
            </a:r>
          </a:p>
          <a:p>
            <a:pPr lvl="1" eaLnBrk="1" hangingPunct="1"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en-US" altLang="en-US" sz="1800" b="1"/>
              <a:t>Better understanding of data transfer</a:t>
            </a:r>
            <a:endParaRPr lang="en-US" altLang="en-US" sz="1800" b="1" u="sng"/>
          </a:p>
          <a:p>
            <a:pPr eaLnBrk="1" hangingPunct="1"/>
            <a:r>
              <a:rPr lang="en-US" altLang="en-US" sz="2000" u="sng"/>
              <a:t>Reference model types :</a:t>
            </a:r>
          </a:p>
          <a:p>
            <a:pPr lvl="1" eaLnBrk="1" hangingPunct="1"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en-US" altLang="en-US" sz="1800" b="1"/>
              <a:t>OSI (Open System Interconnection ).</a:t>
            </a:r>
          </a:p>
          <a:p>
            <a:pPr lvl="1" eaLnBrk="1" hangingPunct="1">
              <a:buClr>
                <a:schemeClr val="folHlink"/>
              </a:buClr>
              <a:buFont typeface="Wingdings" panose="05000000000000000000" pitchFamily="2" charset="2"/>
              <a:buChar char="ü"/>
            </a:pPr>
            <a:r>
              <a:rPr lang="en-US" altLang="en-US" sz="1800" b="1"/>
              <a:t>TCP/IP (DOD Model)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000" b="1" u="sng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81209866-1941-66A7-FAC0-E2C7A96E24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OSI-RM</a:t>
            </a:r>
          </a:p>
        </p:txBody>
      </p:sp>
      <p:pic>
        <p:nvPicPr>
          <p:cNvPr id="60419" name="Picture 4">
            <a:extLst>
              <a:ext uri="{FF2B5EF4-FFF2-40B4-BE49-F238E27FC236}">
                <a16:creationId xmlns:a16="http://schemas.microsoft.com/office/drawing/2014/main" id="{1AD3FE7A-FC9C-2D01-D04E-DC884F102A02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06" t="33342" r="73631" b="33586"/>
          <a:stretch>
            <a:fillRect/>
          </a:stretch>
        </p:blipFill>
        <p:spPr>
          <a:xfrm>
            <a:off x="2098675" y="1466850"/>
            <a:ext cx="3881438" cy="5168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17733BBB-9BC9-C2C8-C640-382D7C61C0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4988"/>
            <a:ext cx="9144000" cy="762000"/>
          </a:xfrm>
        </p:spPr>
        <p:txBody>
          <a:bodyPr/>
          <a:lstStyle/>
          <a:p>
            <a:pPr algn="ctr" eaLnBrk="1" hangingPunct="1"/>
            <a:r>
              <a:rPr lang="en-US" altLang="en-US"/>
              <a:t>Layer 7 - The Application Layer</a:t>
            </a:r>
          </a:p>
        </p:txBody>
      </p:sp>
      <p:grpSp>
        <p:nvGrpSpPr>
          <p:cNvPr id="1489923" name="Group 3">
            <a:extLst>
              <a:ext uri="{FF2B5EF4-FFF2-40B4-BE49-F238E27FC236}">
                <a16:creationId xmlns:a16="http://schemas.microsoft.com/office/drawing/2014/main" id="{B5E9D6F8-7498-781F-CF5C-2853234A876D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1371600"/>
            <a:ext cx="5562600" cy="5211763"/>
            <a:chOff x="2064" y="864"/>
            <a:chExt cx="3264" cy="3283"/>
          </a:xfrm>
        </p:grpSpPr>
        <p:sp>
          <p:nvSpPr>
            <p:cNvPr id="61452" name="Text Box 4">
              <a:extLst>
                <a:ext uri="{FF2B5EF4-FFF2-40B4-BE49-F238E27FC236}">
                  <a16:creationId xmlns:a16="http://schemas.microsoft.com/office/drawing/2014/main" id="{54436D38-58FB-A5AD-499E-99BCF207B1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864"/>
              <a:ext cx="2832" cy="3283"/>
            </a:xfrm>
            <a:prstGeom prst="rect">
              <a:avLst/>
            </a:prstGeom>
            <a:solidFill>
              <a:srgbClr val="FF9966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Char char="•"/>
              </a:pPr>
              <a:r>
                <a:rPr lang="en-US" altLang="en-US" sz="2800" b="1">
                  <a:cs typeface="Arial" panose="020B0604020202020204" pitchFamily="34" charset="0"/>
                </a:rPr>
                <a:t>It’s the S\w on our pcs that is used to represent a user interface to the network &amp; so aids the user to make applications.</a:t>
              </a:r>
            </a:p>
            <a:p>
              <a:endParaRPr lang="en-US" altLang="en-US" sz="2800" b="1">
                <a:cs typeface="Arial" panose="020B0604020202020204" pitchFamily="34" charset="0"/>
              </a:endParaRPr>
            </a:p>
            <a:p>
              <a:r>
                <a:rPr lang="en-US" altLang="en-US" sz="2800" b="1">
                  <a:cs typeface="Arial" panose="020B0604020202020204" pitchFamily="34" charset="0"/>
                </a:rPr>
                <a:t>Examples:</a:t>
              </a:r>
            </a:p>
            <a:p>
              <a:pPr>
                <a:buFontTx/>
                <a:buChar char="•"/>
              </a:pPr>
              <a:r>
                <a:rPr lang="en-US" altLang="en-US" sz="2800" b="1">
                  <a:cs typeface="Arial" panose="020B0604020202020204" pitchFamily="34" charset="0"/>
                  <a:sym typeface="Symbol" panose="05050102010706020507" pitchFamily="18" charset="2"/>
                </a:rPr>
                <a:t>Email (SMTP,POP3)</a:t>
              </a:r>
            </a:p>
            <a:p>
              <a:pPr>
                <a:buFontTx/>
                <a:buChar char="•"/>
              </a:pPr>
              <a:r>
                <a:rPr lang="en-US" altLang="en-US" sz="2800" b="1">
                  <a:cs typeface="Arial" panose="020B0604020202020204" pitchFamily="34" charset="0"/>
                  <a:sym typeface="Symbol" panose="05050102010706020507" pitchFamily="18" charset="2"/>
                </a:rPr>
                <a:t>Web browsers (HTTP)</a:t>
              </a:r>
            </a:p>
            <a:p>
              <a:pPr>
                <a:buFontTx/>
                <a:buChar char="•"/>
              </a:pPr>
              <a:r>
                <a:rPr lang="en-US" altLang="en-US" sz="2800" b="1">
                  <a:cs typeface="Arial" panose="020B0604020202020204" pitchFamily="34" charset="0"/>
                  <a:sym typeface="Symbol" panose="05050102010706020507" pitchFamily="18" charset="2"/>
                </a:rPr>
                <a:t>FTP</a:t>
              </a:r>
            </a:p>
            <a:p>
              <a:pPr>
                <a:buFontTx/>
                <a:buChar char="•"/>
              </a:pPr>
              <a:r>
                <a:rPr lang="en-US" altLang="en-US" sz="2800" b="1">
                  <a:cs typeface="Arial" panose="020B0604020202020204" pitchFamily="34" charset="0"/>
                  <a:sym typeface="Symbol" panose="05050102010706020507" pitchFamily="18" charset="2"/>
                </a:rPr>
                <a:t>Telnet</a:t>
              </a:r>
              <a:endParaRPr lang="en-US" altLang="en-US" b="1">
                <a:cs typeface="Arial" panose="020B0604020202020204" pitchFamily="34" charset="0"/>
              </a:endParaRPr>
            </a:p>
            <a:p>
              <a:endParaRPr lang="en-US" altLang="en-US" b="1">
                <a:cs typeface="Arial" panose="020B0604020202020204" pitchFamily="34" charset="0"/>
              </a:endParaRPr>
            </a:p>
          </p:txBody>
        </p:sp>
        <p:sp>
          <p:nvSpPr>
            <p:cNvPr id="61453" name="Line 5">
              <a:extLst>
                <a:ext uri="{FF2B5EF4-FFF2-40B4-BE49-F238E27FC236}">
                  <a16:creationId xmlns:a16="http://schemas.microsoft.com/office/drawing/2014/main" id="{FAA58350-9C4A-2403-F697-CA1300557A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1008"/>
              <a:ext cx="432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1444" name="Group 6">
            <a:extLst>
              <a:ext uri="{FF2B5EF4-FFF2-40B4-BE49-F238E27FC236}">
                <a16:creationId xmlns:a16="http://schemas.microsoft.com/office/drawing/2014/main" id="{0B9024BD-0851-D133-FDB8-37CD6F3F9E29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371600"/>
            <a:ext cx="2895600" cy="4233863"/>
            <a:chOff x="1248" y="1008"/>
            <a:chExt cx="1824" cy="2667"/>
          </a:xfrm>
        </p:grpSpPr>
        <p:sp>
          <p:nvSpPr>
            <p:cNvPr id="61445" name="Text Box 7">
              <a:extLst>
                <a:ext uri="{FF2B5EF4-FFF2-40B4-BE49-F238E27FC236}">
                  <a16:creationId xmlns:a16="http://schemas.microsoft.com/office/drawing/2014/main" id="{8AE755CF-1132-49FA-4A7C-F847D84E30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008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7  Application</a:t>
              </a:r>
              <a:endParaRPr lang="en-US" altLang="en-US" sz="2800">
                <a:cs typeface="Arial" panose="020B0604020202020204" pitchFamily="34" charset="0"/>
              </a:endParaRPr>
            </a:p>
          </p:txBody>
        </p:sp>
        <p:sp>
          <p:nvSpPr>
            <p:cNvPr id="61446" name="Text Box 8">
              <a:extLst>
                <a:ext uri="{FF2B5EF4-FFF2-40B4-BE49-F238E27FC236}">
                  <a16:creationId xmlns:a16="http://schemas.microsoft.com/office/drawing/2014/main" id="{D1F2687C-2D53-A387-EF47-B3B2DD61D2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392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6  Presentation</a:t>
              </a:r>
            </a:p>
          </p:txBody>
        </p:sp>
        <p:sp>
          <p:nvSpPr>
            <p:cNvPr id="61447" name="Text Box 9">
              <a:extLst>
                <a:ext uri="{FF2B5EF4-FFF2-40B4-BE49-F238E27FC236}">
                  <a16:creationId xmlns:a16="http://schemas.microsoft.com/office/drawing/2014/main" id="{BC6A4CDB-1DA6-4D9D-7AD7-F22536AF66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776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5  Session</a:t>
              </a:r>
            </a:p>
          </p:txBody>
        </p:sp>
        <p:sp>
          <p:nvSpPr>
            <p:cNvPr id="61448" name="Text Box 10">
              <a:extLst>
                <a:ext uri="{FF2B5EF4-FFF2-40B4-BE49-F238E27FC236}">
                  <a16:creationId xmlns:a16="http://schemas.microsoft.com/office/drawing/2014/main" id="{BB0F30A6-5675-B1F0-2BBB-382AA7DE59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160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4  Transport</a:t>
              </a:r>
            </a:p>
          </p:txBody>
        </p:sp>
        <p:sp>
          <p:nvSpPr>
            <p:cNvPr id="61449" name="Text Box 11">
              <a:extLst>
                <a:ext uri="{FF2B5EF4-FFF2-40B4-BE49-F238E27FC236}">
                  <a16:creationId xmlns:a16="http://schemas.microsoft.com/office/drawing/2014/main" id="{08F7FF17-5D55-461F-AACE-DAD239B1DF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544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3  Network</a:t>
              </a:r>
            </a:p>
          </p:txBody>
        </p:sp>
        <p:sp>
          <p:nvSpPr>
            <p:cNvPr id="61450" name="Text Box 12">
              <a:extLst>
                <a:ext uri="{FF2B5EF4-FFF2-40B4-BE49-F238E27FC236}">
                  <a16:creationId xmlns:a16="http://schemas.microsoft.com/office/drawing/2014/main" id="{78AC3CA3-77F9-16EA-7800-E2117EF7D7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928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2  Data Link</a:t>
              </a:r>
            </a:p>
          </p:txBody>
        </p:sp>
        <p:sp>
          <p:nvSpPr>
            <p:cNvPr id="61451" name="Text Box 13">
              <a:extLst>
                <a:ext uri="{FF2B5EF4-FFF2-40B4-BE49-F238E27FC236}">
                  <a16:creationId xmlns:a16="http://schemas.microsoft.com/office/drawing/2014/main" id="{56B7D83C-6A33-F634-FB5D-47A1B4DD48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3312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1  Physical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9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48992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9DADF517-CD96-8A32-7382-7BC5683A1F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84213"/>
            <a:ext cx="9144000" cy="762000"/>
          </a:xfrm>
        </p:spPr>
        <p:txBody>
          <a:bodyPr/>
          <a:lstStyle/>
          <a:p>
            <a:pPr algn="ctr" eaLnBrk="1" hangingPunct="1"/>
            <a:r>
              <a:rPr lang="en-US" altLang="en-US"/>
              <a:t>Layer 6 - The Presentation Layer</a:t>
            </a:r>
          </a:p>
        </p:txBody>
      </p:sp>
      <p:grpSp>
        <p:nvGrpSpPr>
          <p:cNvPr id="1490947" name="Group 3">
            <a:extLst>
              <a:ext uri="{FF2B5EF4-FFF2-40B4-BE49-F238E27FC236}">
                <a16:creationId xmlns:a16="http://schemas.microsoft.com/office/drawing/2014/main" id="{9C4EBF5C-B9CC-BCA3-B1F9-D57019932DC2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1752600"/>
            <a:ext cx="5410200" cy="3138488"/>
            <a:chOff x="2064" y="864"/>
            <a:chExt cx="3264" cy="1977"/>
          </a:xfrm>
        </p:grpSpPr>
        <p:sp>
          <p:nvSpPr>
            <p:cNvPr id="62476" name="Text Box 4">
              <a:extLst>
                <a:ext uri="{FF2B5EF4-FFF2-40B4-BE49-F238E27FC236}">
                  <a16:creationId xmlns:a16="http://schemas.microsoft.com/office/drawing/2014/main" id="{9CC6233A-489E-7A51-8419-F3C90E4D63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864"/>
              <a:ext cx="2832" cy="1977"/>
            </a:xfrm>
            <a:prstGeom prst="rect">
              <a:avLst/>
            </a:prstGeom>
            <a:solidFill>
              <a:srgbClr val="FF9966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This layer is responsible for presenting the data in the proper format .</a:t>
              </a:r>
            </a:p>
            <a:p>
              <a:endParaRPr lang="en-US" altLang="en-US" sz="2800" b="1">
                <a:cs typeface="Arial" panose="020B0604020202020204" pitchFamily="34" charset="0"/>
              </a:endParaRPr>
            </a:p>
            <a:p>
              <a:r>
                <a:rPr lang="en-US" altLang="en-US" sz="2800" b="1">
                  <a:cs typeface="Arial" panose="020B0604020202020204" pitchFamily="34" charset="0"/>
                  <a:sym typeface="Symbol" panose="05050102010706020507" pitchFamily="18" charset="2"/>
                </a:rPr>
                <a:t>Examples:</a:t>
              </a:r>
            </a:p>
            <a:p>
              <a:r>
                <a:rPr lang="en-US" altLang="en-US" sz="2800" b="1">
                  <a:cs typeface="Arial" panose="020B0604020202020204" pitchFamily="34" charset="0"/>
                  <a:sym typeface="Symbol" panose="05050102010706020507" pitchFamily="18" charset="2"/>
                </a:rPr>
                <a:t>ASCII, AVI,JPG,….</a:t>
              </a:r>
            </a:p>
            <a:p>
              <a:endParaRPr lang="en-US" altLang="en-US" sz="2800" b="1">
                <a:cs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62477" name="Line 5">
              <a:extLst>
                <a:ext uri="{FF2B5EF4-FFF2-40B4-BE49-F238E27FC236}">
                  <a16:creationId xmlns:a16="http://schemas.microsoft.com/office/drawing/2014/main" id="{1515F7D9-6312-AFCD-00C1-6D200B46A5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1392"/>
              <a:ext cx="432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2468" name="Group 6">
            <a:extLst>
              <a:ext uri="{FF2B5EF4-FFF2-40B4-BE49-F238E27FC236}">
                <a16:creationId xmlns:a16="http://schemas.microsoft.com/office/drawing/2014/main" id="{7A933719-F173-DA7E-FFC0-E35EDC5B44BD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1676400"/>
            <a:ext cx="2895600" cy="4233863"/>
            <a:chOff x="192" y="816"/>
            <a:chExt cx="1824" cy="2667"/>
          </a:xfrm>
        </p:grpSpPr>
        <p:sp>
          <p:nvSpPr>
            <p:cNvPr id="62469" name="Text Box 7">
              <a:extLst>
                <a:ext uri="{FF2B5EF4-FFF2-40B4-BE49-F238E27FC236}">
                  <a16:creationId xmlns:a16="http://schemas.microsoft.com/office/drawing/2014/main" id="{43ADB28F-36B3-410B-FD93-69871E20CE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816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7  Application</a:t>
              </a:r>
              <a:endParaRPr lang="en-US" altLang="en-US" sz="2800">
                <a:cs typeface="Arial" panose="020B0604020202020204" pitchFamily="34" charset="0"/>
              </a:endParaRPr>
            </a:p>
          </p:txBody>
        </p:sp>
        <p:sp>
          <p:nvSpPr>
            <p:cNvPr id="62470" name="Text Box 8">
              <a:extLst>
                <a:ext uri="{FF2B5EF4-FFF2-40B4-BE49-F238E27FC236}">
                  <a16:creationId xmlns:a16="http://schemas.microsoft.com/office/drawing/2014/main" id="{72AF9E2A-03A3-0831-F844-A9BD4FCAD6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200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6  Presentation</a:t>
              </a:r>
            </a:p>
          </p:txBody>
        </p:sp>
        <p:sp>
          <p:nvSpPr>
            <p:cNvPr id="62471" name="Text Box 9">
              <a:extLst>
                <a:ext uri="{FF2B5EF4-FFF2-40B4-BE49-F238E27FC236}">
                  <a16:creationId xmlns:a16="http://schemas.microsoft.com/office/drawing/2014/main" id="{5A5E3660-32BB-F0B5-21AD-BB30FBA38E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584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5  Session</a:t>
              </a:r>
            </a:p>
          </p:txBody>
        </p:sp>
        <p:sp>
          <p:nvSpPr>
            <p:cNvPr id="62472" name="Text Box 10">
              <a:extLst>
                <a:ext uri="{FF2B5EF4-FFF2-40B4-BE49-F238E27FC236}">
                  <a16:creationId xmlns:a16="http://schemas.microsoft.com/office/drawing/2014/main" id="{016C7E3B-0DD6-9EE8-C9AA-89D836ADCF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968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4  Transport</a:t>
              </a:r>
            </a:p>
          </p:txBody>
        </p:sp>
        <p:sp>
          <p:nvSpPr>
            <p:cNvPr id="62473" name="Text Box 11">
              <a:extLst>
                <a:ext uri="{FF2B5EF4-FFF2-40B4-BE49-F238E27FC236}">
                  <a16:creationId xmlns:a16="http://schemas.microsoft.com/office/drawing/2014/main" id="{F0BFFDE0-DE18-962B-9073-DEE8AFD596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2352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3  Network</a:t>
              </a:r>
            </a:p>
          </p:txBody>
        </p:sp>
        <p:sp>
          <p:nvSpPr>
            <p:cNvPr id="62474" name="Text Box 12">
              <a:extLst>
                <a:ext uri="{FF2B5EF4-FFF2-40B4-BE49-F238E27FC236}">
                  <a16:creationId xmlns:a16="http://schemas.microsoft.com/office/drawing/2014/main" id="{958B2269-F923-224A-D991-78B9D5DBB3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2736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2  Data Link</a:t>
              </a:r>
            </a:p>
          </p:txBody>
        </p:sp>
        <p:sp>
          <p:nvSpPr>
            <p:cNvPr id="62475" name="Text Box 13">
              <a:extLst>
                <a:ext uri="{FF2B5EF4-FFF2-40B4-BE49-F238E27FC236}">
                  <a16:creationId xmlns:a16="http://schemas.microsoft.com/office/drawing/2014/main" id="{3D0932FA-5ED2-B297-D485-D424C33791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3120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1  Physical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0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49094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30779BB4-D915-8EFA-D7A4-72B7AABF2B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200025" y="468313"/>
            <a:ext cx="9144000" cy="762000"/>
          </a:xfrm>
        </p:spPr>
        <p:txBody>
          <a:bodyPr/>
          <a:lstStyle/>
          <a:p>
            <a:pPr algn="ctr" eaLnBrk="1" hangingPunct="1"/>
            <a:r>
              <a:rPr lang="en-US" altLang="en-US"/>
              <a:t>Layer 5 - The Session Layer</a:t>
            </a:r>
          </a:p>
        </p:txBody>
      </p:sp>
      <p:grpSp>
        <p:nvGrpSpPr>
          <p:cNvPr id="1491971" name="Group 3">
            <a:extLst>
              <a:ext uri="{FF2B5EF4-FFF2-40B4-BE49-F238E27FC236}">
                <a16:creationId xmlns:a16="http://schemas.microsoft.com/office/drawing/2014/main" id="{88A9A885-E7C2-A633-4387-CF9227769286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1387475"/>
            <a:ext cx="5867400" cy="3565525"/>
            <a:chOff x="2064" y="864"/>
            <a:chExt cx="3408" cy="2246"/>
          </a:xfrm>
        </p:grpSpPr>
        <p:sp>
          <p:nvSpPr>
            <p:cNvPr id="63500" name="Text Box 4">
              <a:extLst>
                <a:ext uri="{FF2B5EF4-FFF2-40B4-BE49-F238E27FC236}">
                  <a16:creationId xmlns:a16="http://schemas.microsoft.com/office/drawing/2014/main" id="{DEED914F-3E08-D074-1348-047CCD9524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" y="864"/>
              <a:ext cx="2957" cy="2246"/>
            </a:xfrm>
            <a:prstGeom prst="rect">
              <a:avLst/>
            </a:prstGeom>
            <a:solidFill>
              <a:srgbClr val="FF9966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Char char="•"/>
              </a:pPr>
              <a:r>
                <a:rPr lang="en-US" altLang="en-US" sz="2800" b="1">
                  <a:cs typeface="Arial" panose="020B0604020202020204" pitchFamily="34" charset="0"/>
                </a:rPr>
                <a:t>Ensure that all information required for opening a session is available.</a:t>
              </a:r>
            </a:p>
            <a:p>
              <a:pPr>
                <a:buFontTx/>
                <a:buChar char="•"/>
              </a:pPr>
              <a:r>
                <a:rPr lang="en-US" altLang="en-US" sz="2800" b="1">
                  <a:cs typeface="Arial" panose="020B0604020202020204" pitchFamily="34" charset="0"/>
                </a:rPr>
                <a:t>Give orders for: establishment, management, and termination of  the session. </a:t>
              </a:r>
            </a:p>
            <a:p>
              <a:endParaRPr lang="en-US" altLang="en-US" sz="2800" b="1">
                <a:cs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63501" name="Line 5">
              <a:extLst>
                <a:ext uri="{FF2B5EF4-FFF2-40B4-BE49-F238E27FC236}">
                  <a16:creationId xmlns:a16="http://schemas.microsoft.com/office/drawing/2014/main" id="{A48D0053-6F68-B33E-5038-CF9A1F1294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1776"/>
              <a:ext cx="451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3492" name="Group 6">
            <a:extLst>
              <a:ext uri="{FF2B5EF4-FFF2-40B4-BE49-F238E27FC236}">
                <a16:creationId xmlns:a16="http://schemas.microsoft.com/office/drawing/2014/main" id="{CE470149-678A-58B1-9613-D80D4F708C2F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1387475"/>
            <a:ext cx="2895600" cy="4233863"/>
            <a:chOff x="192" y="816"/>
            <a:chExt cx="1824" cy="2667"/>
          </a:xfrm>
        </p:grpSpPr>
        <p:sp>
          <p:nvSpPr>
            <p:cNvPr id="63493" name="Text Box 7">
              <a:extLst>
                <a:ext uri="{FF2B5EF4-FFF2-40B4-BE49-F238E27FC236}">
                  <a16:creationId xmlns:a16="http://schemas.microsoft.com/office/drawing/2014/main" id="{43E1B98B-3AD0-CDF7-F407-BA2FF7A6E9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816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7  Application</a:t>
              </a:r>
              <a:endParaRPr lang="en-US" altLang="en-US" sz="2800">
                <a:cs typeface="Arial" panose="020B0604020202020204" pitchFamily="34" charset="0"/>
              </a:endParaRPr>
            </a:p>
          </p:txBody>
        </p:sp>
        <p:sp>
          <p:nvSpPr>
            <p:cNvPr id="63494" name="Text Box 8">
              <a:extLst>
                <a:ext uri="{FF2B5EF4-FFF2-40B4-BE49-F238E27FC236}">
                  <a16:creationId xmlns:a16="http://schemas.microsoft.com/office/drawing/2014/main" id="{5A79D658-0FF4-ED72-3A3C-618B9DB526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200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6  Presentation</a:t>
              </a:r>
            </a:p>
          </p:txBody>
        </p:sp>
        <p:sp>
          <p:nvSpPr>
            <p:cNvPr id="63495" name="Text Box 9">
              <a:extLst>
                <a:ext uri="{FF2B5EF4-FFF2-40B4-BE49-F238E27FC236}">
                  <a16:creationId xmlns:a16="http://schemas.microsoft.com/office/drawing/2014/main" id="{042CC747-E02F-560B-18E1-3FF2C02AA2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584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5  Session</a:t>
              </a:r>
            </a:p>
          </p:txBody>
        </p:sp>
        <p:sp>
          <p:nvSpPr>
            <p:cNvPr id="63496" name="Text Box 10">
              <a:extLst>
                <a:ext uri="{FF2B5EF4-FFF2-40B4-BE49-F238E27FC236}">
                  <a16:creationId xmlns:a16="http://schemas.microsoft.com/office/drawing/2014/main" id="{004F7082-72C7-0FAC-2DFF-6EE811199F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968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4  Transport</a:t>
              </a:r>
            </a:p>
          </p:txBody>
        </p:sp>
        <p:sp>
          <p:nvSpPr>
            <p:cNvPr id="63497" name="Text Box 11">
              <a:extLst>
                <a:ext uri="{FF2B5EF4-FFF2-40B4-BE49-F238E27FC236}">
                  <a16:creationId xmlns:a16="http://schemas.microsoft.com/office/drawing/2014/main" id="{B2220AF5-3FB6-5079-CE33-B072EEB203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2352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3  Network</a:t>
              </a:r>
            </a:p>
          </p:txBody>
        </p:sp>
        <p:sp>
          <p:nvSpPr>
            <p:cNvPr id="63498" name="Text Box 12">
              <a:extLst>
                <a:ext uri="{FF2B5EF4-FFF2-40B4-BE49-F238E27FC236}">
                  <a16:creationId xmlns:a16="http://schemas.microsoft.com/office/drawing/2014/main" id="{7AEBE95E-655E-F820-4C4F-7CCF0F19ED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2736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2  Data Link</a:t>
              </a:r>
            </a:p>
          </p:txBody>
        </p:sp>
        <p:sp>
          <p:nvSpPr>
            <p:cNvPr id="63499" name="Text Box 13">
              <a:extLst>
                <a:ext uri="{FF2B5EF4-FFF2-40B4-BE49-F238E27FC236}">
                  <a16:creationId xmlns:a16="http://schemas.microsoft.com/office/drawing/2014/main" id="{69B1CD18-2D04-06FD-489F-028D47F2BA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3120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1  Physical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49197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4881FFDA-E505-5D07-44C2-CC20A0A7EA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19100"/>
            <a:ext cx="9144000" cy="762000"/>
          </a:xfrm>
        </p:spPr>
        <p:txBody>
          <a:bodyPr/>
          <a:lstStyle/>
          <a:p>
            <a:pPr algn="ctr" eaLnBrk="1" hangingPunct="1"/>
            <a:r>
              <a:rPr lang="en-US" altLang="en-US"/>
              <a:t>Layer 4 - The Transport Layer</a:t>
            </a:r>
          </a:p>
        </p:txBody>
      </p:sp>
      <p:grpSp>
        <p:nvGrpSpPr>
          <p:cNvPr id="64515" name="Group 3">
            <a:extLst>
              <a:ext uri="{FF2B5EF4-FFF2-40B4-BE49-F238E27FC236}">
                <a16:creationId xmlns:a16="http://schemas.microsoft.com/office/drawing/2014/main" id="{73C5AEEE-BEA8-BE9C-7DAA-71C14F590DBE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1231900"/>
            <a:ext cx="5867400" cy="5626100"/>
            <a:chOff x="2064" y="776"/>
            <a:chExt cx="3696" cy="3544"/>
          </a:xfrm>
        </p:grpSpPr>
        <p:sp>
          <p:nvSpPr>
            <p:cNvPr id="64524" name="Text Box 4">
              <a:extLst>
                <a:ext uri="{FF2B5EF4-FFF2-40B4-BE49-F238E27FC236}">
                  <a16:creationId xmlns:a16="http://schemas.microsoft.com/office/drawing/2014/main" id="{F4BB51DB-B51E-557A-1DB0-A7B78CD25C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6" y="776"/>
              <a:ext cx="3374" cy="3544"/>
            </a:xfrm>
            <a:prstGeom prst="rect">
              <a:avLst/>
            </a:prstGeom>
            <a:solidFill>
              <a:srgbClr val="FF9966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457200" indent="-457200">
                <a:lnSpc>
                  <a:spcPct val="95000"/>
                </a:lnSpc>
                <a:spcBef>
                  <a:spcPct val="50000"/>
                </a:spcBef>
                <a:buClr>
                  <a:srgbClr val="708CA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914400" indent="-457200">
                <a:lnSpc>
                  <a:spcPct val="95000"/>
                </a:lnSpc>
                <a:spcBef>
                  <a:spcPct val="35000"/>
                </a:spcBef>
                <a:buClr>
                  <a:srgbClr val="708CA1"/>
                </a:buCl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371600" indent="-457200">
                <a:lnSpc>
                  <a:spcPct val="95000"/>
                </a:lnSpc>
                <a:spcBef>
                  <a:spcPct val="35000"/>
                </a:spcBef>
                <a:buClr>
                  <a:srgbClr val="708CA1"/>
                </a:buCl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828800" indent="-457200">
                <a:lnSpc>
                  <a:spcPct val="95000"/>
                </a:lnSpc>
                <a:spcBef>
                  <a:spcPct val="35000"/>
                </a:spcBef>
                <a:buClr>
                  <a:srgbClr val="708CA1"/>
                </a:buCl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286000" indent="-457200">
                <a:lnSpc>
                  <a:spcPct val="95000"/>
                </a:lnSpc>
                <a:spcBef>
                  <a:spcPct val="35000"/>
                </a:spcBef>
                <a:buClr>
                  <a:srgbClr val="708CA1"/>
                </a:buCl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743200" indent="-457200" eaLnBrk="0" fontAlgn="base" hangingPunct="0">
                <a:lnSpc>
                  <a:spcPct val="95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708CA1"/>
                </a:buCl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3200400" indent="-457200" eaLnBrk="0" fontAlgn="base" hangingPunct="0">
                <a:lnSpc>
                  <a:spcPct val="95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708CA1"/>
                </a:buCl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657600" indent="-457200" eaLnBrk="0" fontAlgn="base" hangingPunct="0">
                <a:lnSpc>
                  <a:spcPct val="95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708CA1"/>
                </a:buCl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4114800" indent="-457200" eaLnBrk="0" fontAlgn="base" hangingPunct="0">
                <a:lnSpc>
                  <a:spcPct val="95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708CA1"/>
                </a:buCl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FontTx/>
                <a:buChar char="•"/>
              </a:pPr>
              <a:r>
                <a:rPr lang="en-US" altLang="en-US" b="1">
                  <a:cs typeface="Arial" panose="020B0604020202020204" pitchFamily="34" charset="0"/>
                </a:rPr>
                <a:t>Responsible for actual mechanism of: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FontTx/>
                <a:buAutoNum type="arabicPeriod"/>
              </a:pPr>
              <a:r>
                <a:rPr lang="en-US" altLang="en-US" b="1">
                  <a:cs typeface="Arial" panose="020B0604020202020204" pitchFamily="34" charset="0"/>
                </a:rPr>
                <a:t>Establishment of connection.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FontTx/>
                <a:buAutoNum type="arabicPeriod"/>
              </a:pPr>
              <a:r>
                <a:rPr lang="en-US" altLang="en-US" b="1">
                  <a:cs typeface="Arial" panose="020B0604020202020204" pitchFamily="34" charset="0"/>
                </a:rPr>
                <a:t>Management of connection: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b="1">
                  <a:cs typeface="Arial" panose="020B0604020202020204" pitchFamily="34" charset="0"/>
                </a:rPr>
                <a:t>  2.1) segmentation.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b="1">
                  <a:cs typeface="Arial" panose="020B0604020202020204" pitchFamily="34" charset="0"/>
                </a:rPr>
                <a:t>  2.2) sequencing.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b="1">
                  <a:cs typeface="Arial" panose="020B0604020202020204" pitchFamily="34" charset="0"/>
                </a:rPr>
                <a:t>  2.3) end-to-end check.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b="1">
                  <a:cs typeface="Arial" panose="020B0604020202020204" pitchFamily="34" charset="0"/>
                </a:rPr>
                <a:t>  2.4) error detection &amp;correction.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b="1">
                  <a:cs typeface="Arial" panose="020B0604020202020204" pitchFamily="34" charset="0"/>
                </a:rPr>
                <a:t>  2.5) flow control.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FontTx/>
                <a:buAutoNum type="arabicPeriod" startAt="3"/>
              </a:pPr>
              <a:r>
                <a:rPr lang="en-US" altLang="en-US" b="1">
                  <a:cs typeface="Arial" panose="020B0604020202020204" pitchFamily="34" charset="0"/>
                </a:rPr>
                <a:t>Termination of connection.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b="1"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b="1">
                  <a:cs typeface="Arial" panose="020B0604020202020204" pitchFamily="34" charset="0"/>
                </a:rPr>
                <a:t>Examples: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FontTx/>
                <a:buChar char="•"/>
              </a:pPr>
              <a:r>
                <a:rPr lang="en-US" altLang="en-US" b="1">
                  <a:cs typeface="Arial" panose="020B0604020202020204" pitchFamily="34" charset="0"/>
                </a:rPr>
                <a:t>TCP (transmission control protocol).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FontTx/>
                <a:buChar char="•"/>
              </a:pPr>
              <a:r>
                <a:rPr lang="en-US" altLang="en-US" b="1">
                  <a:cs typeface="Arial" panose="020B0604020202020204" pitchFamily="34" charset="0"/>
                </a:rPr>
                <a:t>UDP (User Datagram Protocol).</a:t>
              </a:r>
            </a:p>
          </p:txBody>
        </p:sp>
        <p:sp>
          <p:nvSpPr>
            <p:cNvPr id="64525" name="Line 5">
              <a:extLst>
                <a:ext uri="{FF2B5EF4-FFF2-40B4-BE49-F238E27FC236}">
                  <a16:creationId xmlns:a16="http://schemas.microsoft.com/office/drawing/2014/main" id="{478246FA-DE17-2F77-0383-C6CD625939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2352"/>
              <a:ext cx="322" cy="1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4516" name="Group 6">
            <a:extLst>
              <a:ext uri="{FF2B5EF4-FFF2-40B4-BE49-F238E27FC236}">
                <a16:creationId xmlns:a16="http://schemas.microsoft.com/office/drawing/2014/main" id="{7FEB4132-B8BE-B55E-500D-8907BB3127E2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1676400"/>
            <a:ext cx="2895600" cy="4233863"/>
            <a:chOff x="192" y="816"/>
            <a:chExt cx="1824" cy="2667"/>
          </a:xfrm>
        </p:grpSpPr>
        <p:sp>
          <p:nvSpPr>
            <p:cNvPr id="64517" name="Text Box 7">
              <a:extLst>
                <a:ext uri="{FF2B5EF4-FFF2-40B4-BE49-F238E27FC236}">
                  <a16:creationId xmlns:a16="http://schemas.microsoft.com/office/drawing/2014/main" id="{402F2A58-E59D-A3BC-E863-2830FA8C3E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816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7  Application</a:t>
              </a:r>
              <a:endParaRPr lang="en-US" altLang="en-US" sz="2800">
                <a:cs typeface="Arial" panose="020B0604020202020204" pitchFamily="34" charset="0"/>
              </a:endParaRPr>
            </a:p>
          </p:txBody>
        </p:sp>
        <p:sp>
          <p:nvSpPr>
            <p:cNvPr id="64518" name="Text Box 8">
              <a:extLst>
                <a:ext uri="{FF2B5EF4-FFF2-40B4-BE49-F238E27FC236}">
                  <a16:creationId xmlns:a16="http://schemas.microsoft.com/office/drawing/2014/main" id="{E1C1383A-DC5E-FB9F-531D-464848067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200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6  Presentation</a:t>
              </a:r>
            </a:p>
          </p:txBody>
        </p:sp>
        <p:sp>
          <p:nvSpPr>
            <p:cNvPr id="64519" name="Text Box 9">
              <a:extLst>
                <a:ext uri="{FF2B5EF4-FFF2-40B4-BE49-F238E27FC236}">
                  <a16:creationId xmlns:a16="http://schemas.microsoft.com/office/drawing/2014/main" id="{FEA7A7A2-5A95-7737-2C7B-FF99789B3E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584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5  Session</a:t>
              </a:r>
            </a:p>
          </p:txBody>
        </p:sp>
        <p:sp>
          <p:nvSpPr>
            <p:cNvPr id="64520" name="Text Box 10">
              <a:extLst>
                <a:ext uri="{FF2B5EF4-FFF2-40B4-BE49-F238E27FC236}">
                  <a16:creationId xmlns:a16="http://schemas.microsoft.com/office/drawing/2014/main" id="{725EDA7E-D0D0-455E-46BB-51787424D2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968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4  Transport</a:t>
              </a:r>
            </a:p>
          </p:txBody>
        </p:sp>
        <p:sp>
          <p:nvSpPr>
            <p:cNvPr id="64521" name="Text Box 11">
              <a:extLst>
                <a:ext uri="{FF2B5EF4-FFF2-40B4-BE49-F238E27FC236}">
                  <a16:creationId xmlns:a16="http://schemas.microsoft.com/office/drawing/2014/main" id="{4149B23C-86EC-C2C5-75F6-867ED6AF42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2352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3  Network</a:t>
              </a:r>
            </a:p>
          </p:txBody>
        </p:sp>
        <p:sp>
          <p:nvSpPr>
            <p:cNvPr id="64522" name="Text Box 12">
              <a:extLst>
                <a:ext uri="{FF2B5EF4-FFF2-40B4-BE49-F238E27FC236}">
                  <a16:creationId xmlns:a16="http://schemas.microsoft.com/office/drawing/2014/main" id="{AB7CEFF3-288B-48A5-E3C8-94511C533A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2736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2  Data Link</a:t>
              </a:r>
            </a:p>
          </p:txBody>
        </p:sp>
        <p:sp>
          <p:nvSpPr>
            <p:cNvPr id="64523" name="Text Box 13">
              <a:extLst>
                <a:ext uri="{FF2B5EF4-FFF2-40B4-BE49-F238E27FC236}">
                  <a16:creationId xmlns:a16="http://schemas.microsoft.com/office/drawing/2014/main" id="{0936903D-0926-7B7B-C8E3-5251221231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3120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1  Physical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2BE64804-A3AE-CC93-1675-DE7AAEAE54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50875"/>
            <a:ext cx="9144000" cy="762000"/>
          </a:xfrm>
        </p:spPr>
        <p:txBody>
          <a:bodyPr/>
          <a:lstStyle/>
          <a:p>
            <a:pPr algn="ctr" eaLnBrk="1" hangingPunct="1"/>
            <a:r>
              <a:rPr lang="en-US" altLang="en-US"/>
              <a:t>Layer 3 - The Network Layer</a:t>
            </a:r>
          </a:p>
        </p:txBody>
      </p:sp>
      <p:grpSp>
        <p:nvGrpSpPr>
          <p:cNvPr id="1494019" name="Group 3">
            <a:extLst>
              <a:ext uri="{FF2B5EF4-FFF2-40B4-BE49-F238E27FC236}">
                <a16:creationId xmlns:a16="http://schemas.microsoft.com/office/drawing/2014/main" id="{D04148E3-B604-153A-8A2C-67CF373C385B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1752600"/>
            <a:ext cx="5867400" cy="4419600"/>
            <a:chOff x="2064" y="864"/>
            <a:chExt cx="3696" cy="2784"/>
          </a:xfrm>
        </p:grpSpPr>
        <p:sp>
          <p:nvSpPr>
            <p:cNvPr id="65548" name="Text Box 4">
              <a:extLst>
                <a:ext uri="{FF2B5EF4-FFF2-40B4-BE49-F238E27FC236}">
                  <a16:creationId xmlns:a16="http://schemas.microsoft.com/office/drawing/2014/main" id="{1853046B-54EF-D44D-8F4E-280BBEFCD7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3" y="864"/>
              <a:ext cx="3207" cy="2784"/>
            </a:xfrm>
            <a:prstGeom prst="rect">
              <a:avLst/>
            </a:prstGeom>
            <a:solidFill>
              <a:srgbClr val="FF9966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lnSpc>
                  <a:spcPct val="95000"/>
                </a:lnSpc>
                <a:spcBef>
                  <a:spcPct val="50000"/>
                </a:spcBef>
                <a:buClr>
                  <a:srgbClr val="708CA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800100" indent="-342900">
                <a:lnSpc>
                  <a:spcPct val="95000"/>
                </a:lnSpc>
                <a:spcBef>
                  <a:spcPct val="35000"/>
                </a:spcBef>
                <a:buClr>
                  <a:srgbClr val="708CA1"/>
                </a:buCl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257300" indent="-342900">
                <a:lnSpc>
                  <a:spcPct val="95000"/>
                </a:lnSpc>
                <a:spcBef>
                  <a:spcPct val="35000"/>
                </a:spcBef>
                <a:buClr>
                  <a:srgbClr val="708CA1"/>
                </a:buCl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714500" indent="-342900">
                <a:lnSpc>
                  <a:spcPct val="95000"/>
                </a:lnSpc>
                <a:spcBef>
                  <a:spcPct val="35000"/>
                </a:spcBef>
                <a:buClr>
                  <a:srgbClr val="708CA1"/>
                </a:buCl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171700" indent="-342900">
                <a:lnSpc>
                  <a:spcPct val="95000"/>
                </a:lnSpc>
                <a:spcBef>
                  <a:spcPct val="35000"/>
                </a:spcBef>
                <a:buClr>
                  <a:srgbClr val="708CA1"/>
                </a:buCl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628900" indent="-342900" eaLnBrk="0" fontAlgn="base" hangingPunct="0">
                <a:lnSpc>
                  <a:spcPct val="95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708CA1"/>
                </a:buCl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3086100" indent="-342900" eaLnBrk="0" fontAlgn="base" hangingPunct="0">
                <a:lnSpc>
                  <a:spcPct val="95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708CA1"/>
                </a:buCl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543300" indent="-342900" eaLnBrk="0" fontAlgn="base" hangingPunct="0">
                <a:lnSpc>
                  <a:spcPct val="95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708CA1"/>
                </a:buCl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4000500" indent="-342900" eaLnBrk="0" fontAlgn="base" hangingPunct="0">
                <a:lnSpc>
                  <a:spcPct val="95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708CA1"/>
                </a:buCl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800" b="1">
                  <a:cs typeface="Arial" panose="020B0604020202020204" pitchFamily="34" charset="0"/>
                </a:rPr>
                <a:t>Responsible for: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FontTx/>
                <a:buAutoNum type="arabicPeriod"/>
              </a:pPr>
              <a:r>
                <a:rPr lang="en-US" altLang="en-US" sz="2800" b="1">
                  <a:cs typeface="Arial" panose="020B0604020202020204" pitchFamily="34" charset="0"/>
                </a:rPr>
                <a:t>End-to-end delivery.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FontTx/>
                <a:buAutoNum type="arabicPeriod"/>
              </a:pPr>
              <a:r>
                <a:rPr lang="en-US" altLang="en-US" sz="2800" b="1">
                  <a:cs typeface="Arial" panose="020B0604020202020204" pitchFamily="34" charset="0"/>
                </a:rPr>
                <a:t>Logical addressing .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800" b="1">
                  <a:cs typeface="Arial" panose="020B0604020202020204" pitchFamily="34" charset="0"/>
                </a:rPr>
                <a:t>EX: IPv4,IPv6,IPX,APPLETALK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2800" b="1"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800" b="1">
                  <a:cs typeface="Arial" panose="020B0604020202020204" pitchFamily="34" charset="0"/>
                </a:rPr>
                <a:t>3. Routing (choose the best path to destination.)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800" b="1">
                  <a:cs typeface="Arial" panose="020B0604020202020204" pitchFamily="34" charset="0"/>
                </a:rPr>
                <a:t>EX: RIP,OSPF,IS-IS,EIGRP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2800" b="1">
                <a:cs typeface="Arial" panose="020B0604020202020204" pitchFamily="34" charset="0"/>
              </a:endParaRPr>
            </a:p>
          </p:txBody>
        </p:sp>
        <p:sp>
          <p:nvSpPr>
            <p:cNvPr id="65549" name="Line 5">
              <a:extLst>
                <a:ext uri="{FF2B5EF4-FFF2-40B4-BE49-F238E27FC236}">
                  <a16:creationId xmlns:a16="http://schemas.microsoft.com/office/drawing/2014/main" id="{2CCA6FBC-F08B-6DFD-2D0B-6B714D458A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2544"/>
              <a:ext cx="489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5540" name="Group 6">
            <a:extLst>
              <a:ext uri="{FF2B5EF4-FFF2-40B4-BE49-F238E27FC236}">
                <a16:creationId xmlns:a16="http://schemas.microsoft.com/office/drawing/2014/main" id="{F6E88757-7EAB-98B7-C33D-839CBA3ECB6C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1752600"/>
            <a:ext cx="2895600" cy="4233863"/>
            <a:chOff x="192" y="816"/>
            <a:chExt cx="1824" cy="2667"/>
          </a:xfrm>
        </p:grpSpPr>
        <p:sp>
          <p:nvSpPr>
            <p:cNvPr id="65541" name="Text Box 7">
              <a:extLst>
                <a:ext uri="{FF2B5EF4-FFF2-40B4-BE49-F238E27FC236}">
                  <a16:creationId xmlns:a16="http://schemas.microsoft.com/office/drawing/2014/main" id="{862F7BC7-80E0-0A0D-09F2-ABF97BF3BD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816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7  Application</a:t>
              </a:r>
              <a:endParaRPr lang="en-US" altLang="en-US" sz="2800">
                <a:cs typeface="Arial" panose="020B0604020202020204" pitchFamily="34" charset="0"/>
              </a:endParaRPr>
            </a:p>
          </p:txBody>
        </p:sp>
        <p:sp>
          <p:nvSpPr>
            <p:cNvPr id="65542" name="Text Box 8">
              <a:extLst>
                <a:ext uri="{FF2B5EF4-FFF2-40B4-BE49-F238E27FC236}">
                  <a16:creationId xmlns:a16="http://schemas.microsoft.com/office/drawing/2014/main" id="{4838ACB1-F61B-39F5-EF6B-3A39C1E681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200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6  Presentation</a:t>
              </a:r>
            </a:p>
          </p:txBody>
        </p:sp>
        <p:sp>
          <p:nvSpPr>
            <p:cNvPr id="65543" name="Text Box 9">
              <a:extLst>
                <a:ext uri="{FF2B5EF4-FFF2-40B4-BE49-F238E27FC236}">
                  <a16:creationId xmlns:a16="http://schemas.microsoft.com/office/drawing/2014/main" id="{9974A74C-29FE-A560-04B8-EBE1230377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584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5  Session</a:t>
              </a:r>
            </a:p>
          </p:txBody>
        </p:sp>
        <p:sp>
          <p:nvSpPr>
            <p:cNvPr id="65544" name="Text Box 10">
              <a:extLst>
                <a:ext uri="{FF2B5EF4-FFF2-40B4-BE49-F238E27FC236}">
                  <a16:creationId xmlns:a16="http://schemas.microsoft.com/office/drawing/2014/main" id="{01AB39F7-89B8-2268-42E6-974B0010AB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968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4  Transport</a:t>
              </a:r>
            </a:p>
          </p:txBody>
        </p:sp>
        <p:sp>
          <p:nvSpPr>
            <p:cNvPr id="65545" name="Text Box 11">
              <a:extLst>
                <a:ext uri="{FF2B5EF4-FFF2-40B4-BE49-F238E27FC236}">
                  <a16:creationId xmlns:a16="http://schemas.microsoft.com/office/drawing/2014/main" id="{7AE6EEDC-CD5A-E974-DDCA-818ED45BD5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2352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3  Network</a:t>
              </a:r>
            </a:p>
          </p:txBody>
        </p:sp>
        <p:sp>
          <p:nvSpPr>
            <p:cNvPr id="65546" name="Text Box 12">
              <a:extLst>
                <a:ext uri="{FF2B5EF4-FFF2-40B4-BE49-F238E27FC236}">
                  <a16:creationId xmlns:a16="http://schemas.microsoft.com/office/drawing/2014/main" id="{F35102DB-0BC9-127F-5496-07B9657ED7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2736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2  Data Link</a:t>
              </a:r>
            </a:p>
          </p:txBody>
        </p:sp>
        <p:sp>
          <p:nvSpPr>
            <p:cNvPr id="65547" name="Text Box 13">
              <a:extLst>
                <a:ext uri="{FF2B5EF4-FFF2-40B4-BE49-F238E27FC236}">
                  <a16:creationId xmlns:a16="http://schemas.microsoft.com/office/drawing/2014/main" id="{D29168A0-C3F0-28C9-2798-EE767012AD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3120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1  Physical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4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49401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729DF48D-AA23-E657-BB8D-02F1F09924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215900" y="568325"/>
            <a:ext cx="9144000" cy="762000"/>
          </a:xfrm>
        </p:spPr>
        <p:txBody>
          <a:bodyPr/>
          <a:lstStyle/>
          <a:p>
            <a:pPr algn="ctr" eaLnBrk="1" hangingPunct="1"/>
            <a:r>
              <a:rPr lang="en-US" altLang="en-US"/>
              <a:t>Layer 2 - The Data Link Layer</a:t>
            </a:r>
          </a:p>
        </p:txBody>
      </p:sp>
      <p:grpSp>
        <p:nvGrpSpPr>
          <p:cNvPr id="66563" name="Group 3">
            <a:extLst>
              <a:ext uri="{FF2B5EF4-FFF2-40B4-BE49-F238E27FC236}">
                <a16:creationId xmlns:a16="http://schemas.microsoft.com/office/drawing/2014/main" id="{86DE6D76-2156-FD79-9B04-E1BC4D659710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2514600"/>
            <a:ext cx="5943600" cy="3138488"/>
            <a:chOff x="2016" y="1584"/>
            <a:chExt cx="3744" cy="1977"/>
          </a:xfrm>
        </p:grpSpPr>
        <p:sp>
          <p:nvSpPr>
            <p:cNvPr id="66572" name="Text Box 4">
              <a:extLst>
                <a:ext uri="{FF2B5EF4-FFF2-40B4-BE49-F238E27FC236}">
                  <a16:creationId xmlns:a16="http://schemas.microsoft.com/office/drawing/2014/main" id="{FC272443-70DD-8293-11EC-D35A6B8171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1584"/>
              <a:ext cx="3408" cy="1977"/>
            </a:xfrm>
            <a:prstGeom prst="rect">
              <a:avLst/>
            </a:prstGeom>
            <a:solidFill>
              <a:srgbClr val="FF9966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lnSpc>
                  <a:spcPct val="95000"/>
                </a:lnSpc>
                <a:spcBef>
                  <a:spcPct val="50000"/>
                </a:spcBef>
                <a:buClr>
                  <a:srgbClr val="708CA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800100" indent="-342900">
                <a:lnSpc>
                  <a:spcPct val="95000"/>
                </a:lnSpc>
                <a:spcBef>
                  <a:spcPct val="35000"/>
                </a:spcBef>
                <a:buClr>
                  <a:srgbClr val="708CA1"/>
                </a:buCl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257300" indent="-342900">
                <a:lnSpc>
                  <a:spcPct val="95000"/>
                </a:lnSpc>
                <a:spcBef>
                  <a:spcPct val="35000"/>
                </a:spcBef>
                <a:buClr>
                  <a:srgbClr val="708CA1"/>
                </a:buCl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714500" indent="-342900">
                <a:lnSpc>
                  <a:spcPct val="95000"/>
                </a:lnSpc>
                <a:spcBef>
                  <a:spcPct val="35000"/>
                </a:spcBef>
                <a:buClr>
                  <a:srgbClr val="708CA1"/>
                </a:buCl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171700" indent="-342900">
                <a:lnSpc>
                  <a:spcPct val="95000"/>
                </a:lnSpc>
                <a:spcBef>
                  <a:spcPct val="35000"/>
                </a:spcBef>
                <a:buClr>
                  <a:srgbClr val="708CA1"/>
                </a:buCl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628900" indent="-342900" eaLnBrk="0" fontAlgn="base" hangingPunct="0">
                <a:lnSpc>
                  <a:spcPct val="95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708CA1"/>
                </a:buCl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3086100" indent="-342900" eaLnBrk="0" fontAlgn="base" hangingPunct="0">
                <a:lnSpc>
                  <a:spcPct val="95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708CA1"/>
                </a:buCl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543300" indent="-342900" eaLnBrk="0" fontAlgn="base" hangingPunct="0">
                <a:lnSpc>
                  <a:spcPct val="95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708CA1"/>
                </a:buCl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4000500" indent="-342900" eaLnBrk="0" fontAlgn="base" hangingPunct="0">
                <a:lnSpc>
                  <a:spcPct val="95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708CA1"/>
                </a:buCl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800" b="1">
                  <a:cs typeface="Arial" panose="020B0604020202020204" pitchFamily="34" charset="0"/>
                </a:rPr>
                <a:t>Responsible for: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FontTx/>
                <a:buAutoNum type="arabicPeriod"/>
              </a:pPr>
              <a:r>
                <a:rPr lang="en-US" altLang="en-US" sz="2800" b="1">
                  <a:cs typeface="Arial" panose="020B0604020202020204" pitchFamily="34" charset="0"/>
                </a:rPr>
                <a:t>Hop-to hop data delivery.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FontTx/>
                <a:buAutoNum type="arabicPeriod"/>
              </a:pPr>
              <a:r>
                <a:rPr lang="en-US" altLang="en-US" sz="2800" b="1">
                  <a:cs typeface="Arial" panose="020B0604020202020204" pitchFamily="34" charset="0"/>
                </a:rPr>
                <a:t>Hop-to-hop addressing (MAC Address in Ethernet).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FontTx/>
                <a:buAutoNum type="arabicPeriod"/>
              </a:pPr>
              <a:r>
                <a:rPr lang="en-US" altLang="en-US" sz="2800" b="1">
                  <a:cs typeface="Arial" panose="020B0604020202020204" pitchFamily="34" charset="0"/>
                </a:rPr>
                <a:t>Hop-to-hop error detection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FontTx/>
                <a:buAutoNum type="arabicPeriod"/>
              </a:pPr>
              <a:r>
                <a:rPr lang="en-US" altLang="en-US" sz="2800" b="1">
                  <a:cs typeface="Arial" panose="020B0604020202020204" pitchFamily="34" charset="0"/>
                </a:rPr>
                <a:t>Hop-to-hop flow control.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n-US" altLang="en-US" sz="2800" b="1">
                <a:cs typeface="Arial" panose="020B0604020202020204" pitchFamily="34" charset="0"/>
              </a:endParaRPr>
            </a:p>
          </p:txBody>
        </p:sp>
        <p:sp>
          <p:nvSpPr>
            <p:cNvPr id="66573" name="Line 5">
              <a:extLst>
                <a:ext uri="{FF2B5EF4-FFF2-40B4-BE49-F238E27FC236}">
                  <a16:creationId xmlns:a16="http://schemas.microsoft.com/office/drawing/2014/main" id="{E07E568D-FDC4-7369-8C16-CB340FFEA3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3216"/>
              <a:ext cx="319" cy="1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6564" name="Group 6">
            <a:extLst>
              <a:ext uri="{FF2B5EF4-FFF2-40B4-BE49-F238E27FC236}">
                <a16:creationId xmlns:a16="http://schemas.microsoft.com/office/drawing/2014/main" id="{802205C0-05F0-FDE0-A77B-30DDFC39B455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1752600"/>
            <a:ext cx="2895600" cy="4233863"/>
            <a:chOff x="192" y="816"/>
            <a:chExt cx="1824" cy="2667"/>
          </a:xfrm>
        </p:grpSpPr>
        <p:sp>
          <p:nvSpPr>
            <p:cNvPr id="66565" name="Text Box 7">
              <a:extLst>
                <a:ext uri="{FF2B5EF4-FFF2-40B4-BE49-F238E27FC236}">
                  <a16:creationId xmlns:a16="http://schemas.microsoft.com/office/drawing/2014/main" id="{F08ED99D-50A1-1D8A-1B2C-4D623A5B59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816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7  Application</a:t>
              </a:r>
              <a:endParaRPr lang="en-US" altLang="en-US" sz="2800">
                <a:cs typeface="Arial" panose="020B0604020202020204" pitchFamily="34" charset="0"/>
              </a:endParaRPr>
            </a:p>
          </p:txBody>
        </p:sp>
        <p:sp>
          <p:nvSpPr>
            <p:cNvPr id="66566" name="Text Box 8">
              <a:extLst>
                <a:ext uri="{FF2B5EF4-FFF2-40B4-BE49-F238E27FC236}">
                  <a16:creationId xmlns:a16="http://schemas.microsoft.com/office/drawing/2014/main" id="{2878660B-2975-8EC3-3819-1E8E325DDF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200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6  Presentation</a:t>
              </a:r>
            </a:p>
          </p:txBody>
        </p:sp>
        <p:sp>
          <p:nvSpPr>
            <p:cNvPr id="66567" name="Text Box 9">
              <a:extLst>
                <a:ext uri="{FF2B5EF4-FFF2-40B4-BE49-F238E27FC236}">
                  <a16:creationId xmlns:a16="http://schemas.microsoft.com/office/drawing/2014/main" id="{1B6ED188-63C0-225B-9517-BA0CEF4B94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584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5  Session</a:t>
              </a:r>
            </a:p>
          </p:txBody>
        </p:sp>
        <p:sp>
          <p:nvSpPr>
            <p:cNvPr id="66568" name="Text Box 10">
              <a:extLst>
                <a:ext uri="{FF2B5EF4-FFF2-40B4-BE49-F238E27FC236}">
                  <a16:creationId xmlns:a16="http://schemas.microsoft.com/office/drawing/2014/main" id="{42E35D07-7771-1566-AA1C-1F0E6945D5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968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4  Transport</a:t>
              </a:r>
            </a:p>
          </p:txBody>
        </p:sp>
        <p:sp>
          <p:nvSpPr>
            <p:cNvPr id="66569" name="Text Box 11">
              <a:extLst>
                <a:ext uri="{FF2B5EF4-FFF2-40B4-BE49-F238E27FC236}">
                  <a16:creationId xmlns:a16="http://schemas.microsoft.com/office/drawing/2014/main" id="{E3BAB08F-8666-1831-CCC3-5BF3E8D1C5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2352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3  Network</a:t>
              </a:r>
            </a:p>
          </p:txBody>
        </p:sp>
        <p:sp>
          <p:nvSpPr>
            <p:cNvPr id="66570" name="Text Box 12">
              <a:extLst>
                <a:ext uri="{FF2B5EF4-FFF2-40B4-BE49-F238E27FC236}">
                  <a16:creationId xmlns:a16="http://schemas.microsoft.com/office/drawing/2014/main" id="{11E7C452-C308-8D49-FDA4-DB689043B7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2736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2  Data Link</a:t>
              </a:r>
            </a:p>
          </p:txBody>
        </p:sp>
        <p:sp>
          <p:nvSpPr>
            <p:cNvPr id="66571" name="Text Box 13">
              <a:extLst>
                <a:ext uri="{FF2B5EF4-FFF2-40B4-BE49-F238E27FC236}">
                  <a16:creationId xmlns:a16="http://schemas.microsoft.com/office/drawing/2014/main" id="{CA40F77B-01FD-A1DA-0A90-F96903E3C7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3120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1  Physical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EAA8F439-03C6-F182-373D-B641AB0070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85788"/>
            <a:ext cx="9144000" cy="762000"/>
          </a:xfrm>
        </p:spPr>
        <p:txBody>
          <a:bodyPr/>
          <a:lstStyle/>
          <a:p>
            <a:pPr algn="ctr" eaLnBrk="1" hangingPunct="1"/>
            <a:r>
              <a:rPr lang="en-US" altLang="en-US"/>
              <a:t>Layer 1 - The Physical Layer</a:t>
            </a:r>
          </a:p>
        </p:txBody>
      </p:sp>
      <p:sp>
        <p:nvSpPr>
          <p:cNvPr id="67587" name="Text Box 3">
            <a:extLst>
              <a:ext uri="{FF2B5EF4-FFF2-40B4-BE49-F238E27FC236}">
                <a16:creationId xmlns:a16="http://schemas.microsoft.com/office/drawing/2014/main" id="{02D8A3F9-7F9A-F3C1-A855-7EC0E58CA0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2667000"/>
            <a:ext cx="5257800" cy="3565525"/>
          </a:xfrm>
          <a:prstGeom prst="rect">
            <a:avLst/>
          </a:prstGeom>
          <a:solidFill>
            <a:srgbClr val="FF9966"/>
          </a:solidFill>
          <a:ln w="571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lnSpc>
                <a:spcPct val="95000"/>
              </a:lnSpc>
              <a:spcBef>
                <a:spcPct val="35000"/>
              </a:spcBef>
              <a:buClr>
                <a:srgbClr val="708CA1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>
              <a:lnSpc>
                <a:spcPct val="95000"/>
              </a:lnSpc>
              <a:spcBef>
                <a:spcPct val="35000"/>
              </a:spcBef>
              <a:buClr>
                <a:srgbClr val="708CA1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lnSpc>
                <a:spcPct val="95000"/>
              </a:lnSpc>
              <a:spcBef>
                <a:spcPct val="35000"/>
              </a:spcBef>
              <a:buClr>
                <a:srgbClr val="708CA1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lnSpc>
                <a:spcPct val="95000"/>
              </a:lnSpc>
              <a:spcBef>
                <a:spcPct val="35000"/>
              </a:spcBef>
              <a:buClr>
                <a:srgbClr val="708CA1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>
                <a:cs typeface="Arial" panose="020B0604020202020204" pitchFamily="34" charset="0"/>
              </a:rPr>
              <a:t>It’s responsible for all Physical properties of the network</a:t>
            </a:r>
            <a:r>
              <a:rPr lang="en-US" altLang="en-US" b="1">
                <a:latin typeface="Times New Roman" panose="02020603050405020304" pitchFamily="18" charset="0"/>
              </a:rPr>
              <a:t> :</a:t>
            </a:r>
            <a:endParaRPr lang="en-US" altLang="en-US" sz="2800" b="1"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>
                <a:cs typeface="Arial" panose="020B0604020202020204" pitchFamily="34" charset="0"/>
              </a:rPr>
              <a:t>1. Cable length.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>
                <a:cs typeface="Arial" panose="020B0604020202020204" pitchFamily="34" charset="0"/>
              </a:rPr>
              <a:t>2. Cable type.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>
                <a:cs typeface="Arial" panose="020B0604020202020204" pitchFamily="34" charset="0"/>
              </a:rPr>
              <a:t>3. Bit rate.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>
                <a:cs typeface="Arial" panose="020B0604020202020204" pitchFamily="34" charset="0"/>
              </a:rPr>
              <a:t>4. Voltage levels.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>
                <a:cs typeface="Arial" panose="020B0604020202020204" pitchFamily="34" charset="0"/>
              </a:rPr>
              <a:t>5. H/W interface types.</a:t>
            </a:r>
          </a:p>
        </p:txBody>
      </p:sp>
      <p:sp>
        <p:nvSpPr>
          <p:cNvPr id="67588" name="Line 4">
            <a:extLst>
              <a:ext uri="{FF2B5EF4-FFF2-40B4-BE49-F238E27FC236}">
                <a16:creationId xmlns:a16="http://schemas.microsoft.com/office/drawing/2014/main" id="{EB5388D2-C8CE-76AE-7024-5F1F662E12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51200" y="5638800"/>
            <a:ext cx="635000" cy="1588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7589" name="Group 5">
            <a:extLst>
              <a:ext uri="{FF2B5EF4-FFF2-40B4-BE49-F238E27FC236}">
                <a16:creationId xmlns:a16="http://schemas.microsoft.com/office/drawing/2014/main" id="{9D4A7541-B221-CF7F-54B4-B1AAA90D5FF1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1752600"/>
            <a:ext cx="2895600" cy="4233863"/>
            <a:chOff x="192" y="816"/>
            <a:chExt cx="1824" cy="2667"/>
          </a:xfrm>
        </p:grpSpPr>
        <p:sp>
          <p:nvSpPr>
            <p:cNvPr id="67590" name="Text Box 6">
              <a:extLst>
                <a:ext uri="{FF2B5EF4-FFF2-40B4-BE49-F238E27FC236}">
                  <a16:creationId xmlns:a16="http://schemas.microsoft.com/office/drawing/2014/main" id="{11BAE06C-2605-F467-A469-523FAA3A56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816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7  Application</a:t>
              </a:r>
              <a:endParaRPr lang="en-US" altLang="en-US" sz="2800">
                <a:cs typeface="Arial" panose="020B0604020202020204" pitchFamily="34" charset="0"/>
              </a:endParaRPr>
            </a:p>
          </p:txBody>
        </p:sp>
        <p:sp>
          <p:nvSpPr>
            <p:cNvPr id="67591" name="Text Box 7">
              <a:extLst>
                <a:ext uri="{FF2B5EF4-FFF2-40B4-BE49-F238E27FC236}">
                  <a16:creationId xmlns:a16="http://schemas.microsoft.com/office/drawing/2014/main" id="{2A5ED567-CF45-4542-D518-82DAD0EAE3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200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6  Presentation</a:t>
              </a:r>
            </a:p>
          </p:txBody>
        </p:sp>
        <p:sp>
          <p:nvSpPr>
            <p:cNvPr id="67592" name="Text Box 8">
              <a:extLst>
                <a:ext uri="{FF2B5EF4-FFF2-40B4-BE49-F238E27FC236}">
                  <a16:creationId xmlns:a16="http://schemas.microsoft.com/office/drawing/2014/main" id="{BE06754E-D8E9-B010-7A73-9AC3F46889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584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5  Session</a:t>
              </a:r>
            </a:p>
          </p:txBody>
        </p:sp>
        <p:sp>
          <p:nvSpPr>
            <p:cNvPr id="67593" name="Text Box 9">
              <a:extLst>
                <a:ext uri="{FF2B5EF4-FFF2-40B4-BE49-F238E27FC236}">
                  <a16:creationId xmlns:a16="http://schemas.microsoft.com/office/drawing/2014/main" id="{F2B3BB5F-24C3-FEFC-8473-DBB00AD8F1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968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4  Transport</a:t>
              </a:r>
            </a:p>
          </p:txBody>
        </p:sp>
        <p:sp>
          <p:nvSpPr>
            <p:cNvPr id="67594" name="Text Box 10">
              <a:extLst>
                <a:ext uri="{FF2B5EF4-FFF2-40B4-BE49-F238E27FC236}">
                  <a16:creationId xmlns:a16="http://schemas.microsoft.com/office/drawing/2014/main" id="{EC2DAA24-9100-74D1-DC43-5C22F17BAB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2352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3  Network</a:t>
              </a:r>
            </a:p>
          </p:txBody>
        </p:sp>
        <p:sp>
          <p:nvSpPr>
            <p:cNvPr id="67595" name="Text Box 11">
              <a:extLst>
                <a:ext uri="{FF2B5EF4-FFF2-40B4-BE49-F238E27FC236}">
                  <a16:creationId xmlns:a16="http://schemas.microsoft.com/office/drawing/2014/main" id="{2A22D79E-0A21-76F4-84E8-9DEE6C8775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2736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2  Data Link</a:t>
              </a:r>
            </a:p>
          </p:txBody>
        </p:sp>
        <p:sp>
          <p:nvSpPr>
            <p:cNvPr id="67596" name="Text Box 12">
              <a:extLst>
                <a:ext uri="{FF2B5EF4-FFF2-40B4-BE49-F238E27FC236}">
                  <a16:creationId xmlns:a16="http://schemas.microsoft.com/office/drawing/2014/main" id="{EE9C6358-6BF2-DEEA-C079-ABDC91C3C7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3120"/>
              <a:ext cx="1824" cy="363"/>
            </a:xfrm>
            <a:prstGeom prst="rect">
              <a:avLst/>
            </a:prstGeom>
            <a:solidFill>
              <a:srgbClr val="3AB3B0"/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b="1">
                  <a:cs typeface="Arial" panose="020B0604020202020204" pitchFamily="34" charset="0"/>
                </a:rPr>
                <a:t>1  Physical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3164CEC9-DE6B-548A-F357-464AC41AA3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Layers with TCP/IP and OSI Model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5EE927FA-DAB6-B7BE-202D-099ABA4A92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5638" y="1392238"/>
            <a:ext cx="7940675" cy="5076825"/>
          </a:xfrm>
        </p:spPr>
        <p:txBody>
          <a:bodyPr/>
          <a:lstStyle/>
          <a:p>
            <a:pPr eaLnBrk="1" hangingPunct="1"/>
            <a:r>
              <a:rPr lang="en-US" altLang="en-US"/>
              <a:t>Compare OSI and TCP/IP model</a:t>
            </a:r>
          </a:p>
          <a:p>
            <a:pPr eaLnBrk="1" hangingPunct="1"/>
            <a:endParaRPr lang="en-US" altLang="en-US" sz="2800"/>
          </a:p>
        </p:txBody>
      </p:sp>
      <p:pic>
        <p:nvPicPr>
          <p:cNvPr id="68612" name="Picture 4">
            <a:extLst>
              <a:ext uri="{FF2B5EF4-FFF2-40B4-BE49-F238E27FC236}">
                <a16:creationId xmlns:a16="http://schemas.microsoft.com/office/drawing/2014/main" id="{4DF898AD-40D0-14A6-568E-7D474079A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5825" y="1860550"/>
            <a:ext cx="5092700" cy="476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5115C09C-FA5E-2C04-0F7D-6F3E8C5CC8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TCP/IP Model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E965F628-01C8-361E-CDF9-74E50ADD92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5638" y="1900238"/>
            <a:ext cx="7940675" cy="4468812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009999"/>
                </a:solidFill>
                <a:cs typeface="Arial" panose="020B0604020202020204" pitchFamily="34" charset="0"/>
              </a:rPr>
              <a:t>How each layer is implemented.</a:t>
            </a:r>
          </a:p>
        </p:txBody>
      </p:sp>
      <p:pic>
        <p:nvPicPr>
          <p:cNvPr id="70660" name="Picture 4">
            <a:extLst>
              <a:ext uri="{FF2B5EF4-FFF2-40B4-BE49-F238E27FC236}">
                <a16:creationId xmlns:a16="http://schemas.microsoft.com/office/drawing/2014/main" id="{66CF5063-EC67-099C-7FAC-8DBE7FD56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62" t="32556" r="60162" b="26288"/>
          <a:stretch>
            <a:fillRect/>
          </a:stretch>
        </p:blipFill>
        <p:spPr bwMode="auto">
          <a:xfrm>
            <a:off x="3011488" y="2373313"/>
            <a:ext cx="2224087" cy="3951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rgbClr val="0099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TCP/IP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Application Layer – HTTP, FTP, SMTP</a:t>
            </a:r>
          </a:p>
          <a:p>
            <a:pPr lvl="1"/>
            <a:endParaRPr lang="en-US" dirty="0"/>
          </a:p>
          <a:p>
            <a:pPr lvl="1"/>
            <a:r>
              <a:rPr dirty="0"/>
              <a:t>Transport Layer – TCP reliability, UDP speed</a:t>
            </a:r>
          </a:p>
          <a:p>
            <a:pPr lvl="1"/>
            <a:r>
              <a:rPr dirty="0"/>
              <a:t>Network Layer – IP addressing &amp; routing</a:t>
            </a:r>
          </a:p>
          <a:p>
            <a:pPr lvl="1"/>
            <a:r>
              <a:rPr dirty="0"/>
              <a:t>Link Layer – Ethernet, Wi-Fi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Routers &amp;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dirty="0"/>
              <a:t>Forward packets between networks</a:t>
            </a:r>
          </a:p>
          <a:p>
            <a:pPr lvl="1"/>
            <a:r>
              <a:rPr dirty="0"/>
              <a:t>Use routing tables</a:t>
            </a:r>
          </a:p>
          <a:p>
            <a:pPr lvl="1"/>
            <a:r>
              <a:rPr dirty="0"/>
              <a:t>Routing protocols: RIP, OSPF, BGP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IP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IPv4: 32-bit, dotted decimal</a:t>
            </a:r>
          </a:p>
          <a:p>
            <a:pPr lvl="1"/>
            <a:r>
              <a:t>IPv6: 128-bit, larger address space</a:t>
            </a:r>
          </a:p>
          <a:p>
            <a:pPr lvl="1"/>
            <a:r>
              <a:t>Subnetting concepts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DNS (Domain Name System)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Translates domain names to IPs</a:t>
            </a:r>
          </a:p>
          <a:p>
            <a:pPr lvl="1"/>
            <a:r>
              <a:t>Root, TLD, authoritative servers</a:t>
            </a:r>
          </a:p>
          <a:p>
            <a:pPr lvl="1"/>
            <a:r>
              <a:t>DNS caching &amp; lookup process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HTTP / HTTPS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HTTP methods: GET, POST, PUT, DELETE</a:t>
            </a:r>
          </a:p>
          <a:p>
            <a:pPr lvl="1"/>
            <a:r>
              <a:t>Stateless protocol</a:t>
            </a:r>
          </a:p>
          <a:p>
            <a:pPr lvl="1"/>
            <a:r>
              <a:t>HTTPS adds TLS encryption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Email Protocols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SMTP – sending email</a:t>
            </a:r>
          </a:p>
          <a:p>
            <a:pPr lvl="1"/>
            <a:r>
              <a:t>POP3 – downloading email</a:t>
            </a:r>
          </a:p>
          <a:p>
            <a:pPr lvl="1"/>
            <a:r>
              <a:t>IMAP – synchronizing email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Router – connects networks</a:t>
            </a:r>
          </a:p>
          <a:p>
            <a:pPr lvl="1"/>
            <a:r>
              <a:t>Switch – connects devices in LAN</a:t>
            </a:r>
          </a:p>
          <a:p>
            <a:pPr lvl="1"/>
            <a:r>
              <a:t>Firewall – filters traffic</a:t>
            </a:r>
          </a:p>
          <a:p>
            <a:pPr lvl="1"/>
            <a:r>
              <a:t>Access Point – wireless connectivity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Internet 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Bandwidth – maximum data rate</a:t>
            </a:r>
          </a:p>
          <a:p>
            <a:pPr lvl="1"/>
            <a:r>
              <a:t>Latency – delay</a:t>
            </a:r>
          </a:p>
          <a:p>
            <a:pPr lvl="1"/>
            <a:r>
              <a:t>Jitter – variation in delay</a:t>
            </a:r>
          </a:p>
          <a:p>
            <a:pPr lvl="1"/>
            <a:r>
              <a:t>Packet loss – missing packets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Security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Encryption – protects confidentiality</a:t>
            </a:r>
          </a:p>
          <a:p>
            <a:pPr lvl="1"/>
            <a:r>
              <a:t>Firewalls – block unauthorized access</a:t>
            </a:r>
          </a:p>
          <a:p>
            <a:pPr lvl="1"/>
            <a:r>
              <a:t>VPN – secure remote access</a:t>
            </a:r>
          </a:p>
          <a:p>
            <a:pPr lvl="1"/>
            <a:r>
              <a:t>Attacks: DDoS, phishing, malware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Computing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IaaS – infrastructure</a:t>
            </a:r>
          </a:p>
          <a:p>
            <a:pPr lvl="1"/>
            <a:r>
              <a:t>PaaS – platform</a:t>
            </a:r>
          </a:p>
          <a:p>
            <a:pPr lvl="1"/>
            <a:r>
              <a:t>SaaS – software services</a:t>
            </a:r>
          </a:p>
          <a:p>
            <a:pPr lvl="1"/>
            <a:r>
              <a:t>Benefits: scalability, reliability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1224</Words>
  <Application>Microsoft Office PowerPoint</Application>
  <PresentationFormat>On-screen Show (4:3)</PresentationFormat>
  <Paragraphs>257</Paragraphs>
  <Slides>33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Aptos</vt:lpstr>
      <vt:lpstr>Arial</vt:lpstr>
      <vt:lpstr>Calibri</vt:lpstr>
      <vt:lpstr>Times New Roman</vt:lpstr>
      <vt:lpstr>Wingdings</vt:lpstr>
      <vt:lpstr>Office Theme</vt:lpstr>
      <vt:lpstr>Bitmap Image</vt:lpstr>
      <vt:lpstr>Internet Technology  </vt:lpstr>
      <vt:lpstr>2- Network definition</vt:lpstr>
      <vt:lpstr>PowerPoint Presentation</vt:lpstr>
      <vt:lpstr>3- Network components</vt:lpstr>
      <vt:lpstr>Intermediary Devices</vt:lpstr>
      <vt:lpstr>Network Media</vt:lpstr>
      <vt:lpstr>Network Media</vt:lpstr>
      <vt:lpstr>4- Network Topologies</vt:lpstr>
      <vt:lpstr>Physical VS. Logical Topology</vt:lpstr>
      <vt:lpstr>5- Network Types</vt:lpstr>
      <vt:lpstr>Network Types</vt:lpstr>
      <vt:lpstr>Internet Architecture</vt:lpstr>
      <vt:lpstr>6- Reference Models</vt:lpstr>
      <vt:lpstr>OSI-RM</vt:lpstr>
      <vt:lpstr>Layer 7 - The Application Layer</vt:lpstr>
      <vt:lpstr>Layer 6 - The Presentation Layer</vt:lpstr>
      <vt:lpstr>Layer 5 - The Session Layer</vt:lpstr>
      <vt:lpstr>Layer 4 - The Transport Layer</vt:lpstr>
      <vt:lpstr>Layer 3 - The Network Layer</vt:lpstr>
      <vt:lpstr>Layer 2 - The Data Link Layer</vt:lpstr>
      <vt:lpstr>Layer 1 - The Physical Layer</vt:lpstr>
      <vt:lpstr>Layers with TCP/IP and OSI Model</vt:lpstr>
      <vt:lpstr>TCP/IP Model</vt:lpstr>
      <vt:lpstr>TCP/IP Model</vt:lpstr>
      <vt:lpstr>Routers &amp; Routing</vt:lpstr>
      <vt:lpstr>IP Addressing</vt:lpstr>
      <vt:lpstr>DNS (Domain Name System)</vt:lpstr>
      <vt:lpstr>HTTP / HTTPS</vt:lpstr>
      <vt:lpstr>Email Protocols</vt:lpstr>
      <vt:lpstr>Network Devices</vt:lpstr>
      <vt:lpstr>Internet Performance Metrics</vt:lpstr>
      <vt:lpstr>Network Security Basics</vt:lpstr>
      <vt:lpstr>Cloud Computing Basics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adam</cp:lastModifiedBy>
  <cp:revision>13</cp:revision>
  <dcterms:created xsi:type="dcterms:W3CDTF">2013-01-27T09:14:16Z</dcterms:created>
  <dcterms:modified xsi:type="dcterms:W3CDTF">2025-12-14T06:35:21Z</dcterms:modified>
  <cp:category/>
</cp:coreProperties>
</file>