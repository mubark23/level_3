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  <p:sldMasterId id="2147483686" r:id="rId2"/>
  </p:sldMasterIdLst>
  <p:notesMasterIdLst>
    <p:notesMasterId r:id="rId17"/>
  </p:notesMasterIdLst>
  <p:sldIdLst>
    <p:sldId id="500" r:id="rId3"/>
    <p:sldId id="609" r:id="rId4"/>
    <p:sldId id="512" r:id="rId5"/>
    <p:sldId id="498" r:id="rId6"/>
    <p:sldId id="611" r:id="rId7"/>
    <p:sldId id="627" r:id="rId8"/>
    <p:sldId id="628" r:id="rId9"/>
    <p:sldId id="629" r:id="rId10"/>
    <p:sldId id="613" r:id="rId11"/>
    <p:sldId id="614" r:id="rId12"/>
    <p:sldId id="630" r:id="rId13"/>
    <p:sldId id="631" r:id="rId14"/>
    <p:sldId id="632" r:id="rId15"/>
    <p:sldId id="514" r:id="rId16"/>
  </p:sldIdLst>
  <p:sldSz cx="9144000" cy="6858000" type="screen4x3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  <a:srgbClr val="FF00FF"/>
    <a:srgbClr val="003217"/>
    <a:srgbClr val="00682F"/>
    <a:srgbClr val="57EFF3"/>
    <a:srgbClr val="24DFE8"/>
    <a:srgbClr val="00FF00"/>
    <a:srgbClr val="CC0099"/>
    <a:srgbClr val="4FF3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0178" autoAdjust="0"/>
    <p:restoredTop sz="94849" autoAdjust="0"/>
  </p:normalViewPr>
  <p:slideViewPr>
    <p:cSldViewPr>
      <p:cViewPr varScale="1">
        <p:scale>
          <a:sx n="70" d="100"/>
          <a:sy n="70" d="100"/>
        </p:scale>
        <p:origin x="1380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6B4217-A0A8-494C-8F3C-C58D3904B278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F9FA61-F536-4629-9F1E-E9543B5E70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197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11/07/1447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11/07/1447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11/07/1447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11/07/1447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11/07/1447</a:t>
            </a:fld>
            <a:endParaRPr lang="ar-S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11/07/1447</a:t>
            </a:fld>
            <a:endParaRPr lang="ar-S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11/07/1447</a:t>
            </a:fld>
            <a:endParaRPr lang="ar-S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11/07/1447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11/07/1447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11/07/1447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C97E-72D8-47FC-9606-7FBCA28DE213}" type="datetimeFigureOut">
              <a:rPr lang="ar-SA" smtClean="0"/>
              <a:pPr/>
              <a:t>11/07/1447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5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6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fld id="{94A41472-F0B0-467A-A593-37B8E299A31D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5303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F79BEF-7EFA-4FF7-9F29-9241EBE7F107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2767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fld id="{EDE3FB8F-BDE8-4CCC-A469-DE6F17931555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1228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3BE122-3D7B-4707-96E7-614BA48F07E0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814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9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96A632-6AB5-4859-8114-90C4D3EB68D4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9899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133895-8EE1-4B38-9D21-0495C3DA4F31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3950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4EA471-183B-4601-BB62-62FFB82AE24D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5311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FA9468-1196-4B2A-9F8D-F3AF3814B4AA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5796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/>
          <p:cNvSpPr/>
          <p:nvPr/>
        </p:nvSpPr>
        <p:spPr>
          <a:xfrm rot="420000" flipV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ight Triangle 5"/>
          <p:cNvSpPr/>
          <p:nvPr/>
        </p:nvSpPr>
        <p:spPr>
          <a:xfrm rot="420000" flipV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>
            <a:lvl1pPr>
              <a:defRPr/>
            </a:lvl1pPr>
          </a:lstStyle>
          <a:p>
            <a:fld id="{7038D2FF-1E85-435D-B78E-CC6A1B8062AE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0849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CC9652-B3F6-4E6D-8B91-B25A2A2A5715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6785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EBF5F8-6727-4F2A-AD6F-6A8A895EF881}" type="slidenum">
              <a:rPr lang="ar-SA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380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31C97E-72D8-47FC-9606-7FBCA28DE213}" type="datetimeFigureOut">
              <a:rPr lang="ar-SA" smtClean="0"/>
              <a:pPr/>
              <a:t>11/07/1447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0A85A1-D85A-4F68-A422-756A8E5D1103}" type="slidenum">
              <a:rPr lang="ar-SA" smtClean="0"/>
              <a:pPr/>
              <a:t>‹#›</a:t>
            </a:fld>
            <a:endParaRPr lang="ar-S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938"/>
            <a:ext cx="916305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938"/>
            <a:ext cx="47625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28" name="Title Placeholder 8"/>
          <p:cNvSpPr>
            <a:spLocks noGrp="1"/>
          </p:cNvSpPr>
          <p:nvPr>
            <p:ph type="title"/>
          </p:nvPr>
        </p:nvSpPr>
        <p:spPr bwMode="auto"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9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935163"/>
            <a:ext cx="8229600" cy="438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4617B">
                  <a:shade val="9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4617B">
                  <a:shade val="9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45C75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7275AD6-72D9-449A-B94E-E9AA82FCFB7E}" type="slidenum">
              <a:rPr lang="ar-SA" smtClean="0">
                <a:latin typeface="Arial" panose="020B0604020202020204" pitchFamily="34" charset="0"/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33" name="Group 1"/>
          <p:cNvGrpSpPr>
            <a:grpSpLocks/>
          </p:cNvGrpSpPr>
          <p:nvPr/>
        </p:nvGrpSpPr>
        <p:grpSpPr bwMode="auto">
          <a:xfrm>
            <a:off x="-19050" y="203200"/>
            <a:ext cx="9180513" cy="647700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30961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xStyles>
    <p:titleStyle>
      <a:lvl1pPr algn="l" rtl="1" fontAlgn="base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1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  <a:cs typeface="Traditional Arabic" panose="02010000000000000000" pitchFamily="2" charset="-78"/>
        </a:defRPr>
      </a:lvl2pPr>
      <a:lvl3pPr algn="l" rtl="1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  <a:cs typeface="Traditional Arabic" panose="02010000000000000000" pitchFamily="2" charset="-78"/>
        </a:defRPr>
      </a:lvl3pPr>
      <a:lvl4pPr algn="l" rtl="1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  <a:cs typeface="Traditional Arabic" panose="02010000000000000000" pitchFamily="2" charset="-78"/>
        </a:defRPr>
      </a:lvl4pPr>
      <a:lvl5pPr algn="l" rtl="1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  <a:cs typeface="Traditional Arabic" panose="02010000000000000000" pitchFamily="2" charset="-78"/>
        </a:defRPr>
      </a:lvl5pPr>
      <a:lvl6pPr marL="457200" algn="l" rtl="1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  <a:cs typeface="Traditional Arabic" panose="02010000000000000000" pitchFamily="2" charset="-78"/>
        </a:defRPr>
      </a:lvl6pPr>
      <a:lvl7pPr marL="914400" algn="l" rtl="1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  <a:cs typeface="Traditional Arabic" panose="02010000000000000000" pitchFamily="2" charset="-78"/>
        </a:defRPr>
      </a:lvl7pPr>
      <a:lvl8pPr marL="1371600" algn="l" rtl="1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  <a:cs typeface="Traditional Arabic" panose="02010000000000000000" pitchFamily="2" charset="-78"/>
        </a:defRPr>
      </a:lvl8pPr>
      <a:lvl9pPr marL="1828800" algn="l" rtl="1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anose="020F0502020204030204" pitchFamily="34" charset="0"/>
          <a:cs typeface="Traditional Arabic" panose="02010000000000000000" pitchFamily="2" charset="-78"/>
        </a:defRPr>
      </a:lvl9pPr>
    </p:titleStyle>
    <p:bodyStyle>
      <a:lvl1pPr marL="273050" indent="-273050" algn="r" rtl="1" fontAlgn="base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Majalla UI"/>
          <a:cs typeface="+mn-cs"/>
        </a:defRPr>
      </a:lvl1pPr>
      <a:lvl2pPr marL="639763" indent="-246063" algn="r" rtl="1" fontAlgn="base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Majalla UI"/>
          <a:cs typeface="+mn-cs"/>
        </a:defRPr>
      </a:lvl2pPr>
      <a:lvl3pPr marL="914400" indent="-246063" algn="r" rtl="1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anose="05020102010507070707" pitchFamily="18" charset="2"/>
        <a:buChar char=""/>
        <a:defRPr sz="2100" kern="1200">
          <a:solidFill>
            <a:schemeClr val="tx1"/>
          </a:solidFill>
          <a:latin typeface="+mn-lt"/>
          <a:ea typeface="Majalla UI"/>
          <a:cs typeface="+mn-cs"/>
        </a:defRPr>
      </a:lvl3pPr>
      <a:lvl4pPr marL="1187450" indent="-209550" algn="r" rtl="1" fontAlgn="base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Majalla UI"/>
          <a:cs typeface="+mn-cs"/>
        </a:defRPr>
      </a:lvl4pPr>
      <a:lvl5pPr marL="1462088" indent="-209550" algn="r" rtl="1" fontAlgn="base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Majalla UI"/>
          <a:cs typeface="+mn-cs"/>
        </a:defRPr>
      </a:lvl5pPr>
      <a:lvl6pPr marL="1737360" indent="-210312" algn="r" rtl="1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r" rtl="1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r" rtl="1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r" rtl="1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08520" y="347172"/>
            <a:ext cx="914501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sz="96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00FF"/>
                </a:solidFill>
                <a:effectLst>
                  <a:glow rad="1016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l hosam"/>
                <a:ea typeface="Times New Roman" pitchFamily="18" charset="0"/>
                <a:cs typeface="AL-Hosam" pitchFamily="2" charset="-78"/>
              </a:rPr>
              <a:t>الإتصال الإداري</a:t>
            </a:r>
            <a:endParaRPr lang="en-US" sz="96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0000FF"/>
              </a:solidFill>
              <a:effectLst>
                <a:glow rad="101600">
                  <a:srgbClr val="FFFF00"/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l hosam"/>
              <a:ea typeface="Times New Roman" pitchFamily="18" charset="0"/>
              <a:cs typeface="AL-Hosam" pitchFamily="2" charset="-78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7589" y="1945796"/>
            <a:ext cx="877689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00"/>
                </a:solidFill>
                <a:effectLst>
                  <a:glow rad="1270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Franklin Gothic Heavy" panose="020B0903020102020204" pitchFamily="34" charset="0"/>
                <a:ea typeface="Times New Roman" pitchFamily="18" charset="0"/>
                <a:cs typeface="Aharoni" panose="02010803020104030203" pitchFamily="2" charset="-79"/>
              </a:rPr>
              <a:t>Administrative </a:t>
            </a:r>
            <a:r>
              <a:rPr lang="en-US" sz="4800" b="1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00"/>
                </a:solidFill>
                <a:effectLst>
                  <a:glow rad="1270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Franklin Gothic Heavy" panose="020B0903020102020204" pitchFamily="34" charset="0"/>
                <a:ea typeface="Times New Roman" pitchFamily="18" charset="0"/>
                <a:cs typeface="Aharoni" panose="02010803020104030203" pitchFamily="2" charset="-79"/>
              </a:rPr>
              <a:t>Comonocation</a:t>
            </a:r>
            <a:endParaRPr 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glow rad="127000">
                  <a:srgbClr val="FFFF00"/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Franklin Gothic Heavy" panose="020B0903020102020204" pitchFamily="34" charset="0"/>
              <a:ea typeface="Times New Roman" pitchFamily="18" charset="0"/>
              <a:cs typeface="Aharoni" panose="02010803020104030203" pitchFamily="2" charset="-79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691525" y="5293657"/>
            <a:ext cx="18473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67544" y="6119563"/>
            <a:ext cx="712879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ar-EG" altLang="en-US" sz="4000" dirty="0">
              <a:solidFill>
                <a:srgbClr val="FFFF00"/>
              </a:solidFill>
              <a:cs typeface="MCS Taybah S_U normal." pitchFamily="2" charset="-7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186742" y="6242673"/>
            <a:ext cx="4977545" cy="338554"/>
          </a:xfrm>
          <a:prstGeom prst="rect">
            <a:avLst/>
          </a:prstGeom>
          <a:effectLst>
            <a:glow rad="139700">
              <a:schemeClr val="accent1">
                <a:alpha val="53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r>
              <a:rPr lang="ar-SA" sz="1600" dirty="0">
                <a:solidFill>
                  <a:schemeClr val="bg1"/>
                </a:solidFill>
                <a:cs typeface="MCS Jeddah S_U normal." pitchFamily="2" charset="-78"/>
              </a:rPr>
              <a:t>د. هشام كمال محمد درونكي</a:t>
            </a:r>
            <a:endParaRPr lang="en-US" sz="1600" dirty="0">
              <a:solidFill>
                <a:schemeClr val="bg1"/>
              </a:solidFill>
              <a:cs typeface="MCS Jeddah S_U normal." pitchFamily="2" charset="-78"/>
            </a:endParaRPr>
          </a:p>
        </p:txBody>
      </p:sp>
      <p:pic>
        <p:nvPicPr>
          <p:cNvPr id="9" name="Picture 8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076" y="2919566"/>
            <a:ext cx="6912768" cy="3135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6740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 invX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67544" y="-224424"/>
            <a:ext cx="8229600" cy="1143000"/>
          </a:xfrm>
        </p:spPr>
        <p:txBody>
          <a:bodyPr>
            <a:normAutofit/>
          </a:bodyPr>
          <a:lstStyle/>
          <a:p>
            <a:r>
              <a:rPr lang="ar-SA" sz="3200" dirty="0" smtClean="0">
                <a:latin typeface="+mn-lt"/>
                <a:ea typeface="+mn-ea"/>
                <a:cs typeface="MCS Jeddah S_U normal." pitchFamily="2" charset="-78"/>
              </a:rPr>
              <a:t>المحاضرة السابقة</a:t>
            </a:r>
            <a:endParaRPr lang="en-US" sz="3200" dirty="0">
              <a:latin typeface="+mn-lt"/>
              <a:ea typeface="+mn-ea"/>
              <a:cs typeface="MCS Jeddah S_U normal." pitchFamily="2" charset="-78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-182864" y="1004530"/>
            <a:ext cx="9038374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ar-SA" sz="2800" dirty="0">
                <a:cs typeface="MCS Jeddah S_U normal." pitchFamily="2" charset="-78"/>
              </a:rPr>
              <a:t>أنواع الاتصال </a:t>
            </a:r>
            <a:r>
              <a:rPr lang="ar-SA" sz="2800" dirty="0" smtClean="0">
                <a:cs typeface="MCS Jeddah S_U normal." pitchFamily="2" charset="-78"/>
              </a:rPr>
              <a:t>الإداري</a:t>
            </a:r>
          </a:p>
          <a:p>
            <a:endParaRPr lang="ar-SA" sz="2800" dirty="0">
              <a:cs typeface="MCS Jeddah S_U normal." pitchFamily="2" charset="-78"/>
            </a:endParaRPr>
          </a:p>
          <a:p>
            <a:r>
              <a:rPr lang="ar-SA" sz="2400" dirty="0" smtClean="0">
                <a:solidFill>
                  <a:srgbClr val="0070C0"/>
                </a:solidFill>
                <a:cs typeface="MCS Jeddah S_U normal." pitchFamily="2" charset="-78"/>
              </a:rPr>
              <a:t>الاتصال الرسمي</a:t>
            </a:r>
          </a:p>
          <a:p>
            <a:r>
              <a:rPr lang="ar-SA" sz="2400" dirty="0">
                <a:solidFill>
                  <a:srgbClr val="0070C0"/>
                </a:solidFill>
                <a:cs typeface="MCS Jeddah S_U normal." pitchFamily="2" charset="-78"/>
              </a:rPr>
              <a:t>الاتصال  غير  الرسمي</a:t>
            </a:r>
          </a:p>
          <a:p>
            <a:r>
              <a:rPr lang="ar-SA" sz="2400" dirty="0">
                <a:solidFill>
                  <a:srgbClr val="0070C0"/>
                </a:solidFill>
                <a:cs typeface="MCS Jeddah S_U normal." pitchFamily="2" charset="-78"/>
              </a:rPr>
              <a:t>الاتصال  </a:t>
            </a:r>
            <a:r>
              <a:rPr lang="ar-SA" sz="2400" dirty="0" smtClean="0">
                <a:solidFill>
                  <a:srgbClr val="0070C0"/>
                </a:solidFill>
                <a:cs typeface="MCS Jeddah S_U normal." pitchFamily="2" charset="-78"/>
              </a:rPr>
              <a:t>العمودي (</a:t>
            </a:r>
            <a:r>
              <a:rPr lang="ar-SA" dirty="0" smtClean="0">
                <a:solidFill>
                  <a:srgbClr val="0070C0"/>
                </a:solidFill>
                <a:cs typeface="MCS Jeddah S_U normal." pitchFamily="2" charset="-78"/>
              </a:rPr>
              <a:t>صاعد ونازل</a:t>
            </a:r>
            <a:r>
              <a:rPr lang="ar-SA" sz="2400" dirty="0" smtClean="0">
                <a:solidFill>
                  <a:srgbClr val="0070C0"/>
                </a:solidFill>
                <a:cs typeface="MCS Jeddah S_U normal." pitchFamily="2" charset="-78"/>
              </a:rPr>
              <a:t>)</a:t>
            </a:r>
            <a:endParaRPr lang="ar-SA" sz="2400" dirty="0">
              <a:solidFill>
                <a:srgbClr val="0070C0"/>
              </a:solidFill>
              <a:cs typeface="MCS Jeddah S_U normal." pitchFamily="2" charset="-78"/>
            </a:endParaRPr>
          </a:p>
          <a:p>
            <a:r>
              <a:rPr lang="ar-SA" sz="2400" dirty="0">
                <a:solidFill>
                  <a:srgbClr val="0070C0"/>
                </a:solidFill>
                <a:cs typeface="MCS Jeddah S_U normal." pitchFamily="2" charset="-78"/>
              </a:rPr>
              <a:t>الاتصال  الأفقي</a:t>
            </a:r>
          </a:p>
          <a:p>
            <a:r>
              <a:rPr lang="ar-SA" sz="2400" dirty="0">
                <a:solidFill>
                  <a:srgbClr val="0070C0"/>
                </a:solidFill>
                <a:cs typeface="MCS Jeddah S_U normal." pitchFamily="2" charset="-78"/>
              </a:rPr>
              <a:t>الاتصال  </a:t>
            </a:r>
            <a:r>
              <a:rPr lang="ar-SA" sz="2400" dirty="0" smtClean="0">
                <a:solidFill>
                  <a:srgbClr val="0070C0"/>
                </a:solidFill>
                <a:cs typeface="MCS Jeddah S_U normal." pitchFamily="2" charset="-78"/>
              </a:rPr>
              <a:t>الداخلي</a:t>
            </a:r>
          </a:p>
          <a:p>
            <a:r>
              <a:rPr lang="ar-SA" sz="2400" dirty="0">
                <a:solidFill>
                  <a:srgbClr val="0070C0"/>
                </a:solidFill>
                <a:cs typeface="MCS Jeddah S_U normal." pitchFamily="2" charset="-78"/>
              </a:rPr>
              <a:t>الاتصال  </a:t>
            </a:r>
            <a:r>
              <a:rPr lang="ar-SA" sz="2400" dirty="0" smtClean="0">
                <a:solidFill>
                  <a:srgbClr val="0070C0"/>
                </a:solidFill>
                <a:cs typeface="MCS Jeddah S_U normal." pitchFamily="2" charset="-78"/>
              </a:rPr>
              <a:t>الخارجي</a:t>
            </a:r>
          </a:p>
          <a:p>
            <a:r>
              <a:rPr lang="ar-SA" sz="2400" dirty="0">
                <a:solidFill>
                  <a:srgbClr val="0070C0"/>
                </a:solidFill>
                <a:cs typeface="MCS Jeddah S_U normal." pitchFamily="2" charset="-78"/>
              </a:rPr>
              <a:t>الاتصال  الرسمي  الشفهي</a:t>
            </a:r>
          </a:p>
          <a:p>
            <a:r>
              <a:rPr lang="ar-SA" sz="2400" dirty="0">
                <a:solidFill>
                  <a:srgbClr val="0070C0"/>
                </a:solidFill>
                <a:cs typeface="MCS Jeddah S_U normal." pitchFamily="2" charset="-78"/>
              </a:rPr>
              <a:t>الاتصال  الرسمي  الكتابي</a:t>
            </a:r>
          </a:p>
          <a:p>
            <a:r>
              <a:rPr lang="ar-SA" sz="2400" dirty="0">
                <a:solidFill>
                  <a:srgbClr val="0070C0"/>
                </a:solidFill>
                <a:cs typeface="MCS Jeddah S_U normal." pitchFamily="2" charset="-78"/>
              </a:rPr>
              <a:t>الاتصال  الرقمي </a:t>
            </a:r>
          </a:p>
          <a:p>
            <a:endParaRPr lang="ar-SA" sz="2400" dirty="0">
              <a:solidFill>
                <a:srgbClr val="0070C0"/>
              </a:solidFill>
              <a:cs typeface="MCS Jeddah S_U normal." pitchFamily="2" charset="-78"/>
            </a:endParaRPr>
          </a:p>
          <a:p>
            <a:endParaRPr lang="ar-SA" sz="2400" dirty="0">
              <a:solidFill>
                <a:srgbClr val="0070C0"/>
              </a:solidFill>
              <a:cs typeface="MCS Jeddah S_U normal.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78418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68560" y="188640"/>
            <a:ext cx="7704856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ar-SA" sz="66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00"/>
                </a:solidFill>
                <a:effectLst>
                  <a:glow rad="1270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l hosam"/>
                <a:ea typeface="Times New Roman" pitchFamily="18" charset="0"/>
                <a:cs typeface="AL-Hosam" pitchFamily="2" charset="-78"/>
              </a:rPr>
              <a:t>موضوعات  المحاضرة </a:t>
            </a:r>
            <a:endParaRPr lang="en-US" sz="66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glow rad="127000">
                  <a:srgbClr val="FFFF00"/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l hosam"/>
              <a:ea typeface="Times New Roman" pitchFamily="18" charset="0"/>
              <a:cs typeface="AL-Hosam" pitchFamily="2" charset="-78"/>
            </a:endParaRPr>
          </a:p>
        </p:txBody>
      </p:sp>
      <p:sp>
        <p:nvSpPr>
          <p:cNvPr id="3" name="Flowchart: Multidocument 2"/>
          <p:cNvSpPr/>
          <p:nvPr/>
        </p:nvSpPr>
        <p:spPr>
          <a:xfrm>
            <a:off x="1115616" y="2276872"/>
            <a:ext cx="7128792" cy="1584176"/>
          </a:xfrm>
          <a:prstGeom prst="flowChartMultidocument">
            <a:avLst/>
          </a:prstGeom>
          <a:solidFill>
            <a:srgbClr val="FF0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3600" dirty="0">
                <a:solidFill>
                  <a:srgbClr val="FFFF00"/>
                </a:solidFill>
                <a:cs typeface="MCS Jeddah S_U normal." pitchFamily="2" charset="-78"/>
              </a:rPr>
              <a:t>مبادي الاتصال الاداري</a:t>
            </a:r>
          </a:p>
        </p:txBody>
      </p:sp>
      <p:sp>
        <p:nvSpPr>
          <p:cNvPr id="4" name="Flowchart: Multidocument 3"/>
          <p:cNvSpPr/>
          <p:nvPr/>
        </p:nvSpPr>
        <p:spPr>
          <a:xfrm>
            <a:off x="1157286" y="4437112"/>
            <a:ext cx="7128792" cy="1368152"/>
          </a:xfrm>
          <a:prstGeom prst="flowChartMultidocument">
            <a:avLst/>
          </a:prstGeom>
          <a:solidFill>
            <a:srgbClr val="FF0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3600" dirty="0">
                <a:solidFill>
                  <a:srgbClr val="FFFF00"/>
                </a:solidFill>
                <a:cs typeface="MCS Jeddah S_U normal." pitchFamily="2" charset="-78"/>
              </a:rPr>
              <a:t>معوقات الاتصال الإداري</a:t>
            </a:r>
          </a:p>
        </p:txBody>
      </p:sp>
    </p:spTree>
    <p:extLst>
      <p:ext uri="{BB962C8B-B14F-4D97-AF65-F5344CB8AC3E}">
        <p14:creationId xmlns:p14="http://schemas.microsoft.com/office/powerpoint/2010/main" val="19122997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42164" y="-1696348"/>
            <a:ext cx="6059672" cy="28931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ar-SA" sz="4400" dirty="0">
                <a:solidFill>
                  <a:srgbClr val="FFFF00"/>
                </a:solidFill>
                <a:cs typeface="MCS Jeddah S_U normal." pitchFamily="2" charset="-78"/>
              </a:rPr>
              <a:t>	</a:t>
            </a:r>
            <a:endParaRPr lang="en-US" sz="4400" dirty="0">
              <a:solidFill>
                <a:srgbClr val="FFFF00"/>
              </a:solidFill>
              <a:cs typeface="MCS Jeddah S_U normal." pitchFamily="2" charset="-78"/>
            </a:endParaRPr>
          </a:p>
          <a:p>
            <a:pPr algn="ctr">
              <a:defRPr/>
            </a:pPr>
            <a:endParaRPr lang="en-US" sz="7200" b="1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003217"/>
              </a:solidFill>
              <a:effectLst>
                <a:glow rad="50800">
                  <a:srgbClr val="FFFF00"/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l hosam"/>
              <a:ea typeface="Times New Roman" pitchFamily="18" charset="0"/>
              <a:cs typeface="AL-Hosam" pitchFamily="2" charset="-78"/>
            </a:endParaRPr>
          </a:p>
          <a:p>
            <a:pPr algn="ctr">
              <a:defRPr/>
            </a:pPr>
            <a:r>
              <a:rPr lang="ar-SA" sz="66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3217"/>
                </a:solidFill>
                <a:effectLst>
                  <a:glow rad="508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l hosam"/>
                <a:ea typeface="Times New Roman" pitchFamily="18" charset="0"/>
                <a:cs typeface="AL-Hosam" pitchFamily="2" charset="-78"/>
              </a:rPr>
              <a:t>مبادي الاتصال الاداري</a:t>
            </a:r>
          </a:p>
        </p:txBody>
      </p:sp>
      <p:sp>
        <p:nvSpPr>
          <p:cNvPr id="5" name="Rectangle 4"/>
          <p:cNvSpPr/>
          <p:nvPr/>
        </p:nvSpPr>
        <p:spPr>
          <a:xfrm>
            <a:off x="2267745" y="2132856"/>
            <a:ext cx="482453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ar-SA" sz="7200" dirty="0" smtClean="0">
              <a:cs typeface="MCS Jeddah S_U normal." pitchFamily="2" charset="-78"/>
            </a:endParaRPr>
          </a:p>
          <a:p>
            <a:pPr algn="ctr"/>
            <a:endParaRPr lang="en-US" sz="7200" dirty="0">
              <a:cs typeface="MCS Jeddah S_U normal." pitchFamily="2" charset="-78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71601" y="3709726"/>
            <a:ext cx="6984776" cy="2503115"/>
          </a:xfrm>
          <a:prstGeom prst="rect">
            <a:avLst/>
          </a:prstGeom>
          <a:solidFill>
            <a:srgbClr val="FFFF0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3600" b="1" dirty="0" smtClean="0">
                <a:solidFill>
                  <a:srgbClr val="0000FF"/>
                </a:solidFill>
                <a:cs typeface="MCS Jeddah S_U normal." pitchFamily="2" charset="-78"/>
              </a:rPr>
              <a:t>1- تحديد </a:t>
            </a:r>
            <a:r>
              <a:rPr lang="ar-SA" sz="3600" b="1" dirty="0">
                <a:solidFill>
                  <a:srgbClr val="0000FF"/>
                </a:solidFill>
                <a:cs typeface="MCS Jeddah S_U normal." pitchFamily="2" charset="-78"/>
              </a:rPr>
              <a:t>الهدف (لماذا؟) </a:t>
            </a:r>
          </a:p>
          <a:p>
            <a:pPr algn="ctr"/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 يجب أن يكون لكل اتصال هدف واضح ومحدد مسبقًا سواء كان لإعطاء تعليمات أو جمع معلومات أو حل مشكلة</a:t>
            </a:r>
          </a:p>
        </p:txBody>
      </p:sp>
      <p:sp>
        <p:nvSpPr>
          <p:cNvPr id="3" name="Rectangle 2"/>
          <p:cNvSpPr/>
          <p:nvPr/>
        </p:nvSpPr>
        <p:spPr>
          <a:xfrm>
            <a:off x="409930" y="1427292"/>
            <a:ext cx="812250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ar-SA" sz="3200" dirty="0">
                <a:solidFill>
                  <a:schemeClr val="bg1"/>
                </a:solidFill>
                <a:cs typeface="MCS Jeddah S_U normal." pitchFamily="2" charset="-78"/>
              </a:rPr>
              <a:t>لعملية الإتصال الاداري عديد من المبادئ يقوم ويعتمد عليها وأهمها هو :</a:t>
            </a:r>
            <a:endParaRPr lang="en-US" sz="3200" dirty="0">
              <a:solidFill>
                <a:schemeClr val="bg1"/>
              </a:solidFill>
              <a:cs typeface="MCS Jeddah S_U normal.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482292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67745" y="2132856"/>
            <a:ext cx="482453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ar-SA" sz="7200" dirty="0" smtClean="0">
              <a:cs typeface="MCS Jeddah S_U normal." pitchFamily="2" charset="-78"/>
            </a:endParaRPr>
          </a:p>
          <a:p>
            <a:pPr algn="ctr"/>
            <a:endParaRPr lang="en-US" sz="7200" dirty="0">
              <a:cs typeface="MCS Jeddah S_U normal." pitchFamily="2" charset="-78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1560" y="2270482"/>
            <a:ext cx="820891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ar-SA" sz="4400" dirty="0">
                <a:solidFill>
                  <a:srgbClr val="FFFF00"/>
                </a:solidFill>
                <a:cs typeface="MCS Jeddah S_U normal." pitchFamily="2" charset="-78"/>
              </a:rPr>
              <a:t> </a:t>
            </a:r>
            <a:endParaRPr lang="en-US" sz="44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32265" y="529653"/>
            <a:ext cx="8220109" cy="2510270"/>
          </a:xfrm>
          <a:prstGeom prst="rect">
            <a:avLst/>
          </a:prstGeom>
          <a:solidFill>
            <a:srgbClr val="FFFF0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3600" b="1" dirty="0" smtClean="0">
                <a:solidFill>
                  <a:srgbClr val="0000FF"/>
                </a:solidFill>
                <a:cs typeface="MCS Jeddah S_U normal." pitchFamily="2" charset="-78"/>
              </a:rPr>
              <a:t>2- تحديد </a:t>
            </a:r>
            <a:r>
              <a:rPr lang="ar-SA" sz="3600" b="1" dirty="0">
                <a:solidFill>
                  <a:srgbClr val="0000FF"/>
                </a:solidFill>
                <a:cs typeface="MCS Jeddah S_U normal." pitchFamily="2" charset="-78"/>
              </a:rPr>
              <a:t>المحتوى (ماذا</a:t>
            </a:r>
            <a:r>
              <a:rPr lang="ar-SA" sz="3600" b="1" dirty="0" smtClean="0">
                <a:solidFill>
                  <a:srgbClr val="0000FF"/>
                </a:solidFill>
                <a:cs typeface="MCS Jeddah S_U normal." pitchFamily="2" charset="-78"/>
              </a:rPr>
              <a:t>؟)</a:t>
            </a:r>
          </a:p>
          <a:p>
            <a:pPr algn="ctr"/>
            <a:endParaRPr lang="ar-SA" sz="3600" b="1" dirty="0">
              <a:solidFill>
                <a:prstClr val="black"/>
              </a:solidFill>
              <a:cs typeface="MCS Jeddah S_U normal." pitchFamily="2" charset="-78"/>
            </a:endParaRPr>
          </a:p>
          <a:p>
            <a:pPr algn="ctr"/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 صياغة رسالة واضحة ودقيقة وموجزة خالية من الغموض والتعقيد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265" y="3244335"/>
            <a:ext cx="8220109" cy="3383678"/>
          </a:xfrm>
          <a:prstGeom prst="rect">
            <a:avLst/>
          </a:prstGeom>
          <a:solidFill>
            <a:srgbClr val="FFFF0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3600" b="1" dirty="0">
                <a:solidFill>
                  <a:srgbClr val="0000FF"/>
                </a:solidFill>
                <a:cs typeface="MCS Jeddah S_U normal." pitchFamily="2" charset="-78"/>
              </a:rPr>
              <a:t>3- تحديد المستهدف (من؟) </a:t>
            </a:r>
            <a:endParaRPr lang="ar-SA" sz="3600" b="1" dirty="0" smtClean="0">
              <a:solidFill>
                <a:srgbClr val="0000FF"/>
              </a:solidFill>
              <a:cs typeface="MCS Jeddah S_U normal." pitchFamily="2" charset="-78"/>
            </a:endParaRPr>
          </a:p>
          <a:p>
            <a:pPr algn="ctr"/>
            <a:endParaRPr lang="ar-SA" sz="3600" b="1" dirty="0">
              <a:solidFill>
                <a:prstClr val="black"/>
              </a:solidFill>
              <a:cs typeface="MCS Jeddah S_U normal." pitchFamily="2" charset="-78"/>
            </a:endParaRPr>
          </a:p>
          <a:p>
            <a:pPr algn="ctr"/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معرفة خصائص المتلقي (مستواه، احتياجاته) لاختيار الأسلوب المناسب</a:t>
            </a:r>
          </a:p>
        </p:txBody>
      </p:sp>
      <p:sp>
        <p:nvSpPr>
          <p:cNvPr id="2" name="Rectangle 1"/>
          <p:cNvSpPr/>
          <p:nvPr/>
        </p:nvSpPr>
        <p:spPr>
          <a:xfrm>
            <a:off x="5309156" y="324433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ar-SA" dirty="0">
              <a:solidFill>
                <a:srgbClr val="FFFF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04659" y="22740"/>
            <a:ext cx="203934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sz="2000" b="1" dirty="0">
                <a:solidFill>
                  <a:srgbClr val="FFFF00"/>
                </a:solidFill>
              </a:rPr>
              <a:t>مبادي الاتصال الاداري</a:t>
            </a:r>
          </a:p>
        </p:txBody>
      </p:sp>
    </p:spTree>
    <p:extLst>
      <p:ext uri="{BB962C8B-B14F-4D97-AF65-F5344CB8AC3E}">
        <p14:creationId xmlns:p14="http://schemas.microsoft.com/office/powerpoint/2010/main" val="363809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67745" y="2132856"/>
            <a:ext cx="482453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ar-SA" sz="7200" dirty="0" smtClean="0">
              <a:cs typeface="MCS Jeddah S_U normal." pitchFamily="2" charset="-78"/>
            </a:endParaRPr>
          </a:p>
          <a:p>
            <a:pPr algn="ctr"/>
            <a:endParaRPr lang="en-US" sz="7200" dirty="0">
              <a:cs typeface="MCS Jeddah S_U normal." pitchFamily="2" charset="-78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1560" y="2270482"/>
            <a:ext cx="820891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ar-SA" sz="4400" dirty="0">
                <a:solidFill>
                  <a:srgbClr val="FFFF00"/>
                </a:solidFill>
                <a:cs typeface="MCS Jeddah S_U normal." pitchFamily="2" charset="-78"/>
              </a:rPr>
              <a:t> </a:t>
            </a:r>
            <a:endParaRPr lang="en-US" sz="44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32265" y="529653"/>
            <a:ext cx="8220109" cy="2510270"/>
          </a:xfrm>
          <a:prstGeom prst="rect">
            <a:avLst/>
          </a:prstGeom>
          <a:solidFill>
            <a:srgbClr val="FFFF0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3600" b="1" dirty="0" smtClean="0">
                <a:solidFill>
                  <a:srgbClr val="0000FF"/>
                </a:solidFill>
                <a:cs typeface="MCS Jeddah S_U normal." pitchFamily="2" charset="-78"/>
              </a:rPr>
              <a:t>4- اختيار </a:t>
            </a:r>
            <a:r>
              <a:rPr lang="ar-SA" sz="3600" b="1" dirty="0">
                <a:solidFill>
                  <a:srgbClr val="0000FF"/>
                </a:solidFill>
                <a:cs typeface="MCS Jeddah S_U normal." pitchFamily="2" charset="-78"/>
              </a:rPr>
              <a:t>الوسيلة (كيف</a:t>
            </a:r>
            <a:r>
              <a:rPr lang="ar-SA" sz="3600" b="1" dirty="0" smtClean="0">
                <a:solidFill>
                  <a:srgbClr val="0000FF"/>
                </a:solidFill>
                <a:cs typeface="MCS Jeddah S_U normal." pitchFamily="2" charset="-78"/>
              </a:rPr>
              <a:t>؟)</a:t>
            </a:r>
            <a:endParaRPr lang="ar-SA" sz="3600" b="1" dirty="0">
              <a:solidFill>
                <a:srgbClr val="0000FF"/>
              </a:solidFill>
              <a:cs typeface="MCS Jeddah S_U normal." pitchFamily="2" charset="-78"/>
            </a:endParaRPr>
          </a:p>
          <a:p>
            <a:pPr algn="ctr"/>
            <a:r>
              <a:rPr lang="ar-SA" sz="3600" b="1" dirty="0">
                <a:solidFill>
                  <a:prstClr val="black"/>
                </a:solidFill>
                <a:cs typeface="MCS Jeddah S_U normal." pitchFamily="2" charset="-78"/>
              </a:rPr>
              <a:t> 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استخدام القناة الأكثر فعالية (شفوي، مكتوب، إلكتروني) لتوصيل </a:t>
            </a:r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الرسالة أو المحتوي </a:t>
            </a:r>
            <a:endParaRPr lang="ar-SA" sz="2800" dirty="0">
              <a:solidFill>
                <a:prstClr val="black"/>
              </a:solidFill>
              <a:cs typeface="MCS Jeddah S_U normal." pitchFamily="2" charset="-78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2265" y="3244335"/>
            <a:ext cx="8220109" cy="3383678"/>
          </a:xfrm>
          <a:prstGeom prst="rect">
            <a:avLst/>
          </a:prstGeom>
          <a:solidFill>
            <a:srgbClr val="FFFF0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3600" b="1" dirty="0" smtClean="0">
                <a:solidFill>
                  <a:srgbClr val="0000FF"/>
                </a:solidFill>
                <a:cs typeface="MCS Jeddah S_U normal." pitchFamily="2" charset="-78"/>
              </a:rPr>
              <a:t>5- الوضوح والإيجاز</a:t>
            </a:r>
          </a:p>
          <a:p>
            <a:pPr algn="ctr"/>
            <a:r>
              <a:rPr lang="ar-SA" sz="3600" b="1" dirty="0" smtClean="0">
                <a:solidFill>
                  <a:prstClr val="black"/>
                </a:solidFill>
                <a:cs typeface="MCS Jeddah S_U normal." pitchFamily="2" charset="-78"/>
              </a:rPr>
              <a:t> 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الرسالة يجب أن تكون مباشرة وسهلة الفهم</a:t>
            </a:r>
          </a:p>
        </p:txBody>
      </p:sp>
      <p:sp>
        <p:nvSpPr>
          <p:cNvPr id="2" name="Rectangle 1"/>
          <p:cNvSpPr/>
          <p:nvPr/>
        </p:nvSpPr>
        <p:spPr>
          <a:xfrm>
            <a:off x="5309156" y="324433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ar-SA" dirty="0">
              <a:solidFill>
                <a:srgbClr val="FFFF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04659" y="22740"/>
            <a:ext cx="203934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sz="2000" b="1" dirty="0">
                <a:solidFill>
                  <a:srgbClr val="FFFF00"/>
                </a:solidFill>
              </a:rPr>
              <a:t>مبادي الاتصال الاداري</a:t>
            </a:r>
          </a:p>
        </p:txBody>
      </p:sp>
    </p:spTree>
    <p:extLst>
      <p:ext uri="{BB962C8B-B14F-4D97-AF65-F5344CB8AC3E}">
        <p14:creationId xmlns:p14="http://schemas.microsoft.com/office/powerpoint/2010/main" val="861073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67745" y="2132856"/>
            <a:ext cx="482453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ar-SA" sz="7200" dirty="0" smtClean="0">
              <a:cs typeface="MCS Jeddah S_U normal." pitchFamily="2" charset="-78"/>
            </a:endParaRPr>
          </a:p>
          <a:p>
            <a:pPr algn="ctr"/>
            <a:endParaRPr lang="en-US" sz="7200" dirty="0">
              <a:cs typeface="MCS Jeddah S_U normal." pitchFamily="2" charset="-78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1560" y="2270482"/>
            <a:ext cx="820891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ar-SA" sz="4400" dirty="0">
                <a:solidFill>
                  <a:srgbClr val="FFFF00"/>
                </a:solidFill>
                <a:cs typeface="MCS Jeddah S_U normal." pitchFamily="2" charset="-78"/>
              </a:rPr>
              <a:t> </a:t>
            </a:r>
            <a:endParaRPr lang="en-US" sz="44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32265" y="529653"/>
            <a:ext cx="8220109" cy="2510270"/>
          </a:xfrm>
          <a:prstGeom prst="rect">
            <a:avLst/>
          </a:prstGeom>
          <a:solidFill>
            <a:srgbClr val="FFFF0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3600" b="1" dirty="0" smtClean="0">
                <a:solidFill>
                  <a:srgbClr val="0000FF"/>
                </a:solidFill>
                <a:cs typeface="MCS Jeddah S_U normal." pitchFamily="2" charset="-78"/>
              </a:rPr>
              <a:t>6- الدقة والموضوعية</a:t>
            </a:r>
          </a:p>
          <a:p>
            <a:pPr algn="ctr"/>
            <a:endParaRPr lang="ar-SA" sz="3600" b="1" dirty="0">
              <a:solidFill>
                <a:prstClr val="black"/>
              </a:solidFill>
              <a:cs typeface="MCS Jeddah S_U normal." pitchFamily="2" charset="-78"/>
            </a:endParaRPr>
          </a:p>
          <a:p>
            <a:pPr algn="ctr"/>
            <a:r>
              <a:rPr lang="ar-SA" sz="3600" b="1" dirty="0">
                <a:solidFill>
                  <a:prstClr val="black"/>
                </a:solidFill>
                <a:cs typeface="MCS Jeddah S_U normal." pitchFamily="2" charset="-78"/>
              </a:rPr>
              <a:t> 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التأكد من صحة المعلومات وتجنب </a:t>
            </a:r>
            <a:r>
              <a:rPr lang="ar-SA" sz="2800" dirty="0" smtClean="0">
                <a:solidFill>
                  <a:prstClr val="black"/>
                </a:solidFill>
                <a:cs typeface="MCS Jeddah S_U normal." pitchFamily="2" charset="-78"/>
              </a:rPr>
              <a:t>التحيز </a:t>
            </a:r>
            <a:endParaRPr lang="ar-SA" sz="2800" dirty="0">
              <a:solidFill>
                <a:prstClr val="black"/>
              </a:solidFill>
              <a:cs typeface="MCS Jeddah S_U normal." pitchFamily="2" charset="-78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2265" y="3244335"/>
            <a:ext cx="8220109" cy="3383678"/>
          </a:xfrm>
          <a:prstGeom prst="rect">
            <a:avLst/>
          </a:prstGeom>
          <a:solidFill>
            <a:srgbClr val="FFFF0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3600" b="1" dirty="0" smtClean="0">
                <a:solidFill>
                  <a:srgbClr val="0000FF"/>
                </a:solidFill>
                <a:cs typeface="MCS Jeddah S_U normal." pitchFamily="2" charset="-78"/>
              </a:rPr>
              <a:t>7- الشمولية </a:t>
            </a:r>
            <a:r>
              <a:rPr lang="ar-SA" sz="3600" b="1" dirty="0">
                <a:solidFill>
                  <a:srgbClr val="0000FF"/>
                </a:solidFill>
                <a:cs typeface="MCS Jeddah S_U normal." pitchFamily="2" charset="-78"/>
              </a:rPr>
              <a:t>والواقعية </a:t>
            </a:r>
            <a:endParaRPr lang="ar-SA" sz="3600" b="1" dirty="0" smtClean="0">
              <a:solidFill>
                <a:srgbClr val="0000FF"/>
              </a:solidFill>
              <a:cs typeface="MCS Jeddah S_U normal." pitchFamily="2" charset="-78"/>
            </a:endParaRPr>
          </a:p>
          <a:p>
            <a:pPr algn="ctr"/>
            <a:endParaRPr lang="ar-SA" sz="3600" b="1" dirty="0">
              <a:solidFill>
                <a:prstClr val="black"/>
              </a:solidFill>
              <a:cs typeface="MCS Jeddah S_U normal." pitchFamily="2" charset="-78"/>
            </a:endParaRPr>
          </a:p>
          <a:p>
            <a:pPr algn="ctr"/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تغطية الجوانب الهامة وتقديمها بما يتفق مع الواقع</a:t>
            </a:r>
          </a:p>
        </p:txBody>
      </p:sp>
      <p:sp>
        <p:nvSpPr>
          <p:cNvPr id="2" name="Rectangle 1"/>
          <p:cNvSpPr/>
          <p:nvPr/>
        </p:nvSpPr>
        <p:spPr>
          <a:xfrm>
            <a:off x="5309156" y="324433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ar-SA" dirty="0">
              <a:solidFill>
                <a:srgbClr val="FFFF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04659" y="22740"/>
            <a:ext cx="203934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sz="2000" b="1" dirty="0">
                <a:solidFill>
                  <a:srgbClr val="FFFF00"/>
                </a:solidFill>
              </a:rPr>
              <a:t>مبادي الاتصال الاداري</a:t>
            </a:r>
          </a:p>
        </p:txBody>
      </p:sp>
    </p:spTree>
    <p:extLst>
      <p:ext uri="{BB962C8B-B14F-4D97-AF65-F5344CB8AC3E}">
        <p14:creationId xmlns:p14="http://schemas.microsoft.com/office/powerpoint/2010/main" val="2456740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67745" y="2132856"/>
            <a:ext cx="482453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ar-SA" sz="7200" dirty="0" smtClean="0">
              <a:cs typeface="MCS Jeddah S_U normal." pitchFamily="2" charset="-78"/>
            </a:endParaRPr>
          </a:p>
          <a:p>
            <a:pPr algn="ctr"/>
            <a:endParaRPr lang="en-US" sz="7200" dirty="0">
              <a:cs typeface="MCS Jeddah S_U normal." pitchFamily="2" charset="-78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1560" y="2270482"/>
            <a:ext cx="820891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ar-SA" sz="4400" dirty="0">
                <a:solidFill>
                  <a:srgbClr val="FFFF00"/>
                </a:solidFill>
                <a:cs typeface="MCS Jeddah S_U normal." pitchFamily="2" charset="-78"/>
              </a:rPr>
              <a:t> </a:t>
            </a:r>
            <a:endParaRPr lang="en-US" sz="44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32265" y="529653"/>
            <a:ext cx="8220109" cy="1740828"/>
          </a:xfrm>
          <a:prstGeom prst="rect">
            <a:avLst/>
          </a:prstGeom>
          <a:solidFill>
            <a:srgbClr val="FFFF0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SA" sz="3600" b="1" dirty="0" smtClean="0">
                <a:solidFill>
                  <a:srgbClr val="0000FF"/>
                </a:solidFill>
                <a:cs typeface="MCS Jeddah S_U normal." pitchFamily="2" charset="-78"/>
              </a:rPr>
              <a:t>                              8- المرونة </a:t>
            </a:r>
            <a:endParaRPr lang="ar-SA" sz="3600" b="1" dirty="0">
              <a:solidFill>
                <a:srgbClr val="0000FF"/>
              </a:solidFill>
              <a:cs typeface="MCS Jeddah S_U normal." pitchFamily="2" charset="-78"/>
            </a:endParaRPr>
          </a:p>
          <a:p>
            <a:pPr algn="ctr"/>
            <a:r>
              <a:rPr lang="ar-SA" sz="3600" b="1" dirty="0">
                <a:solidFill>
                  <a:prstClr val="black"/>
                </a:solidFill>
                <a:cs typeface="MCS Jeddah S_U normal." pitchFamily="2" charset="-78"/>
              </a:rPr>
              <a:t> 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القدرة على التكيف مع الظروف المتغيرة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273" y="2657237"/>
            <a:ext cx="8220109" cy="1912857"/>
          </a:xfrm>
          <a:prstGeom prst="rect">
            <a:avLst/>
          </a:prstGeom>
          <a:solidFill>
            <a:srgbClr val="FFFF0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3600" b="1" dirty="0" smtClean="0">
                <a:solidFill>
                  <a:srgbClr val="0000FF"/>
                </a:solidFill>
                <a:cs typeface="MCS Jeddah S_U normal." pitchFamily="2" charset="-78"/>
              </a:rPr>
              <a:t>9- الاستماع الفعال</a:t>
            </a:r>
            <a:endParaRPr lang="ar-SA" sz="3600" b="1" dirty="0">
              <a:solidFill>
                <a:srgbClr val="0000FF"/>
              </a:solidFill>
              <a:cs typeface="MCS Jeddah S_U normal." pitchFamily="2" charset="-78"/>
            </a:endParaRPr>
          </a:p>
          <a:p>
            <a:pPr algn="ctr"/>
            <a:r>
              <a:rPr lang="ar-SA" sz="3600" b="1" dirty="0">
                <a:solidFill>
                  <a:prstClr val="black"/>
                </a:solidFill>
                <a:cs typeface="MCS Jeddah S_U normal." pitchFamily="2" charset="-78"/>
              </a:rPr>
              <a:t> 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الاتصال عملية ثنائية تتطلب الإنصات لفهم الرسالة وتلقي الملاحظات</a:t>
            </a:r>
          </a:p>
        </p:txBody>
      </p:sp>
      <p:sp>
        <p:nvSpPr>
          <p:cNvPr id="2" name="Rectangle 1"/>
          <p:cNvSpPr/>
          <p:nvPr/>
        </p:nvSpPr>
        <p:spPr>
          <a:xfrm>
            <a:off x="5309156" y="324433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ar-SA" dirty="0">
              <a:solidFill>
                <a:srgbClr val="FFFF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04659" y="22740"/>
            <a:ext cx="203934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sz="2000" b="1" dirty="0">
                <a:solidFill>
                  <a:srgbClr val="FFFF00"/>
                </a:solidFill>
              </a:rPr>
              <a:t>مبادي الاتصال الاداري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265" y="4774505"/>
            <a:ext cx="8220109" cy="1912857"/>
          </a:xfrm>
          <a:prstGeom prst="rect">
            <a:avLst/>
          </a:prstGeom>
          <a:solidFill>
            <a:srgbClr val="FFFF0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3600" b="1" dirty="0" smtClean="0">
                <a:solidFill>
                  <a:srgbClr val="0000FF"/>
                </a:solidFill>
                <a:cs typeface="MCS Jeddah S_U normal." pitchFamily="2" charset="-78"/>
              </a:rPr>
              <a:t>10- التغذية الراجعة</a:t>
            </a:r>
            <a:endParaRPr lang="ar-SA" sz="3600" b="1" dirty="0">
              <a:solidFill>
                <a:srgbClr val="0000FF"/>
              </a:solidFill>
              <a:cs typeface="MCS Jeddah S_U normal." pitchFamily="2" charset="-78"/>
            </a:endParaRPr>
          </a:p>
          <a:p>
            <a:pPr algn="ctr"/>
            <a:r>
              <a:rPr lang="ar-SA" sz="3600" b="1" dirty="0">
                <a:solidFill>
                  <a:prstClr val="black"/>
                </a:solidFill>
                <a:cs typeface="MCS Jeddah S_U normal." pitchFamily="2" charset="-78"/>
              </a:rPr>
              <a:t> </a:t>
            </a:r>
            <a:r>
              <a:rPr lang="ar-SA" sz="2800" dirty="0">
                <a:solidFill>
                  <a:prstClr val="black"/>
                </a:solidFill>
                <a:cs typeface="MCS Jeddah S_U normal." pitchFamily="2" charset="-78"/>
              </a:rPr>
              <a:t>التأكد من استلام وفهم الرسالة من قبل المتلقي</a:t>
            </a:r>
          </a:p>
        </p:txBody>
      </p:sp>
    </p:spTree>
    <p:extLst>
      <p:ext uri="{BB962C8B-B14F-4D97-AF65-F5344CB8AC3E}">
        <p14:creationId xmlns:p14="http://schemas.microsoft.com/office/powerpoint/2010/main" val="629671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31640" y="34311"/>
            <a:ext cx="770485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ar-SA" sz="60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00"/>
                </a:solidFill>
                <a:effectLst>
                  <a:glow rad="1270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l hosam"/>
                <a:ea typeface="Times New Roman" pitchFamily="18" charset="0"/>
                <a:cs typeface="AL-Hosam" pitchFamily="2" charset="-78"/>
              </a:rPr>
              <a:t>         </a:t>
            </a:r>
            <a:r>
              <a:rPr lang="ar-SA" sz="60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00"/>
                </a:solidFill>
                <a:effectLst>
                  <a:glow rad="127000">
                    <a:srgbClr val="FFFF00"/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l hosam"/>
                <a:ea typeface="Times New Roman" pitchFamily="18" charset="0"/>
                <a:cs typeface="AL-Hosam" pitchFamily="2" charset="-78"/>
              </a:rPr>
              <a:t>معوقات الاتصال الإداري</a:t>
            </a:r>
            <a:endParaRPr lang="ar-SA" sz="6000" b="1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glow rad="127000">
                  <a:srgbClr val="FFFF00"/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l hosam"/>
              <a:ea typeface="Times New Roman" pitchFamily="18" charset="0"/>
              <a:cs typeface="AL-Hosam" pitchFamily="2" charset="-7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84002" y="3429000"/>
            <a:ext cx="8523820" cy="1590055"/>
          </a:xfrm>
          <a:prstGeom prst="rect">
            <a:avLst/>
          </a:prstGeom>
          <a:solidFill>
            <a:srgbClr val="FF0000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3600" b="1" dirty="0" smtClean="0">
                <a:solidFill>
                  <a:schemeClr val="bg1"/>
                </a:solidFill>
                <a:cs typeface="MCS Jeddah S_U normal." pitchFamily="2" charset="-78"/>
              </a:rPr>
              <a:t>1- معوقات </a:t>
            </a:r>
            <a:r>
              <a:rPr lang="ar-SA" sz="3600" b="1" dirty="0">
                <a:solidFill>
                  <a:schemeClr val="bg1"/>
                </a:solidFill>
                <a:cs typeface="MCS Jeddah S_U normal." pitchFamily="2" charset="-78"/>
              </a:rPr>
              <a:t>تنظيمية</a:t>
            </a:r>
          </a:p>
          <a:p>
            <a:pPr algn="ctr"/>
            <a:r>
              <a:rPr lang="ar-SA" sz="2400" dirty="0">
                <a:solidFill>
                  <a:srgbClr val="FFFF00"/>
                </a:solidFill>
                <a:cs typeface="MCS Jeddah S_U normal." pitchFamily="2" charset="-78"/>
              </a:rPr>
              <a:t> </a:t>
            </a:r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هي </a:t>
            </a:r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عدم شرح هدف </a:t>
            </a:r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المنظمة بوضوح </a:t>
            </a:r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ونقص البيانات والمعلومات إضافة إلى عدم وضوح مراكز الاتصال بين الموظفين في </a:t>
            </a:r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 المنظمة</a:t>
            </a:r>
            <a:endParaRPr lang="ar-SA" sz="28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96652" y="1052736"/>
            <a:ext cx="840668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الاتصال </a:t>
            </a:r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الإداري </a:t>
            </a:r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 </a:t>
            </a:r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مهارة أساسية تتضمن كتابة المراسلات مثل المذكرات والتقارير والرسائل والتحدث في الاجتماعات </a:t>
            </a:r>
            <a:r>
              <a:rPr lang="ar-SA" sz="2800" u="sng" dirty="0">
                <a:solidFill>
                  <a:srgbClr val="FFFF00"/>
                </a:solidFill>
                <a:cs typeface="MCS Jeddah S_U normal." pitchFamily="2" charset="-78"/>
              </a:rPr>
              <a:t>والعروض التقديمية</a:t>
            </a:r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 والاستماع إلى جميع مستويات الموظفين </a:t>
            </a:r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 </a:t>
            </a:r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والرؤساء ليكونوا منتجين </a:t>
            </a:r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و </a:t>
            </a:r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تؤثر </a:t>
            </a:r>
            <a:r>
              <a:rPr lang="ar-SA" sz="2800" u="sng" dirty="0">
                <a:solidFill>
                  <a:srgbClr val="FFFF00"/>
                </a:solidFill>
                <a:cs typeface="MCS Jeddah S_U normal." pitchFamily="2" charset="-78"/>
              </a:rPr>
              <a:t>جودة</a:t>
            </a:r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 الاتصالات على الأعمال وللاتصال معوقات عدّة أهمها ما يأتي :</a:t>
            </a:r>
            <a:endParaRPr lang="en-US" sz="28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6627" y="5301208"/>
            <a:ext cx="8523820" cy="1376536"/>
          </a:xfrm>
          <a:prstGeom prst="rect">
            <a:avLst/>
          </a:prstGeom>
          <a:solidFill>
            <a:srgbClr val="FF0000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يسبب </a:t>
            </a:r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ذلك  </a:t>
            </a:r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اعتماد القيادات الإدارية على عملية الاتصال غير الرسمي مما يسهم في كثير من الأحيان بعدم الاتفاق مع الأهداف التنظيمية في المنظمة</a:t>
            </a:r>
          </a:p>
        </p:txBody>
      </p:sp>
    </p:spTree>
    <p:extLst>
      <p:ext uri="{BB962C8B-B14F-4D97-AF65-F5344CB8AC3E}">
        <p14:creationId xmlns:p14="http://schemas.microsoft.com/office/powerpoint/2010/main" val="4030873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39144" y="0"/>
            <a:ext cx="770485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ar-SA" sz="1200" dirty="0">
                <a:solidFill>
                  <a:srgbClr val="FFFF00"/>
                </a:solidFill>
                <a:cs typeface="MCS Jeddah S_U normal." pitchFamily="2" charset="-78"/>
              </a:rPr>
              <a:t>معوقات الاتصال الإداري</a:t>
            </a:r>
          </a:p>
        </p:txBody>
      </p:sp>
      <p:sp>
        <p:nvSpPr>
          <p:cNvPr id="6" name="Rectangle 5"/>
          <p:cNvSpPr/>
          <p:nvPr/>
        </p:nvSpPr>
        <p:spPr>
          <a:xfrm>
            <a:off x="395536" y="2396153"/>
            <a:ext cx="8220109" cy="1896943"/>
          </a:xfrm>
          <a:prstGeom prst="rect">
            <a:avLst/>
          </a:prstGeom>
          <a:solidFill>
            <a:srgbClr val="FF0000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مما </a:t>
            </a:r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يسبب أثر عكسي في عملية الاتصال الإداري كما أنّها مجموعة من الفروق الفردية التي تجعل الأفراد يتضاربون في حكمهم وفهمهم للاتصال والاستجابة </a:t>
            </a:r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له</a:t>
            </a:r>
            <a:endParaRPr lang="ar-SA" sz="28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5536" y="548680"/>
            <a:ext cx="8220109" cy="1575792"/>
          </a:xfrm>
          <a:prstGeom prst="rect">
            <a:avLst/>
          </a:prstGeom>
          <a:solidFill>
            <a:srgbClr val="FF0000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3600" b="1" dirty="0" smtClean="0">
                <a:solidFill>
                  <a:schemeClr val="bg1"/>
                </a:solidFill>
                <a:cs typeface="MCS Jeddah S_U normal." pitchFamily="2" charset="-78"/>
              </a:rPr>
              <a:t>2- معوقات </a:t>
            </a:r>
            <a:r>
              <a:rPr lang="ar-SA" sz="3600" b="1" dirty="0">
                <a:solidFill>
                  <a:schemeClr val="bg1"/>
                </a:solidFill>
                <a:cs typeface="MCS Jeddah S_U normal." pitchFamily="2" charset="-78"/>
              </a:rPr>
              <a:t>إنسانية</a:t>
            </a:r>
          </a:p>
          <a:p>
            <a:pPr algn="ctr"/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 يُعنى بهذه </a:t>
            </a:r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المعوقات </a:t>
            </a:r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المؤثرات التي ترجع في عملية الاتصال إلى المرسل </a:t>
            </a:r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والمستقبل</a:t>
            </a:r>
            <a:endParaRPr lang="ar-SA" sz="28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69215" y="4573066"/>
            <a:ext cx="8220109" cy="2024286"/>
          </a:xfrm>
          <a:prstGeom prst="rect">
            <a:avLst/>
          </a:prstGeom>
          <a:solidFill>
            <a:srgbClr val="FF0000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كما </a:t>
            </a:r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أنّ </a:t>
            </a:r>
            <a:r>
              <a:rPr lang="ar-SA" sz="2800" u="sng" dirty="0">
                <a:solidFill>
                  <a:srgbClr val="FFFF00"/>
                </a:solidFill>
                <a:cs typeface="MCS Jeddah S_U normal." pitchFamily="2" charset="-78"/>
              </a:rPr>
              <a:t>مدى الثقة </a:t>
            </a:r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بين الأفراد في المنظمة يؤدي إلى عدم التشارك والتعاون وهذا يسهم في حجب المعلومات والبيانات عن بعضهم البعض </a:t>
            </a:r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مما </a:t>
            </a:r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يسبب تعقيد عملية الاتصال ويحدّ من </a:t>
            </a:r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فاعليتها</a:t>
            </a:r>
            <a:endParaRPr lang="ar-SA" sz="28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222227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39144" y="0"/>
            <a:ext cx="770485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ar-SA" sz="1200" dirty="0">
                <a:solidFill>
                  <a:srgbClr val="FFFF00"/>
                </a:solidFill>
                <a:cs typeface="MCS Jeddah S_U normal." pitchFamily="2" charset="-78"/>
              </a:rPr>
              <a:t>معوقات الاتصال الإداري</a:t>
            </a:r>
          </a:p>
        </p:txBody>
      </p:sp>
      <p:sp>
        <p:nvSpPr>
          <p:cNvPr id="6" name="Rectangle 5"/>
          <p:cNvSpPr/>
          <p:nvPr/>
        </p:nvSpPr>
        <p:spPr>
          <a:xfrm>
            <a:off x="395536" y="476672"/>
            <a:ext cx="8220109" cy="3074477"/>
          </a:xfrm>
          <a:prstGeom prst="rect">
            <a:avLst/>
          </a:prstGeom>
          <a:solidFill>
            <a:srgbClr val="FF0000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3600" b="1" dirty="0" smtClean="0">
                <a:solidFill>
                  <a:schemeClr val="bg1"/>
                </a:solidFill>
                <a:cs typeface="MCS Jeddah S_U normal." pitchFamily="2" charset="-78"/>
              </a:rPr>
              <a:t>3- معوقات لغوية</a:t>
            </a:r>
          </a:p>
          <a:p>
            <a:pPr algn="ctr"/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 </a:t>
            </a:r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تُعرّف العوائق اللغوية بأنّها مجموعة في اختيار الكلمات السيئة </a:t>
            </a:r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والغير واضحة أو </a:t>
            </a:r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وضع القواعد النحوية غير الصحيحة </a:t>
            </a:r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ووضع </a:t>
            </a:r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علامات الترقيم التي تجعل الرسالة غير </a:t>
            </a:r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واضحة</a:t>
            </a:r>
            <a:endParaRPr lang="ar-SA" sz="28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5536" y="3861048"/>
            <a:ext cx="8220109" cy="2304256"/>
          </a:xfrm>
          <a:prstGeom prst="rect">
            <a:avLst/>
          </a:prstGeom>
          <a:solidFill>
            <a:srgbClr val="FF0000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هذا </a:t>
            </a:r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ما يسبب محاولة المرسل له في استنتاج مفهوم الرسالة أو عدم فهمها من الأصل وهذا ما يعيق الاتصال الإداري في ما بين الأفراد في المنظمات</a:t>
            </a:r>
          </a:p>
        </p:txBody>
      </p:sp>
    </p:spTree>
    <p:extLst>
      <p:ext uri="{BB962C8B-B14F-4D97-AF65-F5344CB8AC3E}">
        <p14:creationId xmlns:p14="http://schemas.microsoft.com/office/powerpoint/2010/main" val="2129436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39144" y="0"/>
            <a:ext cx="770485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ar-SA" sz="1200" dirty="0">
                <a:solidFill>
                  <a:srgbClr val="FFFF00"/>
                </a:solidFill>
                <a:cs typeface="MCS Jeddah S_U normal." pitchFamily="2" charset="-78"/>
              </a:rPr>
              <a:t>معوقات الاتصال الإداري</a:t>
            </a:r>
          </a:p>
        </p:txBody>
      </p:sp>
      <p:sp>
        <p:nvSpPr>
          <p:cNvPr id="6" name="Rectangle 5"/>
          <p:cNvSpPr/>
          <p:nvPr/>
        </p:nvSpPr>
        <p:spPr>
          <a:xfrm>
            <a:off x="467543" y="277000"/>
            <a:ext cx="8220109" cy="3800072"/>
          </a:xfrm>
          <a:prstGeom prst="rect">
            <a:avLst/>
          </a:prstGeom>
          <a:solidFill>
            <a:srgbClr val="FF0000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3600" b="1" dirty="0" smtClean="0">
                <a:solidFill>
                  <a:schemeClr val="bg1"/>
                </a:solidFill>
                <a:cs typeface="MCS Jeddah S_U normal." pitchFamily="2" charset="-78"/>
              </a:rPr>
              <a:t>4- معوقات </a:t>
            </a:r>
            <a:r>
              <a:rPr lang="ar-SA" sz="3600" b="1" dirty="0">
                <a:solidFill>
                  <a:schemeClr val="bg1"/>
                </a:solidFill>
                <a:cs typeface="MCS Jeddah S_U normal." pitchFamily="2" charset="-78"/>
              </a:rPr>
              <a:t>خاصة </a:t>
            </a:r>
            <a:r>
              <a:rPr lang="ar-SA" sz="3600" b="1" dirty="0" smtClean="0">
                <a:solidFill>
                  <a:schemeClr val="bg1"/>
                </a:solidFill>
                <a:cs typeface="MCS Jeddah S_U normal." pitchFamily="2" charset="-78"/>
              </a:rPr>
              <a:t>بالمعلومات والمحتوي </a:t>
            </a:r>
          </a:p>
          <a:p>
            <a:pPr algn="ctr"/>
            <a:endParaRPr lang="ar-SA" sz="3600" b="1" dirty="0">
              <a:solidFill>
                <a:srgbClr val="FFFF00"/>
              </a:solidFill>
              <a:cs typeface="MCS Jeddah S_U normal." pitchFamily="2" charset="-78"/>
            </a:endParaRPr>
          </a:p>
          <a:p>
            <a:pPr algn="ctr"/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تُعرّف المعوقات الناتجة عن المعلومات أو البيانات </a:t>
            </a:r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والمحتوي بأنّها </a:t>
            </a:r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التي تحدث بسبب كثرة المعلومات فهي تؤدي إلى إرباك المستلم حول الرسالة وبالتالي عدم فهمها كذلك نقص المعلومات </a:t>
            </a:r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يتسبب </a:t>
            </a:r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في عدم فهم الهدف من عملية الاتصال </a:t>
            </a:r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الإداري</a:t>
            </a:r>
            <a:endParaRPr lang="ar-SA" sz="28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67543" y="4437112"/>
            <a:ext cx="8220109" cy="2024608"/>
          </a:xfrm>
          <a:prstGeom prst="rect">
            <a:avLst/>
          </a:prstGeom>
          <a:solidFill>
            <a:srgbClr val="FF0000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عدم </a:t>
            </a:r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توافر معلومات في الرسالة تجعل المرسل غير قادر في معرفة ما المطلوب </a:t>
            </a:r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منه</a:t>
            </a:r>
            <a:endParaRPr lang="ar-SA" sz="28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191904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39144" y="0"/>
            <a:ext cx="770485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ar-SA" sz="1200" dirty="0">
                <a:solidFill>
                  <a:srgbClr val="FFFF00"/>
                </a:solidFill>
                <a:cs typeface="MCS Jeddah S_U normal." pitchFamily="2" charset="-78"/>
              </a:rPr>
              <a:t>معوقات الاتصال الإداري</a:t>
            </a:r>
          </a:p>
        </p:txBody>
      </p:sp>
      <p:sp>
        <p:nvSpPr>
          <p:cNvPr id="6" name="Rectangle 5"/>
          <p:cNvSpPr/>
          <p:nvPr/>
        </p:nvSpPr>
        <p:spPr>
          <a:xfrm>
            <a:off x="539552" y="404664"/>
            <a:ext cx="8220109" cy="2736304"/>
          </a:xfrm>
          <a:prstGeom prst="rect">
            <a:avLst/>
          </a:prstGeom>
          <a:solidFill>
            <a:srgbClr val="FF0000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3600" b="1" dirty="0" smtClean="0">
                <a:solidFill>
                  <a:schemeClr val="bg1"/>
                </a:solidFill>
                <a:cs typeface="MCS Jeddah S_U normal." pitchFamily="2" charset="-78"/>
              </a:rPr>
              <a:t>5- معوقات </a:t>
            </a:r>
            <a:r>
              <a:rPr lang="ar-SA" sz="3600" b="1" dirty="0">
                <a:solidFill>
                  <a:schemeClr val="bg1"/>
                </a:solidFill>
                <a:cs typeface="MCS Jeddah S_U normal." pitchFamily="2" charset="-78"/>
              </a:rPr>
              <a:t>خاصة </a:t>
            </a:r>
            <a:r>
              <a:rPr lang="ar-SA" sz="3600" b="1" dirty="0" smtClean="0">
                <a:solidFill>
                  <a:schemeClr val="bg1"/>
                </a:solidFill>
                <a:cs typeface="MCS Jeddah S_U normal." pitchFamily="2" charset="-78"/>
              </a:rPr>
              <a:t>بالبيئة</a:t>
            </a:r>
          </a:p>
          <a:p>
            <a:pPr algn="ctr"/>
            <a:endParaRPr lang="ar-SA" sz="3600" b="1" dirty="0">
              <a:solidFill>
                <a:srgbClr val="FFFF00"/>
              </a:solidFill>
              <a:cs typeface="MCS Jeddah S_U normal." pitchFamily="2" charset="-78"/>
            </a:endParaRPr>
          </a:p>
          <a:p>
            <a:pPr algn="ctr"/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يقصد بالمعوقات الخاصة بالبيئة بأنّها مجموعة من المشكلات التي تحد من فاعلية الاتصال الإرادي والتي تعود إلى مجموعة من العوامل التي توجد في المجتمع الذي يعيش فيه </a:t>
            </a:r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الشخص</a:t>
            </a:r>
            <a:endParaRPr lang="ar-SA" sz="28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7634" y="3429000"/>
            <a:ext cx="8220109" cy="2952328"/>
          </a:xfrm>
          <a:prstGeom prst="rect">
            <a:avLst/>
          </a:prstGeom>
          <a:solidFill>
            <a:srgbClr val="FF0000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من  العوامل البيئية  المعيقة اللغة </a:t>
            </a:r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التي يستخدمها الفرد حسب عاداته وتقاليده و</a:t>
            </a:r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عدم </a:t>
            </a:r>
            <a:r>
              <a:rPr lang="ar-SA" sz="2800" dirty="0">
                <a:solidFill>
                  <a:srgbClr val="FFFF00"/>
                </a:solidFill>
                <a:cs typeface="MCS Jeddah S_U normal." pitchFamily="2" charset="-78"/>
              </a:rPr>
              <a:t>كفاءة أدوات الاتصال بين الأفراد بالإضافة إلى ذلك عدم وجود نشاط اجتماعي بين نطاق كبير من المنظمات يسهم في إعاقة </a:t>
            </a:r>
            <a:r>
              <a:rPr lang="ar-SA" sz="2800" dirty="0" smtClean="0">
                <a:solidFill>
                  <a:srgbClr val="FFFF00"/>
                </a:solidFill>
                <a:cs typeface="MCS Jeddah S_U normal." pitchFamily="2" charset="-78"/>
              </a:rPr>
              <a:t>الاتصال</a:t>
            </a:r>
            <a:endParaRPr lang="ar-SA" sz="2800" dirty="0">
              <a:solidFill>
                <a:srgbClr val="FFFF00"/>
              </a:solidFill>
              <a:cs typeface="MCS Jeddah S_U normal.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229485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43608" y="188640"/>
            <a:ext cx="2952328" cy="1196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 rot="305261">
            <a:off x="2503420" y="318082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ar-SA" sz="3600" dirty="0" smtClean="0">
                <a:solidFill>
                  <a:srgbClr val="FF0000"/>
                </a:solidFill>
                <a:cs typeface="MCS Taybah S_U normal." pitchFamily="2" charset="-78"/>
              </a:rPr>
              <a:t>الاتصال الاداري</a:t>
            </a:r>
            <a:endParaRPr lang="en-US" sz="3600" dirty="0">
              <a:solidFill>
                <a:srgbClr val="FF0000"/>
              </a:solidFill>
              <a:cs typeface="MCS Taybah S_U normal.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0213209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2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8885</TotalTime>
  <Words>570</Words>
  <Application>Microsoft Office PowerPoint</Application>
  <PresentationFormat>On-screen Show (4:3)</PresentationFormat>
  <Paragraphs>79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9" baseType="lpstr">
      <vt:lpstr>Aharoni</vt:lpstr>
      <vt:lpstr>Al hosam</vt:lpstr>
      <vt:lpstr>AL-Hosam</vt:lpstr>
      <vt:lpstr>Arial</vt:lpstr>
      <vt:lpstr>Calibri</vt:lpstr>
      <vt:lpstr>Constantia</vt:lpstr>
      <vt:lpstr>Franklin Gothic Heavy</vt:lpstr>
      <vt:lpstr>Majalla UI</vt:lpstr>
      <vt:lpstr>MCS Jeddah S_U normal.</vt:lpstr>
      <vt:lpstr>MCS Taybah S_U normal.</vt:lpstr>
      <vt:lpstr>Times New Roman</vt:lpstr>
      <vt:lpstr>Traditional Arabic</vt:lpstr>
      <vt:lpstr>Wingdings 2</vt:lpstr>
      <vt:lpstr>Office Theme</vt:lpstr>
      <vt:lpstr>1_Flow</vt:lpstr>
      <vt:lpstr>PowerPoint Presentation</vt:lpstr>
      <vt:lpstr>المحاضرة السابقة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mosab</dc:creator>
  <cp:lastModifiedBy>hisham</cp:lastModifiedBy>
  <cp:revision>1273</cp:revision>
  <dcterms:created xsi:type="dcterms:W3CDTF">2011-08-17T19:43:41Z</dcterms:created>
  <dcterms:modified xsi:type="dcterms:W3CDTF">2025-12-30T16:24:30Z</dcterms:modified>
</cp:coreProperties>
</file>