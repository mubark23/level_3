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86" r:id="rId2"/>
  </p:sldMasterIdLst>
  <p:notesMasterIdLst>
    <p:notesMasterId r:id="rId14"/>
  </p:notesMasterIdLst>
  <p:sldIdLst>
    <p:sldId id="500" r:id="rId3"/>
    <p:sldId id="608" r:id="rId4"/>
    <p:sldId id="512" r:id="rId5"/>
    <p:sldId id="498" r:id="rId6"/>
    <p:sldId id="609" r:id="rId7"/>
    <p:sldId id="638" r:id="rId8"/>
    <p:sldId id="596" r:id="rId9"/>
    <p:sldId id="639" r:id="rId10"/>
    <p:sldId id="641" r:id="rId11"/>
    <p:sldId id="642" r:id="rId12"/>
    <p:sldId id="514" r:id="rId13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00FF"/>
    <a:srgbClr val="003217"/>
    <a:srgbClr val="00682F"/>
    <a:srgbClr val="57EFF3"/>
    <a:srgbClr val="24DFE8"/>
    <a:srgbClr val="00FF00"/>
    <a:srgbClr val="CC0099"/>
    <a:srgbClr val="4FF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479" autoAdjust="0"/>
    <p:restoredTop sz="94849" autoAdjust="0"/>
  </p:normalViewPr>
  <p:slideViewPr>
    <p:cSldViewPr>
      <p:cViewPr varScale="1">
        <p:scale>
          <a:sx n="70" d="100"/>
          <a:sy n="70" d="100"/>
        </p:scale>
        <p:origin x="72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B4217-A0A8-494C-8F3C-C58D3904B27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9FA61-F536-4629-9F1E-E9543B5E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97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94A41472-F0B0-467A-A593-37B8E299A31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30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F79BEF-7EFA-4FF7-9F29-9241EBE7F107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76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EDE3FB8F-BDE8-4CCC-A469-DE6F1793155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22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BE122-3D7B-4707-96E7-614BA48F07E0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1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6A632-6AB5-4859-8114-90C4D3EB68D4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89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133895-8EE1-4B38-9D21-0495C3DA4F3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9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EA471-183B-4601-BB62-62FFB82AE24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31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A9468-1196-4B2A-9F8D-F3AF3814B4AA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79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fld id="{7038D2FF-1E85-435D-B78E-CC6A1B8062AE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84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C9652-B3F6-4E6D-8B91-B25A2A2A571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785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EBF5F8-6727-4F2A-AD6F-6A8A895EF88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80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C97E-72D8-47FC-9606-7FBCA28DE213}" type="datetimeFigureOut">
              <a:rPr lang="ar-SA" smtClean="0"/>
              <a:pPr/>
              <a:t>18/07/1447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45C7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275AD6-72D9-449A-B94E-E9AA82FCFB7E}" type="slidenum">
              <a:rPr lang="ar-SA" smtClean="0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096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rtl="1" fontAlgn="base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2pPr>
      <a:lvl3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3pPr>
      <a:lvl4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4pPr>
      <a:lvl5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5pPr>
      <a:lvl6pPr marL="4572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6pPr>
      <a:lvl7pPr marL="9144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7pPr>
      <a:lvl8pPr marL="13716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8pPr>
      <a:lvl9pPr marL="18288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9pPr>
    </p:titleStyle>
    <p:bodyStyle>
      <a:lvl1pPr marL="273050" indent="-273050" algn="r" rtl="1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Majalla UI"/>
          <a:cs typeface="+mn-cs"/>
        </a:defRPr>
      </a:lvl1pPr>
      <a:lvl2pPr marL="639763" indent="-246063" algn="r" rtl="1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Majalla UI"/>
          <a:cs typeface="+mn-cs"/>
        </a:defRPr>
      </a:lvl2pPr>
      <a:lvl3pPr marL="914400" indent="-246063" algn="r" rtl="1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Majalla UI"/>
          <a:cs typeface="+mn-cs"/>
        </a:defRPr>
      </a:lvl3pPr>
      <a:lvl4pPr marL="1187450" indent="-209550" algn="r" rtl="1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4pPr>
      <a:lvl5pPr marL="1462088" indent="-209550" algn="r" rtl="1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5pPr>
      <a:lvl6pPr marL="1737360" indent="-210312" algn="r" rtl="1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r" rtl="1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r" rtl="1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r" rtl="1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8520" y="347172"/>
            <a:ext cx="91450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96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قضايا أخلاقية ومهنية</a:t>
            </a:r>
            <a:endParaRPr lang="en-US" sz="9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635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7544" y="1916832"/>
            <a:ext cx="8480014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Ethical  and  professional</a:t>
            </a:r>
            <a:endParaRPr lang="ar-SA" sz="54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Franklin Gothic Heavy" panose="020B0903020102020204" pitchFamily="34" charset="0"/>
              <a:ea typeface="Times New Roman" pitchFamily="18" charset="0"/>
              <a:cs typeface="Aharoni" panose="02010803020104030203" pitchFamily="2" charset="-79"/>
            </a:endParaRPr>
          </a:p>
          <a:p>
            <a:pPr algn="ctr"/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 </a:t>
            </a:r>
            <a:r>
              <a:rPr lang="en-US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issues</a:t>
            </a:r>
            <a:r>
              <a:rPr lang="ar-SA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   </a:t>
            </a:r>
            <a:endParaRPr lang="en-US" sz="54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Franklin Gothic Heavy" panose="020B0903020102020204" pitchFamily="34" charset="0"/>
              <a:ea typeface="Times New Roman" pitchFamily="18" charset="0"/>
              <a:cs typeface="Aharoni" panose="02010803020104030203" pitchFamily="2" charset="-79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91525" y="529365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7544" y="6119563"/>
            <a:ext cx="71287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ar-EG" altLang="en-US" sz="4000" dirty="0">
              <a:solidFill>
                <a:srgbClr val="FFFF00"/>
              </a:solidFill>
              <a:cs typeface="MCS Tayb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91880" y="6359778"/>
            <a:ext cx="2643672" cy="523220"/>
          </a:xfrm>
          <a:prstGeom prst="rect">
            <a:avLst/>
          </a:prstGeom>
          <a:effectLst>
            <a:glow rad="139700">
              <a:schemeClr val="accent1">
                <a:alpha val="53000"/>
              </a:schemeClr>
            </a:glow>
          </a:effectLst>
        </p:spPr>
        <p:txBody>
          <a:bodyPr wrap="none">
            <a:spAutoFit/>
          </a:bodyPr>
          <a:lstStyle/>
          <a:p>
            <a:r>
              <a:rPr lang="ar-SA" dirty="0" smtClean="0">
                <a:solidFill>
                  <a:srgbClr val="FFFF00"/>
                </a:solidFill>
                <a:cs typeface="MCS Jeddah S_U normal." pitchFamily="2" charset="-78"/>
              </a:rPr>
              <a:t>د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.</a:t>
            </a:r>
            <a:r>
              <a:rPr lang="ar-SA" dirty="0" smtClean="0">
                <a:solidFill>
                  <a:srgbClr val="FFFF00"/>
                </a:solidFill>
                <a:cs typeface="MCS Jeddah S_U normal." pitchFamily="2" charset="-78"/>
              </a:rPr>
              <a:t>هشام </a:t>
            </a:r>
            <a:r>
              <a:rPr lang="ar-SA" dirty="0">
                <a:solidFill>
                  <a:srgbClr val="FFFF00"/>
                </a:solidFill>
                <a:cs typeface="MCS Jeddah S_U normal." pitchFamily="2" charset="-78"/>
              </a:rPr>
              <a:t>كمال محمد درونكي</a:t>
            </a:r>
            <a:endParaRPr lang="en-US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031" y="3599249"/>
            <a:ext cx="5273040" cy="276052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0" y="6482415"/>
            <a:ext cx="1525960" cy="277946"/>
          </a:xfrm>
          <a:prstGeom prst="ellipse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575290" y="6486942"/>
            <a:ext cx="1525960" cy="277946"/>
          </a:xfrm>
          <a:prstGeom prst="ellipse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7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>
            <a:normAutofit/>
          </a:bodyPr>
          <a:lstStyle/>
          <a:p>
            <a:r>
              <a:rPr lang="ar-SA" sz="4000" dirty="0" smtClean="0">
                <a:solidFill>
                  <a:srgbClr val="0000FF"/>
                </a:solidFill>
                <a:latin typeface="+mn-lt"/>
                <a:ea typeface="+mn-ea"/>
                <a:cs typeface="MCS Jeddah S_U normal." pitchFamily="2" charset="-78"/>
              </a:rPr>
              <a:t>المحاضرة السابقة</a:t>
            </a:r>
            <a:endParaRPr lang="en-US" sz="4000" dirty="0">
              <a:solidFill>
                <a:srgbClr val="0000FF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36512" y="620688"/>
            <a:ext cx="9180511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ar-SA" sz="2800" dirty="0">
                <a:cs typeface="MCS Jeddah S_U normal." pitchFamily="2" charset="-78"/>
              </a:rPr>
              <a:t>اداب مهنة الحاسوب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احترام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الخصوصية</a:t>
            </a:r>
            <a:endParaRPr lang="en-US" sz="20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النزاهة والشفافية 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المسؤولية </a:t>
            </a: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الاجتماعية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احترام حقوق الملكية الفكرية </a:t>
            </a:r>
            <a:endParaRPr lang="en-US" sz="20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تحقيق الجودة والأداء </a:t>
            </a:r>
            <a:endParaRPr lang="en-US" sz="20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حماية الأمن السيبراني </a:t>
            </a:r>
            <a:endParaRPr lang="en-US" sz="20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التعلم المستمر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تعاون وإيجابية في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العمل</a:t>
            </a:r>
            <a:endParaRPr lang="en-US" sz="20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 الالتزام بالمعايير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المهنية</a:t>
            </a:r>
            <a:endParaRPr lang="en-US" sz="20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endParaRPr lang="ar-SA" sz="2000" dirty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800" dirty="0">
                <a:cs typeface="MCS Jeddah S_U normal." pitchFamily="2" charset="-78"/>
              </a:rPr>
              <a:t>الخيارات المهنية في مجال مهنة الحاسوب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مجال الحوسبة يتميز بتنوع واسع من الخيارات المهنية التي تتزايد 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باستمرار مع تطور التكنولوجيا </a:t>
            </a:r>
          </a:p>
        </p:txBody>
      </p:sp>
    </p:spTree>
    <p:extLst>
      <p:ext uri="{BB962C8B-B14F-4D97-AF65-F5344CB8AC3E}">
        <p14:creationId xmlns:p14="http://schemas.microsoft.com/office/powerpoint/2010/main" val="185008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68560" y="188640"/>
            <a:ext cx="770485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66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762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موضوعات  المحاضرة </a:t>
            </a:r>
            <a:endParaRPr lang="en-US" sz="6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762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3" name="Flowchart: Multidocument 2"/>
          <p:cNvSpPr/>
          <p:nvPr/>
        </p:nvSpPr>
        <p:spPr>
          <a:xfrm>
            <a:off x="673263" y="1512660"/>
            <a:ext cx="7257473" cy="1296144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وسائل ترسيخ أخلاقيات العمل</a:t>
            </a:r>
          </a:p>
        </p:txBody>
      </p:sp>
      <p:sp>
        <p:nvSpPr>
          <p:cNvPr id="4" name="Flowchart: Multidocument 3"/>
          <p:cNvSpPr/>
          <p:nvPr/>
        </p:nvSpPr>
        <p:spPr>
          <a:xfrm>
            <a:off x="755576" y="3212976"/>
            <a:ext cx="7175160" cy="1656184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فعاليات داخلية بالمنظمات لتأسيس ثقافةٍ أخلاقية حسنة</a:t>
            </a:r>
          </a:p>
        </p:txBody>
      </p:sp>
      <p:sp>
        <p:nvSpPr>
          <p:cNvPr id="5" name="Flowchart: Multidocument 4"/>
          <p:cNvSpPr/>
          <p:nvPr/>
        </p:nvSpPr>
        <p:spPr>
          <a:xfrm>
            <a:off x="827584" y="5085184"/>
            <a:ext cx="7103152" cy="1476164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العوامل المؤثرة علي اخلاق العمل</a:t>
            </a:r>
          </a:p>
        </p:txBody>
      </p:sp>
    </p:spTree>
    <p:extLst>
      <p:ext uri="{BB962C8B-B14F-4D97-AF65-F5344CB8AC3E}">
        <p14:creationId xmlns:p14="http://schemas.microsoft.com/office/powerpoint/2010/main" val="1912299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3428" y="-1801711"/>
            <a:ext cx="7850226" cy="2893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3217"/>
                </a:solidFill>
                <a:effectLst>
                  <a:glow rad="508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وسائل ترسيخ أخلاقيات العمل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1560" y="1009471"/>
            <a:ext cx="797396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وضع العديد من المهتمين بعلم اخلاقيات العمل عديد من الطرق والسبل وصولا لاخلاق عمل رشيدة بجهات العمل والمنظمات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المختلفة وهي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:</a:t>
            </a:r>
            <a:endParaRPr lang="en-US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71600" y="2708920"/>
            <a:ext cx="6906290" cy="3771820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عمل لوائح أخلاق ل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كل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وظيفة وتوزيعها على جميع الموظفين 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ذلك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بسبب أن بعض الممارسات الوظيفية غير الأخلاقية تنتج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عن 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ضعف في فهم أخلاقيات الوظيفة وعدم المعرفة بضوابط 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وقيم 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واخلاقيات المهنة</a:t>
            </a:r>
          </a:p>
        </p:txBody>
      </p:sp>
    </p:spTree>
    <p:extLst>
      <p:ext uri="{BB962C8B-B14F-4D97-AF65-F5344CB8AC3E}">
        <p14:creationId xmlns:p14="http://schemas.microsoft.com/office/powerpoint/2010/main" val="24822923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95655" y="-1755576"/>
            <a:ext cx="2148345" cy="2092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1400" dirty="0">
                <a:solidFill>
                  <a:srgbClr val="FFFF00"/>
                </a:solidFill>
                <a:cs typeface="MCS Jeddah S_U normal." pitchFamily="2" charset="-78"/>
              </a:rPr>
              <a:t>وسائل ترسيخ أخلاقيات العمل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43608" y="476672"/>
            <a:ext cx="6912768" cy="273630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أهمية تعيين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لجنة أو شخص مسؤول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لمتابعة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الجوانب الأخلاقية للموظفين لترسيخ الجانب الإيجابي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من ممارساتهم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ومساعدتهم على التخلص من الجانب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السلبي</a:t>
            </a:r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59632" y="3602630"/>
            <a:ext cx="6480720" cy="2808312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u="sng" dirty="0">
                <a:solidFill>
                  <a:prstClr val="black"/>
                </a:solidFill>
                <a:cs typeface="MCS Jeddah S_U normal." pitchFamily="2" charset="-78"/>
              </a:rPr>
              <a:t>التقييم المستمر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والمحاسبة العادلة للموظفين</a:t>
            </a: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endParaRPr lang="en-US" sz="28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807597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95655" y="-1755576"/>
            <a:ext cx="2148345" cy="2092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1400" dirty="0">
                <a:solidFill>
                  <a:srgbClr val="FFFF00"/>
                </a:solidFill>
                <a:cs typeface="MCS Jeddah S_U normal." pitchFamily="2" charset="-78"/>
              </a:rPr>
              <a:t>وسائل ترسيخ أخلاقيات العمل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43608" y="476672"/>
            <a:ext cx="6912768" cy="1944216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تحقيق </a:t>
            </a:r>
            <a:r>
              <a:rPr lang="ar-SA" sz="2800" u="sng" dirty="0">
                <a:solidFill>
                  <a:prstClr val="black"/>
                </a:solidFill>
                <a:cs typeface="MCS Jeddah S_U normal." pitchFamily="2" charset="-78"/>
              </a:rPr>
              <a:t>الرضا الوظيفي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608" y="2672916"/>
            <a:ext cx="6840760" cy="176826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  <a:p>
            <a:pPr algn="ctr"/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تطوير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مهارات العاملين </a:t>
            </a: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endParaRPr lang="en-US" sz="28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58298" y="4711098"/>
            <a:ext cx="6840760" cy="176826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  <a:p>
            <a:pPr algn="ctr"/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استعمال الوسائل التثقيفية والإعلامية لترسيخ أخلاقيات 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المهنة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وبيان ثمرة الالتزام بها</a:t>
            </a: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endParaRPr lang="en-US" sz="28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510620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05072" y="188640"/>
            <a:ext cx="964907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ar-SA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فعاليات داخلية بالمنظمات لتأسيس ثقافةٍ أخلاقية حسنة</a:t>
            </a:r>
          </a:p>
        </p:txBody>
      </p:sp>
      <p:sp>
        <p:nvSpPr>
          <p:cNvPr id="6" name="Rectangle 5"/>
          <p:cNvSpPr/>
          <p:nvPr/>
        </p:nvSpPr>
        <p:spPr>
          <a:xfrm>
            <a:off x="955190" y="3284984"/>
            <a:ext cx="7207494" cy="1296144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ميثاق شرفٍ أخلاقيّ</a:t>
            </a:r>
          </a:p>
        </p:txBody>
      </p:sp>
      <p:sp>
        <p:nvSpPr>
          <p:cNvPr id="3" name="Rectangle 2"/>
          <p:cNvSpPr/>
          <p:nvPr/>
        </p:nvSpPr>
        <p:spPr>
          <a:xfrm>
            <a:off x="385359" y="1683965"/>
            <a:ext cx="851066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من المهم وجود ممارسات داخلية بالمؤسسات لتأسيس قيم 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أخلاقية</a:t>
            </a:r>
          </a:p>
          <a:p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 جيدة بالمؤسسات </a:t>
            </a:r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وهي :</a:t>
            </a:r>
            <a:endParaRPr lang="en-US" sz="28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36943" y="4797152"/>
            <a:ext cx="7207494" cy="1296144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تدريبٌ العاملين على السلوك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الأخلاقي الحسن ّ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6331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83768" y="0"/>
            <a:ext cx="96490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ar-SA" sz="1400" dirty="0">
                <a:solidFill>
                  <a:srgbClr val="FFFF00"/>
                </a:solidFill>
                <a:cs typeface="MCS Jeddah S_U normal." pitchFamily="2" charset="-78"/>
              </a:rPr>
              <a:t>فعاليات داخلية بالمنظمات لتأسيس ثقافةٍ أخلاقية حسنة</a:t>
            </a:r>
          </a:p>
        </p:txBody>
      </p:sp>
      <p:sp>
        <p:nvSpPr>
          <p:cNvPr id="6" name="Rectangle 5"/>
          <p:cNvSpPr/>
          <p:nvPr/>
        </p:nvSpPr>
        <p:spPr>
          <a:xfrm>
            <a:off x="899592" y="548680"/>
            <a:ext cx="7207494" cy="1296144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برامج للمسؤولية الاجتماعية للمؤسسة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84" y="2085727"/>
            <a:ext cx="7207494" cy="1296144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u="sng" dirty="0">
                <a:solidFill>
                  <a:srgbClr val="FFFF00"/>
                </a:solidFill>
                <a:cs typeface="MCS Jeddah S_U normal." pitchFamily="2" charset="-78"/>
              </a:rPr>
              <a:t>خطوط آمنة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لاستقبال الشكاوى وحلّ المشكلات الأخلاقية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84" y="3622774"/>
            <a:ext cx="7207494" cy="1296144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u="sng" dirty="0" smtClean="0">
                <a:solidFill>
                  <a:srgbClr val="FFFF00"/>
                </a:solidFill>
                <a:cs typeface="MCS Jeddah S_U normal." pitchFamily="2" charset="-78"/>
              </a:rPr>
              <a:t>تدقيق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الأوضاع الأخلاقية للموظفين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84" y="5229200"/>
            <a:ext cx="7207494" cy="1296144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تحفيز المميزين بحسن اخلاق العمل</a:t>
            </a:r>
          </a:p>
        </p:txBody>
      </p:sp>
    </p:spTree>
    <p:extLst>
      <p:ext uri="{BB962C8B-B14F-4D97-AF65-F5344CB8AC3E}">
        <p14:creationId xmlns:p14="http://schemas.microsoft.com/office/powerpoint/2010/main" val="1874517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65599" y="159890"/>
            <a:ext cx="96490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ar-SA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العوامل المؤثرة علي </a:t>
            </a:r>
            <a:r>
              <a:rPr lang="ar-SA" sz="5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أخلاق </a:t>
            </a:r>
            <a:r>
              <a:rPr lang="ar-SA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العمل</a:t>
            </a:r>
          </a:p>
        </p:txBody>
      </p:sp>
      <p:sp>
        <p:nvSpPr>
          <p:cNvPr id="6" name="Rectangle 5"/>
          <p:cNvSpPr/>
          <p:nvPr/>
        </p:nvSpPr>
        <p:spPr>
          <a:xfrm>
            <a:off x="899592" y="2276872"/>
            <a:ext cx="7207494" cy="1296144"/>
          </a:xfrm>
          <a:prstGeom prst="rect">
            <a:avLst/>
          </a:prstGeom>
          <a:solidFill>
            <a:srgbClr val="0000FF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القيادة أو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الإدارة (القدوة)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5576" y="1280683"/>
            <a:ext cx="79640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لاخلاق العمل عديد من العوامل تؤثر وتتاثر بها واهمها هي :</a:t>
            </a:r>
            <a:endParaRPr lang="en-US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6392" y="3812703"/>
            <a:ext cx="7207494" cy="1296144"/>
          </a:xfrm>
          <a:prstGeom prst="rect">
            <a:avLst/>
          </a:prstGeom>
          <a:solidFill>
            <a:srgbClr val="0000FF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u="sng" dirty="0">
                <a:solidFill>
                  <a:srgbClr val="FFFF00"/>
                </a:solidFill>
                <a:cs typeface="MCS Jeddah S_U normal." pitchFamily="2" charset="-78"/>
              </a:rPr>
              <a:t>ثقافة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العمل</a:t>
            </a:r>
          </a:p>
        </p:txBody>
      </p:sp>
      <p:sp>
        <p:nvSpPr>
          <p:cNvPr id="8" name="Rectangle 7"/>
          <p:cNvSpPr/>
          <p:nvPr/>
        </p:nvSpPr>
        <p:spPr>
          <a:xfrm>
            <a:off x="926392" y="5348534"/>
            <a:ext cx="7207494" cy="1099352"/>
          </a:xfrm>
          <a:prstGeom prst="rect">
            <a:avLst/>
          </a:prstGeom>
          <a:solidFill>
            <a:srgbClr val="0000FF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التواصل الفعال</a:t>
            </a:r>
          </a:p>
        </p:txBody>
      </p:sp>
    </p:spTree>
    <p:extLst>
      <p:ext uri="{BB962C8B-B14F-4D97-AF65-F5344CB8AC3E}">
        <p14:creationId xmlns:p14="http://schemas.microsoft.com/office/powerpoint/2010/main" val="114357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3848" y="57968"/>
            <a:ext cx="96490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ar-SA" sz="1400" dirty="0">
                <a:solidFill>
                  <a:srgbClr val="FFFF00"/>
                </a:solidFill>
                <a:cs typeface="MCS Jeddah S_U normal." pitchFamily="2" charset="-78"/>
              </a:rPr>
              <a:t>العوامل المؤثرة علي اخلاق العمل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0890" y="1373717"/>
            <a:ext cx="7207494" cy="1296144"/>
          </a:xfrm>
          <a:prstGeom prst="rect">
            <a:avLst/>
          </a:prstGeom>
          <a:solidFill>
            <a:srgbClr val="0000FF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الأسرة والحياة الشخصية للموظف </a:t>
            </a:r>
          </a:p>
        </p:txBody>
      </p:sp>
      <p:sp>
        <p:nvSpPr>
          <p:cNvPr id="9" name="Rectangle 8"/>
          <p:cNvSpPr/>
          <p:nvPr/>
        </p:nvSpPr>
        <p:spPr>
          <a:xfrm>
            <a:off x="755576" y="3321624"/>
            <a:ext cx="7207494" cy="1296144"/>
          </a:xfrm>
          <a:prstGeom prst="rect">
            <a:avLst/>
          </a:prstGeom>
          <a:solidFill>
            <a:srgbClr val="0000FF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العلاقات بين الأفراد في العمل 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5610" y="5157192"/>
            <a:ext cx="7207494" cy="1296144"/>
          </a:xfrm>
          <a:prstGeom prst="rect">
            <a:avLst/>
          </a:prstGeom>
          <a:solidFill>
            <a:srgbClr val="0000FF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صفات الموظف الشخصية </a:t>
            </a:r>
          </a:p>
        </p:txBody>
      </p:sp>
    </p:spTree>
    <p:extLst>
      <p:ext uri="{BB962C8B-B14F-4D97-AF65-F5344CB8AC3E}">
        <p14:creationId xmlns:p14="http://schemas.microsoft.com/office/powerpoint/2010/main" val="1470673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43608" y="188640"/>
            <a:ext cx="2952328" cy="1196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 rot="305261">
            <a:off x="2423224" y="462461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2400" dirty="0">
                <a:solidFill>
                  <a:srgbClr val="FF0000"/>
                </a:solidFill>
                <a:cs typeface="MCS Taybah S_U normal." pitchFamily="2" charset="-78"/>
              </a:rPr>
              <a:t>قضايا أخلاقية ومهنية</a:t>
            </a:r>
          </a:p>
        </p:txBody>
      </p:sp>
    </p:spTree>
    <p:extLst>
      <p:ext uri="{BB962C8B-B14F-4D97-AF65-F5344CB8AC3E}">
        <p14:creationId xmlns:p14="http://schemas.microsoft.com/office/powerpoint/2010/main" val="30213209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8933</TotalTime>
  <Words>286</Words>
  <Application>Microsoft Office PowerPoint</Application>
  <PresentationFormat>On-screen Show (4:3)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6" baseType="lpstr">
      <vt:lpstr>Aharoni</vt:lpstr>
      <vt:lpstr>Al hosam</vt:lpstr>
      <vt:lpstr>AL-Hosam</vt:lpstr>
      <vt:lpstr>Arial</vt:lpstr>
      <vt:lpstr>Calibri</vt:lpstr>
      <vt:lpstr>Constantia</vt:lpstr>
      <vt:lpstr>Franklin Gothic Heavy</vt:lpstr>
      <vt:lpstr>Majalla UI</vt:lpstr>
      <vt:lpstr>MCS Jeddah S_U normal.</vt:lpstr>
      <vt:lpstr>MCS Taybah S_U normal.</vt:lpstr>
      <vt:lpstr>Times New Roman</vt:lpstr>
      <vt:lpstr>Traditional Arabic</vt:lpstr>
      <vt:lpstr>Wingdings 2</vt:lpstr>
      <vt:lpstr>Office Theme</vt:lpstr>
      <vt:lpstr>1_Flow</vt:lpstr>
      <vt:lpstr>PowerPoint Presentation</vt:lpstr>
      <vt:lpstr>المحاضرة السابقة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mosab</dc:creator>
  <cp:lastModifiedBy>hisham</cp:lastModifiedBy>
  <cp:revision>1280</cp:revision>
  <dcterms:created xsi:type="dcterms:W3CDTF">2011-08-17T19:43:41Z</dcterms:created>
  <dcterms:modified xsi:type="dcterms:W3CDTF">2026-01-06T16:04:23Z</dcterms:modified>
</cp:coreProperties>
</file>