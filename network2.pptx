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6" r:id="rId2"/>
    <p:sldId id="298" r:id="rId3"/>
    <p:sldId id="299" r:id="rId4"/>
    <p:sldId id="300" r:id="rId5"/>
    <p:sldId id="301" r:id="rId6"/>
    <p:sldId id="302" r:id="rId7"/>
    <p:sldId id="303" r:id="rId8"/>
    <p:sldId id="304" r:id="rId9"/>
    <p:sldId id="305" r:id="rId10"/>
    <p:sldId id="306" r:id="rId11"/>
    <p:sldId id="307" r:id="rId12"/>
    <p:sldId id="308" r:id="rId13"/>
    <p:sldId id="309" r:id="rId14"/>
    <p:sldId id="310" r:id="rId15"/>
    <p:sldId id="314" r:id="rId16"/>
    <p:sldId id="315" r:id="rId17"/>
    <p:sldId id="316" r:id="rId18"/>
    <p:sldId id="317" r:id="rId19"/>
    <p:sldId id="318" r:id="rId20"/>
    <p:sldId id="319" r:id="rId21"/>
    <p:sldId id="320" r:id="rId22"/>
    <p:sldId id="322" r:id="rId23"/>
    <p:sldId id="323" r:id="rId24"/>
    <p:sldId id="324" r:id="rId25"/>
    <p:sldId id="325" r:id="rId26"/>
    <p:sldId id="326" r:id="rId27"/>
    <p:sldId id="327" r:id="rId28"/>
    <p:sldId id="328" r:id="rId29"/>
    <p:sldId id="311" r:id="rId30"/>
    <p:sldId id="329" r:id="rId31"/>
    <p:sldId id="312" r:id="rId32"/>
    <p:sldId id="330" r:id="rId33"/>
    <p:sldId id="331" r:id="rId34"/>
    <p:sldId id="332" r:id="rId35"/>
    <p:sldId id="333" r:id="rId36"/>
    <p:sldId id="334" r:id="rId37"/>
    <p:sldId id="335" r:id="rId38"/>
    <p:sldId id="336" r:id="rId39"/>
    <p:sldId id="337" r:id="rId40"/>
    <p:sldId id="338" r:id="rId41"/>
    <p:sldId id="339" r:id="rId42"/>
    <p:sldId id="340" r:id="rId43"/>
    <p:sldId id="341" r:id="rId44"/>
    <p:sldId id="342" r:id="rId45"/>
    <p:sldId id="343" r:id="rId46"/>
    <p:sldId id="344" r:id="rId47"/>
    <p:sldId id="345" r:id="rId48"/>
    <p:sldId id="346" r:id="rId49"/>
    <p:sldId id="347" r:id="rId50"/>
    <p:sldId id="348" r:id="rId51"/>
    <p:sldId id="349" r:id="rId52"/>
    <p:sldId id="350" r:id="rId53"/>
    <p:sldId id="351" r:id="rId54"/>
    <p:sldId id="352" r:id="rId55"/>
    <p:sldId id="353" r:id="rId56"/>
    <p:sldId id="355" r:id="rId57"/>
    <p:sldId id="356" r:id="rId58"/>
    <p:sldId id="357" r:id="rId59"/>
    <p:sldId id="313"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2303E7-743C-4660-98B9-FE8E969C3D0E}"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4D02CE-88BB-4087-9A60-E8A6C698AF5C}" type="slidenum">
              <a:rPr lang="en-US" smtClean="0"/>
              <a:t>‹#›</a:t>
            </a:fld>
            <a:endParaRPr lang="en-US"/>
          </a:p>
        </p:txBody>
      </p:sp>
    </p:spTree>
    <p:extLst>
      <p:ext uri="{BB962C8B-B14F-4D97-AF65-F5344CB8AC3E}">
        <p14:creationId xmlns:p14="http://schemas.microsoft.com/office/powerpoint/2010/main" val="2628470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921A86B3-8B46-4B5B-BC42-E64C07CC238C}"/>
              </a:ext>
            </a:extLst>
          </p:cNvPr>
          <p:cNvSpPr>
            <a:spLocks noGrp="1" noRot="1" noChangeAspect="1" noTextEdit="1"/>
          </p:cNvSpPr>
          <p:nvPr>
            <p:ph type="sldImg"/>
          </p:nvPr>
        </p:nvSpPr>
        <p:spPr>
          <a:ln/>
        </p:spPr>
      </p:sp>
      <p:sp>
        <p:nvSpPr>
          <p:cNvPr id="14339" name="Notes Placeholder 2">
            <a:extLst>
              <a:ext uri="{FF2B5EF4-FFF2-40B4-BE49-F238E27FC236}">
                <a16:creationId xmlns:a16="http://schemas.microsoft.com/office/drawing/2014/main" id="{373C2806-F1DB-0F53-942C-21192E73224B}"/>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C4ABA1D0-74E2-3DB6-0982-F571004B81B1}"/>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75E4497A-D458-4F33-8CF4-C0E0AE8AE49B}" type="slidenum">
              <a:rPr lang="en-US" altLang="en-US" sz="1200">
                <a:latin typeface="Times New Roman" panose="02020603050405020304" pitchFamily="18" charset="0"/>
              </a:rPr>
              <a:pPr eaLnBrk="1" hangingPunct="1"/>
              <a:t>2</a:t>
            </a:fld>
            <a:endParaRPr lang="en-US" altLang="en-US" sz="120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14678E14-589D-B5FA-F415-E613624DCDD9}"/>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84EBF173-9B22-A43F-2979-84CB2BEC1491}"/>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AE278DB8-93BC-7E97-0DBF-BA0CC4B8B6A4}"/>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09B0F608-0C20-4792-89C5-E7B3033A88C1}" type="slidenum">
              <a:rPr lang="en-US" altLang="en-US" sz="1200">
                <a:latin typeface="Times New Roman" panose="02020603050405020304" pitchFamily="18" charset="0"/>
              </a:rPr>
              <a:pPr eaLnBrk="1" hangingPunct="1"/>
              <a:t>3</a:t>
            </a:fld>
            <a:endParaRPr lang="en-US" altLang="en-US" sz="12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4CFF3238-EC68-07FE-4F52-AFB6C37B89D7}"/>
              </a:ext>
            </a:extLst>
          </p:cNvPr>
          <p:cNvSpPr>
            <a:spLocks noGrp="1" noRot="1" noChangeAspect="1" noTextEdit="1"/>
          </p:cNvSpPr>
          <p:nvPr>
            <p:ph type="sldImg"/>
          </p:nvPr>
        </p:nvSpPr>
        <p:spPr>
          <a:ln/>
        </p:spPr>
      </p:sp>
      <p:sp>
        <p:nvSpPr>
          <p:cNvPr id="16387" name="Notes Placeholder 2">
            <a:extLst>
              <a:ext uri="{FF2B5EF4-FFF2-40B4-BE49-F238E27FC236}">
                <a16:creationId xmlns:a16="http://schemas.microsoft.com/office/drawing/2014/main" id="{BBFAB30B-FFD8-5819-A63A-F51024F6FB33}"/>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5F9D2AB2-84FF-FB93-1435-3E920B28638E}"/>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EAB8A4FB-DBCA-476D-82AD-0216FF7D7034}" type="slidenum">
              <a:rPr lang="en-US" altLang="en-US" sz="1200">
                <a:latin typeface="Times New Roman" panose="02020603050405020304" pitchFamily="18" charset="0"/>
              </a:rPr>
              <a:pPr eaLnBrk="1" hangingPunct="1"/>
              <a:t>4</a:t>
            </a:fld>
            <a:endParaRPr lang="en-US" altLang="en-US" sz="12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FA1588BC-3700-47BF-36D3-0914FFCAD388}"/>
              </a:ext>
            </a:extLst>
          </p:cNvPr>
          <p:cNvSpPr>
            <a:spLocks noGrp="1" noRot="1" noChangeAspect="1" noTextEdit="1"/>
          </p:cNvSpPr>
          <p:nvPr>
            <p:ph type="sldImg"/>
          </p:nvPr>
        </p:nvSpPr>
        <p:spPr>
          <a:ln/>
        </p:spPr>
      </p:sp>
      <p:sp>
        <p:nvSpPr>
          <p:cNvPr id="17411" name="Notes Placeholder 2">
            <a:extLst>
              <a:ext uri="{FF2B5EF4-FFF2-40B4-BE49-F238E27FC236}">
                <a16:creationId xmlns:a16="http://schemas.microsoft.com/office/drawing/2014/main" id="{6D553264-6DE3-A9D4-A9B3-C731C9030385}"/>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EAA99A93-711D-8F2F-10D6-FDE5F79939F9}"/>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0AD7B97D-9F7F-4A22-896C-E8B2EC14D465}" type="slidenum">
              <a:rPr lang="en-US" altLang="en-US" sz="1200">
                <a:latin typeface="Times New Roman" panose="02020603050405020304" pitchFamily="18" charset="0"/>
              </a:rPr>
              <a:pPr eaLnBrk="1" hangingPunct="1"/>
              <a:t>5</a:t>
            </a:fld>
            <a:endParaRPr lang="en-US" altLang="en-US" sz="120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903CA32D-6283-E873-375A-E1659A0FF7BA}"/>
              </a:ext>
            </a:extLst>
          </p:cNvPr>
          <p:cNvSpPr>
            <a:spLocks noGrp="1" noRot="1" noChangeAspect="1" noTextEdit="1"/>
          </p:cNvSpPr>
          <p:nvPr>
            <p:ph type="sldImg"/>
          </p:nvPr>
        </p:nvSpPr>
        <p:spPr>
          <a:ln/>
        </p:spPr>
      </p:sp>
      <p:sp>
        <p:nvSpPr>
          <p:cNvPr id="18435" name="Notes Placeholder 2">
            <a:extLst>
              <a:ext uri="{FF2B5EF4-FFF2-40B4-BE49-F238E27FC236}">
                <a16:creationId xmlns:a16="http://schemas.microsoft.com/office/drawing/2014/main" id="{CCF35E26-A600-07A3-08D5-A4F9DB595375}"/>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A36B3ACD-96F7-89C2-D96E-52ED7537A975}"/>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2DC74276-9267-438A-A38B-244F7FD12129}" type="slidenum">
              <a:rPr lang="en-US" altLang="en-US" sz="1200">
                <a:latin typeface="Times New Roman" panose="02020603050405020304" pitchFamily="18" charset="0"/>
              </a:rPr>
              <a:pPr eaLnBrk="1" hangingPunct="1"/>
              <a:t>6</a:t>
            </a:fld>
            <a:endParaRPr lang="en-US" altLang="en-US" sz="120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7E61236E-D201-B1C4-6763-0981D7A44736}"/>
              </a:ext>
            </a:extLst>
          </p:cNvPr>
          <p:cNvSpPr>
            <a:spLocks noGrp="1" noRot="1" noChangeAspect="1" noTextEdit="1"/>
          </p:cNvSpPr>
          <p:nvPr>
            <p:ph type="sldImg"/>
          </p:nvPr>
        </p:nvSpPr>
        <p:spPr>
          <a:ln/>
        </p:spPr>
      </p:sp>
      <p:sp>
        <p:nvSpPr>
          <p:cNvPr id="19459" name="Notes Placeholder 2">
            <a:extLst>
              <a:ext uri="{FF2B5EF4-FFF2-40B4-BE49-F238E27FC236}">
                <a16:creationId xmlns:a16="http://schemas.microsoft.com/office/drawing/2014/main" id="{94BE76A3-0E60-F19C-348D-B800D822B236}"/>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9702DCA4-07B0-4B15-E73C-79CCFBD46E74}"/>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0082D325-3692-43D9-9D38-7914569EC614}" type="slidenum">
              <a:rPr lang="en-US" altLang="en-US" sz="1200">
                <a:latin typeface="Times New Roman" panose="02020603050405020304" pitchFamily="18" charset="0"/>
              </a:rPr>
              <a:pPr eaLnBrk="1" hangingPunct="1"/>
              <a:t>7</a:t>
            </a:fld>
            <a:endParaRPr lang="en-US" altLang="en-US" sz="12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D15AFCFE-7CB2-1156-8C7C-F3118F7AB9E2}"/>
              </a:ext>
            </a:extLst>
          </p:cNvPr>
          <p:cNvSpPr>
            <a:spLocks noGrp="1" noRot="1" noChangeAspect="1" noTextEdit="1"/>
          </p:cNvSpPr>
          <p:nvPr>
            <p:ph type="sldImg"/>
          </p:nvPr>
        </p:nvSpPr>
        <p:spPr>
          <a:ln/>
        </p:spPr>
      </p:sp>
      <p:sp>
        <p:nvSpPr>
          <p:cNvPr id="20483" name="Notes Placeholder 2">
            <a:extLst>
              <a:ext uri="{FF2B5EF4-FFF2-40B4-BE49-F238E27FC236}">
                <a16:creationId xmlns:a16="http://schemas.microsoft.com/office/drawing/2014/main" id="{BB0599AB-3D03-3321-16B1-04A687A41260}"/>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083EC4AE-CB2F-E45D-1405-D86218A90F8F}"/>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97FF60E5-BA2F-4CEB-8BA9-75021B4DD8CD}" type="slidenum">
              <a:rPr lang="en-US" altLang="en-US" sz="1200">
                <a:latin typeface="Times New Roman" panose="02020603050405020304" pitchFamily="18" charset="0"/>
              </a:rPr>
              <a:pPr eaLnBrk="1" hangingPunct="1"/>
              <a:t>8</a:t>
            </a:fld>
            <a:endParaRPr lang="en-US" altLang="en-US" sz="120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5D225A77-1CD6-24EE-BA61-35F8E83D6308}"/>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72532CC6-9D81-C417-2764-E800208A2413}"/>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37E00B3E-3757-0C9A-5F03-EA380A9A1B28}"/>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8BC59BF5-3D12-4BDD-A81D-22AA2AC38D29}" type="slidenum">
              <a:rPr lang="en-US" altLang="en-US" sz="1200">
                <a:latin typeface="Times New Roman" panose="02020603050405020304" pitchFamily="18" charset="0"/>
              </a:rPr>
              <a:pPr eaLnBrk="1" hangingPunct="1"/>
              <a:t>9</a:t>
            </a:fld>
            <a:endParaRPr lang="en-US" altLang="en-US" sz="120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FC07D5C6-4E94-CB04-DEAB-4B01C179E1D4}"/>
              </a:ext>
            </a:extLst>
          </p:cNvPr>
          <p:cNvSpPr>
            <a:spLocks noGrp="1" noRot="1" noChangeAspect="1" noTextEdit="1"/>
          </p:cNvSpPr>
          <p:nvPr>
            <p:ph type="sldImg"/>
          </p:nvPr>
        </p:nvSpPr>
        <p:spPr>
          <a:ln/>
        </p:spPr>
      </p:sp>
      <p:sp>
        <p:nvSpPr>
          <p:cNvPr id="22531" name="Notes Placeholder 2">
            <a:extLst>
              <a:ext uri="{FF2B5EF4-FFF2-40B4-BE49-F238E27FC236}">
                <a16:creationId xmlns:a16="http://schemas.microsoft.com/office/drawing/2014/main" id="{8176CE18-2428-B63C-29AD-B734E66C259E}"/>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15A75D01-D160-09E8-D3B6-6C8FCAA3590D}"/>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47B39461-5E4D-4850-AEBC-D5D37B5B8B74}" type="slidenum">
              <a:rPr lang="en-US" altLang="en-US" sz="1200">
                <a:latin typeface="Times New Roman" panose="02020603050405020304" pitchFamily="18" charset="0"/>
              </a:rPr>
              <a:pPr eaLnBrk="1" hangingPunct="1"/>
              <a:t>10</a:t>
            </a:fld>
            <a:endParaRPr lang="en-US" altLang="en-US" sz="120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484D899F-6D36-B8FC-184E-8DA2C97EE099}"/>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63BFE488-DCE8-34FD-A1F5-24342DC056E2}"/>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33433CE9-5A76-0700-18EC-610B64485D84}"/>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10F4F1BF-4E89-4A72-B65E-CDFE8199CD5C}" type="slidenum">
              <a:rPr lang="en-US" altLang="en-US" sz="1200">
                <a:latin typeface="Times New Roman" panose="02020603050405020304" pitchFamily="18" charset="0"/>
              </a:rPr>
              <a:pPr eaLnBrk="1" hangingPunct="1"/>
              <a:t>11</a:t>
            </a:fld>
            <a:endParaRPr lang="en-US" altLang="en-US" sz="120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D57E0292-E770-C054-184E-BC64115C9947}"/>
              </a:ext>
            </a:extLst>
          </p:cNvPr>
          <p:cNvSpPr>
            <a:spLocks noGrp="1" noRot="1" noChangeAspect="1" noChangeArrowheads="1" noTextEdit="1"/>
          </p:cNvSpPr>
          <p:nvPr>
            <p:ph type="sldImg"/>
          </p:nvPr>
        </p:nvSpPr>
        <p:spPr>
          <a:ln/>
        </p:spPr>
      </p:sp>
      <p:sp>
        <p:nvSpPr>
          <p:cNvPr id="4099" name="Notes Placeholder 2">
            <a:extLst>
              <a:ext uri="{FF2B5EF4-FFF2-40B4-BE49-F238E27FC236}">
                <a16:creationId xmlns:a16="http://schemas.microsoft.com/office/drawing/2014/main" id="{CEA9822F-D27C-A86B-C8A4-0AC775C8CCF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4100" name="Slide Number Placeholder 3">
            <a:extLst>
              <a:ext uri="{FF2B5EF4-FFF2-40B4-BE49-F238E27FC236}">
                <a16:creationId xmlns:a16="http://schemas.microsoft.com/office/drawing/2014/main" id="{4CADFDDF-8A61-2FD2-EB2B-AB0112FD05A9}"/>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B835291-0501-4485-BF9E-B7C4EA89824D}" type="slidenum">
              <a:rPr lang="en-US" altLang="en-US"/>
              <a:pPr>
                <a:spcBef>
                  <a:spcPct val="0"/>
                </a:spcBef>
              </a:pPr>
              <a:t>12</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E61531B4-E9CA-389E-2B51-146EC943182B}"/>
              </a:ext>
            </a:extLst>
          </p:cNvPr>
          <p:cNvSpPr>
            <a:spLocks noGrp="1" noRot="1" noChangeAspect="1" noChangeArrowheads="1" noTextEdit="1"/>
          </p:cNvSpPr>
          <p:nvPr>
            <p:ph type="sldImg"/>
          </p:nvPr>
        </p:nvSpPr>
        <p:spPr>
          <a:ln/>
        </p:spPr>
      </p:sp>
      <p:sp>
        <p:nvSpPr>
          <p:cNvPr id="6147" name="Notes Placeholder 2">
            <a:extLst>
              <a:ext uri="{FF2B5EF4-FFF2-40B4-BE49-F238E27FC236}">
                <a16:creationId xmlns:a16="http://schemas.microsoft.com/office/drawing/2014/main" id="{5271FCFC-92FA-7D81-5F84-6577B0FC117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6148" name="Slide Number Placeholder 3">
            <a:extLst>
              <a:ext uri="{FF2B5EF4-FFF2-40B4-BE49-F238E27FC236}">
                <a16:creationId xmlns:a16="http://schemas.microsoft.com/office/drawing/2014/main" id="{D025C181-6237-3636-860C-0FC634045F32}"/>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34280F2-08C7-432C-BACC-8FA2D74416FD}" type="slidenum">
              <a:rPr lang="en-US" altLang="en-US"/>
              <a:pPr>
                <a:spcBef>
                  <a:spcPct val="0"/>
                </a:spcBef>
              </a:pPr>
              <a:t>13</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853BBF79-2671-944A-967E-6E0EFDFCFCBD}"/>
              </a:ext>
            </a:extLst>
          </p:cNvPr>
          <p:cNvSpPr>
            <a:spLocks noGrp="1" noRot="1" noChangeAspect="1" noChangeArrowheads="1" noTextEdit="1"/>
          </p:cNvSpPr>
          <p:nvPr>
            <p:ph type="sldImg"/>
          </p:nvPr>
        </p:nvSpPr>
        <p:spPr>
          <a:ln/>
        </p:spPr>
      </p:sp>
      <p:sp>
        <p:nvSpPr>
          <p:cNvPr id="8195" name="Notes Placeholder 2">
            <a:extLst>
              <a:ext uri="{FF2B5EF4-FFF2-40B4-BE49-F238E27FC236}">
                <a16:creationId xmlns:a16="http://schemas.microsoft.com/office/drawing/2014/main" id="{2AC75B3D-4E55-6AB9-0F38-FE56D4E74C7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8196" name="Slide Number Placeholder 3">
            <a:extLst>
              <a:ext uri="{FF2B5EF4-FFF2-40B4-BE49-F238E27FC236}">
                <a16:creationId xmlns:a16="http://schemas.microsoft.com/office/drawing/2014/main" id="{C699286C-18A3-4F73-66BB-DBACFC445443}"/>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30224B4-B802-4351-872B-4C01420CC7B4}" type="slidenum">
              <a:rPr lang="en-US" altLang="en-US"/>
              <a:pPr>
                <a:spcBef>
                  <a:spcPct val="0"/>
                </a:spcBef>
              </a:pPr>
              <a:t>14</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818206FB-B178-6014-9FAB-EF959C12BEA8}"/>
              </a:ext>
            </a:extLst>
          </p:cNvPr>
          <p:cNvSpPr>
            <a:spLocks noGrp="1" noRot="1" noChangeAspect="1" noChangeArrowheads="1" noTextEdit="1"/>
          </p:cNvSpPr>
          <p:nvPr>
            <p:ph type="sldImg"/>
          </p:nvPr>
        </p:nvSpPr>
        <p:spPr>
          <a:ln/>
        </p:spPr>
      </p:sp>
      <p:sp>
        <p:nvSpPr>
          <p:cNvPr id="4099" name="Notes Placeholder 2">
            <a:extLst>
              <a:ext uri="{FF2B5EF4-FFF2-40B4-BE49-F238E27FC236}">
                <a16:creationId xmlns:a16="http://schemas.microsoft.com/office/drawing/2014/main" id="{C642A7E7-6D3F-7065-ED46-72D85DFBB63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4100" name="Slide Number Placeholder 3">
            <a:extLst>
              <a:ext uri="{FF2B5EF4-FFF2-40B4-BE49-F238E27FC236}">
                <a16:creationId xmlns:a16="http://schemas.microsoft.com/office/drawing/2014/main" id="{7F2001E4-74D4-1BCA-B4AF-897873185141}"/>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F5DB6C1-7A5E-4ED5-94A4-0DD7BB3E10B5}" type="slidenum">
              <a:rPr lang="en-US" altLang="en-US"/>
              <a:pPr>
                <a:spcBef>
                  <a:spcPct val="0"/>
                </a:spcBef>
              </a:pPr>
              <a:t>15</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8E14A86B-3867-A096-C107-3886F9EBAFC7}"/>
              </a:ext>
            </a:extLst>
          </p:cNvPr>
          <p:cNvSpPr>
            <a:spLocks noGrp="1" noRot="1" noChangeAspect="1" noChangeArrowheads="1" noTextEdit="1"/>
          </p:cNvSpPr>
          <p:nvPr>
            <p:ph type="sldImg"/>
          </p:nvPr>
        </p:nvSpPr>
        <p:spPr>
          <a:ln/>
        </p:spPr>
      </p:sp>
      <p:sp>
        <p:nvSpPr>
          <p:cNvPr id="6147" name="Notes Placeholder 2">
            <a:extLst>
              <a:ext uri="{FF2B5EF4-FFF2-40B4-BE49-F238E27FC236}">
                <a16:creationId xmlns:a16="http://schemas.microsoft.com/office/drawing/2014/main" id="{A93560A1-E381-6BCA-F47E-08A73C5F741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6148" name="Slide Number Placeholder 3">
            <a:extLst>
              <a:ext uri="{FF2B5EF4-FFF2-40B4-BE49-F238E27FC236}">
                <a16:creationId xmlns:a16="http://schemas.microsoft.com/office/drawing/2014/main" id="{2F973051-D219-302C-F5CA-5C2E12D87171}"/>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8DB2E5A-0882-46E7-9F1F-89182D54414A}" type="slidenum">
              <a:rPr lang="en-US" altLang="en-US"/>
              <a:pPr>
                <a:spcBef>
                  <a:spcPct val="0"/>
                </a:spcBef>
              </a:pPr>
              <a:t>16</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66E25EBC-7A4A-AB67-7A3E-8E13944BAE09}"/>
              </a:ext>
            </a:extLst>
          </p:cNvPr>
          <p:cNvSpPr>
            <a:spLocks noGrp="1" noRot="1" noChangeAspect="1" noChangeArrowheads="1" noTextEdit="1"/>
          </p:cNvSpPr>
          <p:nvPr>
            <p:ph type="sldImg"/>
          </p:nvPr>
        </p:nvSpPr>
        <p:spPr>
          <a:ln/>
        </p:spPr>
      </p:sp>
      <p:sp>
        <p:nvSpPr>
          <p:cNvPr id="8195" name="Notes Placeholder 2">
            <a:extLst>
              <a:ext uri="{FF2B5EF4-FFF2-40B4-BE49-F238E27FC236}">
                <a16:creationId xmlns:a16="http://schemas.microsoft.com/office/drawing/2014/main" id="{40443C89-CDCF-93E8-BEB7-946F144E3E9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8196" name="Slide Number Placeholder 3">
            <a:extLst>
              <a:ext uri="{FF2B5EF4-FFF2-40B4-BE49-F238E27FC236}">
                <a16:creationId xmlns:a16="http://schemas.microsoft.com/office/drawing/2014/main" id="{D99DC875-D434-0506-1615-B2906D45984A}"/>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F6FF49E-B19D-49E3-81AA-E69F30E49952}" type="slidenum">
              <a:rPr lang="en-US" altLang="en-US"/>
              <a:pPr>
                <a:spcBef>
                  <a:spcPct val="0"/>
                </a:spcBef>
              </a:pPr>
              <a:t>17</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DB932C01-C420-CE02-08CE-20C27D21EEC6}"/>
              </a:ext>
            </a:extLst>
          </p:cNvPr>
          <p:cNvSpPr>
            <a:spLocks noGrp="1" noRot="1" noChangeAspect="1" noChangeArrowheads="1" noTextEdit="1"/>
          </p:cNvSpPr>
          <p:nvPr>
            <p:ph type="sldImg"/>
          </p:nvPr>
        </p:nvSpPr>
        <p:spPr>
          <a:ln/>
        </p:spPr>
      </p:sp>
      <p:sp>
        <p:nvSpPr>
          <p:cNvPr id="10243" name="Notes Placeholder 2">
            <a:extLst>
              <a:ext uri="{FF2B5EF4-FFF2-40B4-BE49-F238E27FC236}">
                <a16:creationId xmlns:a16="http://schemas.microsoft.com/office/drawing/2014/main" id="{77A1D031-C40A-D0DF-0839-EAF6A36B8A0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10244" name="Slide Number Placeholder 3">
            <a:extLst>
              <a:ext uri="{FF2B5EF4-FFF2-40B4-BE49-F238E27FC236}">
                <a16:creationId xmlns:a16="http://schemas.microsoft.com/office/drawing/2014/main" id="{A03A0EBD-0351-9DD5-FAA4-AADF7EFDCD64}"/>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FA0FB05-EE57-4586-9CF8-0F2C5632A916}" type="slidenum">
              <a:rPr lang="en-US" altLang="en-US"/>
              <a:pPr>
                <a:spcBef>
                  <a:spcPct val="0"/>
                </a:spcBef>
              </a:pPr>
              <a:t>18</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AB13B897-75E5-6F5C-9398-B9573DAC715F}"/>
              </a:ext>
            </a:extLst>
          </p:cNvPr>
          <p:cNvSpPr>
            <a:spLocks noGrp="1" noRot="1" noChangeAspect="1" noChangeArrowheads="1" noTextEdit="1"/>
          </p:cNvSpPr>
          <p:nvPr>
            <p:ph type="sldImg"/>
          </p:nvPr>
        </p:nvSpPr>
        <p:spPr>
          <a:ln/>
        </p:spPr>
      </p:sp>
      <p:sp>
        <p:nvSpPr>
          <p:cNvPr id="12291" name="Notes Placeholder 2">
            <a:extLst>
              <a:ext uri="{FF2B5EF4-FFF2-40B4-BE49-F238E27FC236}">
                <a16:creationId xmlns:a16="http://schemas.microsoft.com/office/drawing/2014/main" id="{A15A0DF4-F829-8FE3-9509-4B9D2720ECE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12292" name="Slide Number Placeholder 3">
            <a:extLst>
              <a:ext uri="{FF2B5EF4-FFF2-40B4-BE49-F238E27FC236}">
                <a16:creationId xmlns:a16="http://schemas.microsoft.com/office/drawing/2014/main" id="{F7DF75B2-3250-38D2-E534-43F7BADF5916}"/>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82B2DCA-94F3-4B24-8F20-4DDBD419B772}" type="slidenum">
              <a:rPr lang="en-US" altLang="en-US"/>
              <a:pPr>
                <a:spcBef>
                  <a:spcPct val="0"/>
                </a:spcBef>
              </a:pPr>
              <a:t>19</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FD9948CD-332B-BFBF-1FA5-CD1648D12018}"/>
              </a:ext>
            </a:extLst>
          </p:cNvPr>
          <p:cNvSpPr>
            <a:spLocks noGrp="1" noRot="1" noChangeAspect="1" noChangeArrowheads="1" noTextEdit="1"/>
          </p:cNvSpPr>
          <p:nvPr>
            <p:ph type="sldImg"/>
          </p:nvPr>
        </p:nvSpPr>
        <p:spPr>
          <a:ln/>
        </p:spPr>
      </p:sp>
      <p:sp>
        <p:nvSpPr>
          <p:cNvPr id="14339" name="Notes Placeholder 2">
            <a:extLst>
              <a:ext uri="{FF2B5EF4-FFF2-40B4-BE49-F238E27FC236}">
                <a16:creationId xmlns:a16="http://schemas.microsoft.com/office/drawing/2014/main" id="{458530BB-50F9-28BB-A4DC-27E3F0EFD9E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14340" name="Slide Number Placeholder 3">
            <a:extLst>
              <a:ext uri="{FF2B5EF4-FFF2-40B4-BE49-F238E27FC236}">
                <a16:creationId xmlns:a16="http://schemas.microsoft.com/office/drawing/2014/main" id="{F0AF3E23-A2B1-2D80-213D-0033A50ACA0E}"/>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26E085A-FFE2-4B0F-8623-A357AF6E7709}" type="slidenum">
              <a:rPr lang="en-US" altLang="en-US"/>
              <a:pPr>
                <a:spcBef>
                  <a:spcPct val="0"/>
                </a:spcBef>
              </a:pPr>
              <a:t>20</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5984D771-5515-FDDF-ED93-56E48B9D90BE}"/>
              </a:ext>
            </a:extLst>
          </p:cNvPr>
          <p:cNvSpPr>
            <a:spLocks noGrp="1" noRot="1" noChangeAspect="1" noChangeArrowheads="1" noTextEdit="1"/>
          </p:cNvSpPr>
          <p:nvPr>
            <p:ph type="sldImg"/>
          </p:nvPr>
        </p:nvSpPr>
        <p:spPr>
          <a:ln/>
        </p:spPr>
      </p:sp>
      <p:sp>
        <p:nvSpPr>
          <p:cNvPr id="16387" name="Notes Placeholder 2">
            <a:extLst>
              <a:ext uri="{FF2B5EF4-FFF2-40B4-BE49-F238E27FC236}">
                <a16:creationId xmlns:a16="http://schemas.microsoft.com/office/drawing/2014/main" id="{2BF91C91-59EB-D7BF-C5AC-E85FA5EA74B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16388" name="Slide Number Placeholder 3">
            <a:extLst>
              <a:ext uri="{FF2B5EF4-FFF2-40B4-BE49-F238E27FC236}">
                <a16:creationId xmlns:a16="http://schemas.microsoft.com/office/drawing/2014/main" id="{FD914C5B-3184-F0F0-C452-1DD732E20D43}"/>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2872898-05F6-4371-BDEE-3C3C49069B0C}" type="slidenum">
              <a:rPr lang="en-US" altLang="en-US"/>
              <a:pPr>
                <a:spcBef>
                  <a:spcPct val="0"/>
                </a:spcBef>
              </a:pPr>
              <a:t>21</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799505BD-5BC3-EAE2-8D5D-2B616B4963B2}"/>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2E8ADE6D-9C6D-DEAA-45DE-78234045939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20484" name="Slide Number Placeholder 3">
            <a:extLst>
              <a:ext uri="{FF2B5EF4-FFF2-40B4-BE49-F238E27FC236}">
                <a16:creationId xmlns:a16="http://schemas.microsoft.com/office/drawing/2014/main" id="{BFABC4A6-A560-D140-4160-25679037B97F}"/>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908CA7A-918A-4E00-ACB5-165F3AC78675}" type="slidenum">
              <a:rPr lang="en-US" altLang="en-US"/>
              <a:pPr>
                <a:spcBef>
                  <a:spcPct val="0"/>
                </a:spcBef>
              </a:pPr>
              <a:t>22</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82114989-4C37-A60A-A4B0-86CFD83CC252}"/>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69A89805-2002-B737-A9A9-CB859E45E1D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22532" name="Slide Number Placeholder 3">
            <a:extLst>
              <a:ext uri="{FF2B5EF4-FFF2-40B4-BE49-F238E27FC236}">
                <a16:creationId xmlns:a16="http://schemas.microsoft.com/office/drawing/2014/main" id="{3A55BF9F-81D0-97ED-23D4-BC031AB151DD}"/>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02BA63-C794-4065-B151-E58AA73A6D89}" type="slidenum">
              <a:rPr lang="en-US" altLang="en-US"/>
              <a:pPr>
                <a:spcBef>
                  <a:spcPct val="0"/>
                </a:spcBef>
              </a:pPr>
              <a:t>23</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A7538502-5943-D079-3A94-DE864F0A6AF4}"/>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5264CBC4-8AC0-0988-3342-FC266E3C11A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24580" name="Slide Number Placeholder 3">
            <a:extLst>
              <a:ext uri="{FF2B5EF4-FFF2-40B4-BE49-F238E27FC236}">
                <a16:creationId xmlns:a16="http://schemas.microsoft.com/office/drawing/2014/main" id="{13D8C664-CF10-3D23-7A3E-CF1C4C117E4A}"/>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3413DB2-E3E6-42B2-A2AF-14104A860F64}" type="slidenum">
              <a:rPr lang="en-US" altLang="en-US"/>
              <a:pPr>
                <a:spcBef>
                  <a:spcPct val="0"/>
                </a:spcBef>
              </a:pPr>
              <a:t>24</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334B9278-FB30-61FF-0584-352C321A7DAA}"/>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a16="http://schemas.microsoft.com/office/drawing/2014/main" id="{8B58719A-B70C-99F0-291B-BE460223337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26628" name="Slide Number Placeholder 3">
            <a:extLst>
              <a:ext uri="{FF2B5EF4-FFF2-40B4-BE49-F238E27FC236}">
                <a16:creationId xmlns:a16="http://schemas.microsoft.com/office/drawing/2014/main" id="{F8D1A2BD-E6C2-43E3-F7B9-0BD48FA290B8}"/>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50FAFAE-B1C7-4F19-8C1E-7E535B1BB586}" type="slidenum">
              <a:rPr lang="en-US" altLang="en-US"/>
              <a:pPr>
                <a:spcBef>
                  <a:spcPct val="0"/>
                </a:spcBef>
              </a:pPr>
              <a:t>25</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17DDFDD4-8C40-C2E0-C5A8-5A66D49DDCE7}"/>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E4A23423-5617-9784-531C-17E14233061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28676" name="Slide Number Placeholder 3">
            <a:extLst>
              <a:ext uri="{FF2B5EF4-FFF2-40B4-BE49-F238E27FC236}">
                <a16:creationId xmlns:a16="http://schemas.microsoft.com/office/drawing/2014/main" id="{8BB8CCED-BF29-876E-957F-EA9D4E33CA19}"/>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907AEC0-3144-46E3-9205-05EA736C0C9E}" type="slidenum">
              <a:rPr lang="en-US" altLang="en-US"/>
              <a:pPr>
                <a:spcBef>
                  <a:spcPct val="0"/>
                </a:spcBef>
              </a:pPr>
              <a:t>26</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1FECDB20-C7D9-53A6-5ABF-C413659E7269}"/>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87D7E6FB-FC1C-F881-C212-FE2F8FC80FC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30724" name="Slide Number Placeholder 3">
            <a:extLst>
              <a:ext uri="{FF2B5EF4-FFF2-40B4-BE49-F238E27FC236}">
                <a16:creationId xmlns:a16="http://schemas.microsoft.com/office/drawing/2014/main" id="{3768988C-3F66-9F63-3FDD-B0EB50FC31B3}"/>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325E498-9B7E-45A4-812A-BEC0D43658C4}" type="slidenum">
              <a:rPr lang="en-US" altLang="en-US"/>
              <a:pPr>
                <a:spcBef>
                  <a:spcPct val="0"/>
                </a:spcBef>
              </a:pPr>
              <a:t>27</a:t>
            </a:fld>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F7E8A653-D15A-FFF3-095F-8E8C7FB79214}"/>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89B3F971-650A-45F6-286D-DC03208C6C2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32772" name="Slide Number Placeholder 3">
            <a:extLst>
              <a:ext uri="{FF2B5EF4-FFF2-40B4-BE49-F238E27FC236}">
                <a16:creationId xmlns:a16="http://schemas.microsoft.com/office/drawing/2014/main" id="{61D5FD6D-092B-D65B-CE0E-DC19B4A4BD63}"/>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66922FF-4A77-4195-8112-E4850830B808}" type="slidenum">
              <a:rPr lang="en-US" altLang="en-US"/>
              <a:pPr>
                <a:spcBef>
                  <a:spcPct val="0"/>
                </a:spcBef>
              </a:pPr>
              <a:t>28</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A92AAA03-94B9-72CD-672C-2D45D9978775}"/>
              </a:ext>
            </a:extLst>
          </p:cNvPr>
          <p:cNvSpPr>
            <a:spLocks noGrp="1" noRot="1" noChangeAspect="1" noChangeArrowheads="1" noTextEdit="1"/>
          </p:cNvSpPr>
          <p:nvPr>
            <p:ph type="sldImg"/>
          </p:nvPr>
        </p:nvSpPr>
        <p:spPr>
          <a:ln/>
        </p:spPr>
      </p:sp>
      <p:sp>
        <p:nvSpPr>
          <p:cNvPr id="34819" name="Notes Placeholder 2">
            <a:extLst>
              <a:ext uri="{FF2B5EF4-FFF2-40B4-BE49-F238E27FC236}">
                <a16:creationId xmlns:a16="http://schemas.microsoft.com/office/drawing/2014/main" id="{72081D29-05AC-7199-C6AB-E3C72102CF8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34820" name="Slide Number Placeholder 3">
            <a:extLst>
              <a:ext uri="{FF2B5EF4-FFF2-40B4-BE49-F238E27FC236}">
                <a16:creationId xmlns:a16="http://schemas.microsoft.com/office/drawing/2014/main" id="{DC6C1B4C-815F-E643-D736-919406892615}"/>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321E1A5-B8A4-4920-B75E-304F47315FFE}" type="slidenum">
              <a:rPr lang="en-US" altLang="en-US"/>
              <a:pPr>
                <a:spcBef>
                  <a:spcPct val="0"/>
                </a:spcBef>
              </a:pPr>
              <a:t>29</a:t>
            </a:fld>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554B93C2-8413-9F81-1B02-D338632C55DD}"/>
              </a:ext>
            </a:extLst>
          </p:cNvPr>
          <p:cNvSpPr>
            <a:spLocks noGrp="1" noRot="1" noChangeAspect="1" noChangeArrowheads="1" noTextEdit="1"/>
          </p:cNvSpPr>
          <p:nvPr>
            <p:ph type="sldImg"/>
          </p:nvPr>
        </p:nvSpPr>
        <p:spPr>
          <a:ln/>
        </p:spPr>
      </p:sp>
      <p:sp>
        <p:nvSpPr>
          <p:cNvPr id="36867" name="Notes Placeholder 2">
            <a:extLst>
              <a:ext uri="{FF2B5EF4-FFF2-40B4-BE49-F238E27FC236}">
                <a16:creationId xmlns:a16="http://schemas.microsoft.com/office/drawing/2014/main" id="{BD90CBBC-841C-E7DD-D294-3B136228376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36868" name="Slide Number Placeholder 3">
            <a:extLst>
              <a:ext uri="{FF2B5EF4-FFF2-40B4-BE49-F238E27FC236}">
                <a16:creationId xmlns:a16="http://schemas.microsoft.com/office/drawing/2014/main" id="{9162F203-E9A6-2BC0-096E-F4E8B94D43B3}"/>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AEDFD0A-F7F6-4FE1-A66A-940595D2866F}" type="slidenum">
              <a:rPr lang="en-US" altLang="en-US"/>
              <a:pPr>
                <a:spcBef>
                  <a:spcPct val="0"/>
                </a:spcBef>
              </a:pPr>
              <a:t>30</a:t>
            </a:fld>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D4410FDC-E0A7-31CA-337C-B5FA5C8A49D5}"/>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a16="http://schemas.microsoft.com/office/drawing/2014/main" id="{031356E2-6CCA-507E-1BDE-3BE9C08260A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
        <p:nvSpPr>
          <p:cNvPr id="38916" name="Slide Number Placeholder 3">
            <a:extLst>
              <a:ext uri="{FF2B5EF4-FFF2-40B4-BE49-F238E27FC236}">
                <a16:creationId xmlns:a16="http://schemas.microsoft.com/office/drawing/2014/main" id="{935B61AD-84A5-FD7B-2A55-503095C5480B}"/>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F096B75-6C57-4B33-A8EC-4A8ADC214B21}" type="slidenum">
              <a:rPr lang="en-US" altLang="en-US"/>
              <a:pPr>
                <a:spcBef>
                  <a:spcPct val="0"/>
                </a:spcBef>
              </a:pPr>
              <a:t>31</a:t>
            </a:fld>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2F02FEC2-9639-4B3E-8EA8-A83824A3DA9C}"/>
              </a:ext>
            </a:extLst>
          </p:cNvPr>
          <p:cNvSpPr>
            <a:spLocks noGrp="1" noRot="1" noChangeAspect="1" noTextEdit="1"/>
          </p:cNvSpPr>
          <p:nvPr>
            <p:ph type="sldImg"/>
          </p:nvPr>
        </p:nvSpPr>
        <p:spPr>
          <a:ln/>
        </p:spPr>
      </p:sp>
      <p:sp>
        <p:nvSpPr>
          <p:cNvPr id="18435" name="Notes Placeholder 2">
            <a:extLst>
              <a:ext uri="{FF2B5EF4-FFF2-40B4-BE49-F238E27FC236}">
                <a16:creationId xmlns:a16="http://schemas.microsoft.com/office/drawing/2014/main" id="{E20AAC03-A88E-97D2-E76C-506B364DDCCD}"/>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D2EDDFA6-4586-8CC6-819C-91E5F1A889AB}"/>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EC96484F-8E20-42FF-BD48-6D26A50C4C9B}" type="slidenum">
              <a:rPr lang="en-US" altLang="en-US" sz="1200">
                <a:latin typeface="Times New Roman" panose="02020603050405020304" pitchFamily="18" charset="0"/>
              </a:rPr>
              <a:pPr eaLnBrk="1" hangingPunct="1"/>
              <a:t>32</a:t>
            </a:fld>
            <a:endParaRPr lang="en-US" altLang="en-US" sz="1200">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DB383B6-F2DC-89C3-CB79-FF26EFAE8EFA}"/>
              </a:ext>
            </a:extLst>
          </p:cNvPr>
          <p:cNvSpPr>
            <a:spLocks noGrp="1" noRot="1" noChangeAspect="1" noTextEdit="1"/>
          </p:cNvSpPr>
          <p:nvPr>
            <p:ph type="sldImg"/>
          </p:nvPr>
        </p:nvSpPr>
        <p:spPr>
          <a:ln/>
        </p:spPr>
      </p:sp>
      <p:sp>
        <p:nvSpPr>
          <p:cNvPr id="19459" name="Notes Placeholder 2">
            <a:extLst>
              <a:ext uri="{FF2B5EF4-FFF2-40B4-BE49-F238E27FC236}">
                <a16:creationId xmlns:a16="http://schemas.microsoft.com/office/drawing/2014/main" id="{48749E8D-DD19-32E7-632C-54165BD2DA87}"/>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AA6C7419-2F8B-0D17-3A68-E3CB8E9DBE12}"/>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AC1DC7EC-43CC-4F57-A7C1-743B0EE87390}" type="slidenum">
              <a:rPr lang="en-US" altLang="en-US" sz="1200">
                <a:latin typeface="Times New Roman" panose="02020603050405020304" pitchFamily="18" charset="0"/>
              </a:rPr>
              <a:pPr eaLnBrk="1" hangingPunct="1"/>
              <a:t>33</a:t>
            </a:fld>
            <a:endParaRPr lang="en-US" altLang="en-US" sz="120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79086C28-9B6F-6693-5B9E-36D905575681}"/>
              </a:ext>
            </a:extLst>
          </p:cNvPr>
          <p:cNvSpPr>
            <a:spLocks noGrp="1" noRot="1" noChangeAspect="1" noTextEdit="1"/>
          </p:cNvSpPr>
          <p:nvPr>
            <p:ph type="sldImg"/>
          </p:nvPr>
        </p:nvSpPr>
        <p:spPr>
          <a:ln/>
        </p:spPr>
      </p:sp>
      <p:sp>
        <p:nvSpPr>
          <p:cNvPr id="20483" name="Notes Placeholder 2">
            <a:extLst>
              <a:ext uri="{FF2B5EF4-FFF2-40B4-BE49-F238E27FC236}">
                <a16:creationId xmlns:a16="http://schemas.microsoft.com/office/drawing/2014/main" id="{7B872BA4-5989-8B76-F4DA-071F7D2B15FF}"/>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537983D5-2446-F9AE-655A-B0BCFA97D556}"/>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F3CD2B7B-C320-449E-B46A-6CC053F8801C}" type="slidenum">
              <a:rPr lang="en-US" altLang="en-US" sz="1200">
                <a:latin typeface="Times New Roman" panose="02020603050405020304" pitchFamily="18" charset="0"/>
              </a:rPr>
              <a:pPr eaLnBrk="1" hangingPunct="1"/>
              <a:t>34</a:t>
            </a:fld>
            <a:endParaRPr lang="en-US" altLang="en-US" sz="1200">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CFA49AE8-6DDD-6EA6-9D5A-F98A55B6A8C3}"/>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0753DC27-171F-DFBF-733E-D54001E1B549}"/>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CB33D5BF-734D-7C98-9ACB-05D69CA3D03E}"/>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7810FF8B-AD43-4E1C-87E2-940E81015CDE}" type="slidenum">
              <a:rPr lang="en-US" altLang="en-US" sz="1200">
                <a:latin typeface="Times New Roman" panose="02020603050405020304" pitchFamily="18" charset="0"/>
              </a:rPr>
              <a:pPr eaLnBrk="1" hangingPunct="1"/>
              <a:t>35</a:t>
            </a:fld>
            <a:endParaRPr lang="en-US" altLang="en-US" sz="1200">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4244FED6-DEA1-ED36-AB01-015A49E992E3}"/>
              </a:ext>
            </a:extLst>
          </p:cNvPr>
          <p:cNvSpPr>
            <a:spLocks noGrp="1" noRot="1" noChangeAspect="1" noTextEdit="1"/>
          </p:cNvSpPr>
          <p:nvPr>
            <p:ph type="sldImg"/>
          </p:nvPr>
        </p:nvSpPr>
        <p:spPr>
          <a:ln/>
        </p:spPr>
      </p:sp>
      <p:sp>
        <p:nvSpPr>
          <p:cNvPr id="22531" name="Notes Placeholder 2">
            <a:extLst>
              <a:ext uri="{FF2B5EF4-FFF2-40B4-BE49-F238E27FC236}">
                <a16:creationId xmlns:a16="http://schemas.microsoft.com/office/drawing/2014/main" id="{4156A067-2174-2299-E528-9856C7803CF7}"/>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4F99700D-726B-264D-EDC2-89860CA4F751}"/>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2072B51D-8E26-4831-AE38-5169027F5DFF}" type="slidenum">
              <a:rPr lang="en-US" altLang="en-US" sz="1200">
                <a:latin typeface="Times New Roman" panose="02020603050405020304" pitchFamily="18" charset="0"/>
              </a:rPr>
              <a:pPr eaLnBrk="1" hangingPunct="1"/>
              <a:t>36</a:t>
            </a:fld>
            <a:endParaRPr lang="en-US" altLang="en-US" sz="120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12F56C39-EB56-1618-54B6-25EC719EAB9C}"/>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5E9CACC8-CD30-3489-E372-1765992168FB}"/>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A2340750-7AF4-70E1-EC55-52B9D73A5C63}"/>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9AE62E7A-8714-47D6-AA45-B7C86907B8D0}" type="slidenum">
              <a:rPr lang="en-US" altLang="en-US" sz="1200">
                <a:latin typeface="Times New Roman" panose="02020603050405020304" pitchFamily="18" charset="0"/>
              </a:rPr>
              <a:pPr eaLnBrk="1" hangingPunct="1"/>
              <a:t>37</a:t>
            </a:fld>
            <a:endParaRPr lang="en-US" altLang="en-US" sz="120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30AE9456-4A55-5103-71C1-E1493F2BEF40}"/>
              </a:ext>
            </a:extLst>
          </p:cNvPr>
          <p:cNvSpPr>
            <a:spLocks noGrp="1" noRot="1" noChangeAspect="1" noTextEdit="1"/>
          </p:cNvSpPr>
          <p:nvPr>
            <p:ph type="sldImg"/>
          </p:nvPr>
        </p:nvSpPr>
        <p:spPr>
          <a:ln/>
        </p:spPr>
      </p:sp>
      <p:sp>
        <p:nvSpPr>
          <p:cNvPr id="24579" name="Notes Placeholder 2">
            <a:extLst>
              <a:ext uri="{FF2B5EF4-FFF2-40B4-BE49-F238E27FC236}">
                <a16:creationId xmlns:a16="http://schemas.microsoft.com/office/drawing/2014/main" id="{012E4F11-542D-8CA2-A4E9-FD7241EE7E84}"/>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2151DDA9-84BD-B8DD-731E-949508E7F713}"/>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E22E40D1-BEAB-4851-8FA3-824CCCE39C86}" type="slidenum">
              <a:rPr lang="en-US" altLang="en-US" sz="1200">
                <a:latin typeface="Times New Roman" panose="02020603050405020304" pitchFamily="18" charset="0"/>
              </a:rPr>
              <a:pPr eaLnBrk="1" hangingPunct="1"/>
              <a:t>38</a:t>
            </a:fld>
            <a:endParaRPr lang="en-US" altLang="en-US" sz="120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B3969489-9ABF-5DAC-4D28-D8AFDD24C259}"/>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id="{24D92817-B1BD-459C-A778-2D608C0C6A86}"/>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3ADA9240-A591-08C7-482C-FC1918A1867D}"/>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F226DFF5-6316-49FA-8D7C-F7B2867BCF93}" type="slidenum">
              <a:rPr lang="en-US" altLang="en-US" sz="1200">
                <a:latin typeface="Times New Roman" panose="02020603050405020304" pitchFamily="18" charset="0"/>
              </a:rPr>
              <a:pPr eaLnBrk="1" hangingPunct="1"/>
              <a:t>39</a:t>
            </a:fld>
            <a:endParaRPr lang="en-US" altLang="en-US" sz="120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37040F8C-46FC-CB5D-2FEB-66236FB78958}"/>
              </a:ext>
            </a:extLst>
          </p:cNvPr>
          <p:cNvSpPr>
            <a:spLocks noGrp="1" noRot="1" noChangeAspect="1" noTextEdit="1"/>
          </p:cNvSpPr>
          <p:nvPr>
            <p:ph type="sldImg"/>
          </p:nvPr>
        </p:nvSpPr>
        <p:spPr>
          <a:ln/>
        </p:spPr>
      </p:sp>
      <p:sp>
        <p:nvSpPr>
          <p:cNvPr id="26627" name="Notes Placeholder 2">
            <a:extLst>
              <a:ext uri="{FF2B5EF4-FFF2-40B4-BE49-F238E27FC236}">
                <a16:creationId xmlns:a16="http://schemas.microsoft.com/office/drawing/2014/main" id="{07753F17-C95D-2631-68E1-64D45BF2A65E}"/>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71885F81-EC6C-DF74-843E-16643550D6BC}"/>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015872CA-9A50-4B3D-BE42-7C28D11FCEBD}" type="slidenum">
              <a:rPr lang="en-US" altLang="en-US" sz="1200">
                <a:latin typeface="Times New Roman" panose="02020603050405020304" pitchFamily="18" charset="0"/>
              </a:rPr>
              <a:pPr eaLnBrk="1" hangingPunct="1"/>
              <a:t>40</a:t>
            </a:fld>
            <a:endParaRPr lang="en-US" altLang="en-US" sz="1200">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51FA7FE8-2993-3619-D005-D4CCFD44372C}"/>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3AB0CE69-EC72-C97E-F156-E0BC1B4BE58B}"/>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76618FC3-DAF3-A526-DB75-9214007FCD10}"/>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536A7C64-8275-4004-89FC-EF51FAC9A349}" type="slidenum">
              <a:rPr lang="en-US" altLang="en-US" sz="1200">
                <a:latin typeface="Times New Roman" panose="02020603050405020304" pitchFamily="18" charset="0"/>
              </a:rPr>
              <a:pPr eaLnBrk="1" hangingPunct="1"/>
              <a:t>41</a:t>
            </a:fld>
            <a:endParaRPr lang="en-US" altLang="en-US" sz="120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4A0C3FF6-E1E1-9B75-4BBC-45B7F495D28C}"/>
              </a:ext>
            </a:extLst>
          </p:cNvPr>
          <p:cNvSpPr>
            <a:spLocks noGrp="1" noRot="1" noChangeAspect="1" noTextEdit="1"/>
          </p:cNvSpPr>
          <p:nvPr>
            <p:ph type="sldImg"/>
          </p:nvPr>
        </p:nvSpPr>
        <p:spPr>
          <a:ln/>
        </p:spPr>
      </p:sp>
      <p:sp>
        <p:nvSpPr>
          <p:cNvPr id="28675" name="Notes Placeholder 2">
            <a:extLst>
              <a:ext uri="{FF2B5EF4-FFF2-40B4-BE49-F238E27FC236}">
                <a16:creationId xmlns:a16="http://schemas.microsoft.com/office/drawing/2014/main" id="{47C104F4-224E-DB73-FFE1-BFEB1761EED8}"/>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B1D94E7D-D53B-3759-E5D0-BFAD1A529BF3}"/>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53B540E4-B232-4C44-8F8E-9884C6476EA5}" type="slidenum">
              <a:rPr lang="en-US" altLang="en-US" sz="1200">
                <a:latin typeface="Times New Roman" panose="02020603050405020304" pitchFamily="18" charset="0"/>
              </a:rPr>
              <a:pPr eaLnBrk="1" hangingPunct="1"/>
              <a:t>42</a:t>
            </a:fld>
            <a:endParaRPr lang="en-US" altLang="en-US" sz="1200">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3E2C4CC6-3F76-E2FE-409F-5FEE6BFBDEDC}"/>
              </a:ext>
            </a:extLst>
          </p:cNvPr>
          <p:cNvSpPr>
            <a:spLocks noGrp="1" noRot="1" noChangeAspect="1" noTextEdit="1"/>
          </p:cNvSpPr>
          <p:nvPr>
            <p:ph type="sldImg"/>
          </p:nvPr>
        </p:nvSpPr>
        <p:spPr>
          <a:ln/>
        </p:spPr>
      </p:sp>
      <p:sp>
        <p:nvSpPr>
          <p:cNvPr id="29699" name="Notes Placeholder 2">
            <a:extLst>
              <a:ext uri="{FF2B5EF4-FFF2-40B4-BE49-F238E27FC236}">
                <a16:creationId xmlns:a16="http://schemas.microsoft.com/office/drawing/2014/main" id="{960ABDC9-A431-8840-17EE-08B534A7349C}"/>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18C44208-5FD5-EC38-DC3E-047843891076}"/>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AACD8852-91BD-41ED-A4D5-BE470798EBCC}" type="slidenum">
              <a:rPr lang="en-US" altLang="en-US" sz="1200">
                <a:latin typeface="Times New Roman" panose="02020603050405020304" pitchFamily="18" charset="0"/>
              </a:rPr>
              <a:pPr eaLnBrk="1" hangingPunct="1"/>
              <a:t>43</a:t>
            </a:fld>
            <a:endParaRPr lang="en-US" altLang="en-US" sz="1200">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DC20C8FF-55C7-E6C7-6577-EC23B5D7664B}"/>
              </a:ext>
            </a:extLst>
          </p:cNvPr>
          <p:cNvSpPr>
            <a:spLocks noGrp="1" noRot="1" noChangeAspect="1" noTextEdit="1"/>
          </p:cNvSpPr>
          <p:nvPr>
            <p:ph type="sldImg"/>
          </p:nvPr>
        </p:nvSpPr>
        <p:spPr>
          <a:ln/>
        </p:spPr>
      </p:sp>
      <p:sp>
        <p:nvSpPr>
          <p:cNvPr id="30723" name="Notes Placeholder 2">
            <a:extLst>
              <a:ext uri="{FF2B5EF4-FFF2-40B4-BE49-F238E27FC236}">
                <a16:creationId xmlns:a16="http://schemas.microsoft.com/office/drawing/2014/main" id="{1A42C41E-2CBE-35BF-FCFC-1E16092DF300}"/>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99E99D0F-6F87-7399-CA42-03FEF46649C9}"/>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753C4DDB-8CB6-493D-81B4-4AAA4BD4EE30}" type="slidenum">
              <a:rPr lang="en-US" altLang="en-US" sz="1200">
                <a:latin typeface="Times New Roman" panose="02020603050405020304" pitchFamily="18" charset="0"/>
              </a:rPr>
              <a:pPr eaLnBrk="1" hangingPunct="1"/>
              <a:t>44</a:t>
            </a:fld>
            <a:endParaRPr lang="en-US" altLang="en-US" sz="1200">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3890145E-EA2C-2E92-82AF-C2778CB9D6A4}"/>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B5CEE4AF-16B8-40C7-E7B8-3750DEAC7947}"/>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59CE96F8-6CF2-FE56-6366-9D3D5778ECBF}"/>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B0B82C86-6FD8-4763-B074-F3FD8B24CDB6}" type="slidenum">
              <a:rPr lang="en-US" altLang="en-US" sz="1200">
                <a:latin typeface="Times New Roman" panose="02020603050405020304" pitchFamily="18" charset="0"/>
              </a:rPr>
              <a:pPr eaLnBrk="1" hangingPunct="1"/>
              <a:t>45</a:t>
            </a:fld>
            <a:endParaRPr lang="en-US" altLang="en-US" sz="1200">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351985FB-C624-1C9D-E12D-904E3EBC829B}"/>
              </a:ext>
            </a:extLst>
          </p:cNvPr>
          <p:cNvSpPr>
            <a:spLocks noGrp="1" noRot="1" noChangeAspect="1" noTextEdit="1"/>
          </p:cNvSpPr>
          <p:nvPr>
            <p:ph type="sldImg"/>
          </p:nvPr>
        </p:nvSpPr>
        <p:spPr>
          <a:ln/>
        </p:spPr>
      </p:sp>
      <p:sp>
        <p:nvSpPr>
          <p:cNvPr id="19459" name="Notes Placeholder 2">
            <a:extLst>
              <a:ext uri="{FF2B5EF4-FFF2-40B4-BE49-F238E27FC236}">
                <a16:creationId xmlns:a16="http://schemas.microsoft.com/office/drawing/2014/main" id="{4CFFB099-3AAC-1C97-89D7-1F041A5A48FE}"/>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5FF026A1-24C3-0B52-6E85-76EEDAF4BDCD}"/>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FECC72C6-53B1-41E5-AE63-1D46EECE2664}" type="slidenum">
              <a:rPr lang="en-US" altLang="en-US" sz="1200">
                <a:latin typeface="Times New Roman" panose="02020603050405020304" pitchFamily="18" charset="0"/>
              </a:rPr>
              <a:pPr eaLnBrk="1" hangingPunct="1"/>
              <a:t>46</a:t>
            </a:fld>
            <a:endParaRPr lang="en-US" altLang="en-US" sz="1200">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109E2E18-6B6F-ECBB-80B1-BF4C42CE93B3}"/>
              </a:ext>
            </a:extLst>
          </p:cNvPr>
          <p:cNvSpPr>
            <a:spLocks noGrp="1" noRot="1" noChangeAspect="1" noTextEdit="1"/>
          </p:cNvSpPr>
          <p:nvPr>
            <p:ph type="sldImg"/>
          </p:nvPr>
        </p:nvSpPr>
        <p:spPr>
          <a:ln/>
        </p:spPr>
      </p:sp>
      <p:sp>
        <p:nvSpPr>
          <p:cNvPr id="20483" name="Notes Placeholder 2">
            <a:extLst>
              <a:ext uri="{FF2B5EF4-FFF2-40B4-BE49-F238E27FC236}">
                <a16:creationId xmlns:a16="http://schemas.microsoft.com/office/drawing/2014/main" id="{217EDC78-CDBE-C156-F603-4D92CE024BA1}"/>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AEF9F217-805F-CADF-83C4-E3B0ECBE8839}"/>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2F0942E7-E836-451C-95AD-F9007BFDC53D}" type="slidenum">
              <a:rPr lang="en-US" altLang="en-US" sz="1200">
                <a:latin typeface="Times New Roman" panose="02020603050405020304" pitchFamily="18" charset="0"/>
              </a:rPr>
              <a:pPr eaLnBrk="1" hangingPunct="1"/>
              <a:t>47</a:t>
            </a:fld>
            <a:endParaRPr lang="en-US" altLang="en-US" sz="1200">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2DCBA122-37BF-CACD-9F8D-435C77F614C7}"/>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C727D6C8-62C1-6BD0-1C58-95FB1E3B7691}"/>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AF61C81B-F79D-5587-093F-4D77B2A176D0}"/>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21F46D7D-487B-44F1-AC78-6378FD0E6648}" type="slidenum">
              <a:rPr lang="en-US" altLang="en-US" sz="1200">
                <a:latin typeface="Times New Roman" panose="02020603050405020304" pitchFamily="18" charset="0"/>
              </a:rPr>
              <a:pPr eaLnBrk="1" hangingPunct="1"/>
              <a:t>48</a:t>
            </a:fld>
            <a:endParaRPr lang="en-US" altLang="en-US" sz="1200">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59FC429B-0D27-5713-350B-4320590B7572}"/>
              </a:ext>
            </a:extLst>
          </p:cNvPr>
          <p:cNvSpPr>
            <a:spLocks noGrp="1" noRot="1" noChangeAspect="1" noTextEdit="1"/>
          </p:cNvSpPr>
          <p:nvPr>
            <p:ph type="sldImg"/>
          </p:nvPr>
        </p:nvSpPr>
        <p:spPr>
          <a:ln/>
        </p:spPr>
      </p:sp>
      <p:sp>
        <p:nvSpPr>
          <p:cNvPr id="22531" name="Notes Placeholder 2">
            <a:extLst>
              <a:ext uri="{FF2B5EF4-FFF2-40B4-BE49-F238E27FC236}">
                <a16:creationId xmlns:a16="http://schemas.microsoft.com/office/drawing/2014/main" id="{D108A300-E65C-4DA4-C788-A0E27CD2E62A}"/>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BB167F81-F22C-52DF-3A7C-0BDBFD6B1451}"/>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2A0BECE0-0916-4116-88F2-A40EC4DC3F4E}" type="slidenum">
              <a:rPr lang="en-US" altLang="en-US" sz="1200">
                <a:latin typeface="Times New Roman" panose="02020603050405020304" pitchFamily="18" charset="0"/>
              </a:rPr>
              <a:pPr eaLnBrk="1" hangingPunct="1"/>
              <a:t>49</a:t>
            </a:fld>
            <a:endParaRPr lang="en-US" altLang="en-US" sz="1200">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42CEFCAB-3A77-CF34-5C3B-8167D882A378}"/>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167945C2-8E51-7E19-D8B0-1FF068D3E36A}"/>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9FF0BA6E-574A-8239-2359-9FD5DFF88141}"/>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9F384989-BAC3-4850-AB0C-B1D01E4BC23A}" type="slidenum">
              <a:rPr lang="en-US" altLang="en-US" sz="1200">
                <a:latin typeface="Times New Roman" panose="02020603050405020304" pitchFamily="18" charset="0"/>
              </a:rPr>
              <a:pPr eaLnBrk="1" hangingPunct="1"/>
              <a:t>50</a:t>
            </a:fld>
            <a:endParaRPr lang="en-US" altLang="en-US" sz="1200">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035AC7BC-585E-CFD3-89D4-6B18FCD8C285}"/>
              </a:ext>
            </a:extLst>
          </p:cNvPr>
          <p:cNvSpPr>
            <a:spLocks noGrp="1" noRot="1" noChangeAspect="1" noTextEdit="1"/>
          </p:cNvSpPr>
          <p:nvPr>
            <p:ph type="sldImg"/>
          </p:nvPr>
        </p:nvSpPr>
        <p:spPr>
          <a:ln/>
        </p:spPr>
      </p:sp>
      <p:sp>
        <p:nvSpPr>
          <p:cNvPr id="24579" name="Notes Placeholder 2">
            <a:extLst>
              <a:ext uri="{FF2B5EF4-FFF2-40B4-BE49-F238E27FC236}">
                <a16:creationId xmlns:a16="http://schemas.microsoft.com/office/drawing/2014/main" id="{6CEFEFCB-98ED-8013-6F0D-A0E36DCB4570}"/>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8F8B83F8-48B2-D607-635A-D4171F16158A}"/>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38AFEAEA-1241-4C8A-9962-116D4A3BB54C}" type="slidenum">
              <a:rPr lang="en-US" altLang="en-US" sz="1200">
                <a:latin typeface="Times New Roman" panose="02020603050405020304" pitchFamily="18" charset="0"/>
              </a:rPr>
              <a:pPr eaLnBrk="1" hangingPunct="1"/>
              <a:t>51</a:t>
            </a:fld>
            <a:endParaRPr lang="en-US" altLang="en-US" sz="1200">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A3E76DF0-1D4F-3EAE-483F-DD376C23B84E}"/>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id="{F7DC765D-4AC1-70B8-4498-1E7E6EAC2051}"/>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EF44A16F-4265-8697-0E47-08C9467DB7D2}"/>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58C07E07-A61D-45CB-BEA6-4411B7CB49CA}" type="slidenum">
              <a:rPr lang="en-US" altLang="en-US" sz="1200">
                <a:latin typeface="Times New Roman" panose="02020603050405020304" pitchFamily="18" charset="0"/>
              </a:rPr>
              <a:pPr eaLnBrk="1" hangingPunct="1"/>
              <a:t>52</a:t>
            </a:fld>
            <a:endParaRPr lang="en-US" altLang="en-US" sz="1200">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430A79BC-9E1B-715D-F599-3BAEA4A908D5}"/>
              </a:ext>
            </a:extLst>
          </p:cNvPr>
          <p:cNvSpPr>
            <a:spLocks noGrp="1" noRot="1" noChangeAspect="1" noTextEdit="1"/>
          </p:cNvSpPr>
          <p:nvPr>
            <p:ph type="sldImg"/>
          </p:nvPr>
        </p:nvSpPr>
        <p:spPr>
          <a:ln/>
        </p:spPr>
      </p:sp>
      <p:sp>
        <p:nvSpPr>
          <p:cNvPr id="26627" name="Notes Placeholder 2">
            <a:extLst>
              <a:ext uri="{FF2B5EF4-FFF2-40B4-BE49-F238E27FC236}">
                <a16:creationId xmlns:a16="http://schemas.microsoft.com/office/drawing/2014/main" id="{FB3CAFF8-8DAE-D5F3-601D-991CC0194F67}"/>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95E8B737-2D76-3176-3090-EAD21C4F672C}"/>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44EEC834-C7B9-4830-B3AC-7F20C0108A69}" type="slidenum">
              <a:rPr lang="en-US" altLang="en-US" sz="1200">
                <a:latin typeface="Times New Roman" panose="02020603050405020304" pitchFamily="18" charset="0"/>
              </a:rPr>
              <a:pPr eaLnBrk="1" hangingPunct="1"/>
              <a:t>53</a:t>
            </a:fld>
            <a:endParaRPr lang="en-US" altLang="en-US" sz="1200">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25F77754-C91A-38F3-9B15-02FA64214B2C}"/>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F55FD1EB-FC76-0CD7-6BB5-F417747788CB}"/>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C5761DBC-8F09-0397-B4F6-94396CDA696A}"/>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3D1D14E6-A8EB-4D98-8308-E53B954896CE}" type="slidenum">
              <a:rPr lang="en-US" altLang="en-US" sz="1200">
                <a:latin typeface="Times New Roman" panose="02020603050405020304" pitchFamily="18" charset="0"/>
              </a:rPr>
              <a:pPr eaLnBrk="1" hangingPunct="1"/>
              <a:t>54</a:t>
            </a:fld>
            <a:endParaRPr lang="en-US" altLang="en-US" sz="1200">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FD71082B-FD61-3A2E-127F-87BC98D100A5}"/>
              </a:ext>
            </a:extLst>
          </p:cNvPr>
          <p:cNvSpPr>
            <a:spLocks noGrp="1" noRot="1" noChangeAspect="1" noTextEdit="1"/>
          </p:cNvSpPr>
          <p:nvPr>
            <p:ph type="sldImg"/>
          </p:nvPr>
        </p:nvSpPr>
        <p:spPr>
          <a:ln/>
        </p:spPr>
      </p:sp>
      <p:sp>
        <p:nvSpPr>
          <p:cNvPr id="28675" name="Notes Placeholder 2">
            <a:extLst>
              <a:ext uri="{FF2B5EF4-FFF2-40B4-BE49-F238E27FC236}">
                <a16:creationId xmlns:a16="http://schemas.microsoft.com/office/drawing/2014/main" id="{84CA72EF-CDB0-87B0-AFC4-0CAA12A6D7A2}"/>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C694AB03-0852-EA4C-6B57-42FE5A23CD4A}"/>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1E4C27C1-88B1-477D-AC9C-EB1CE62097CC}" type="slidenum">
              <a:rPr lang="en-US" altLang="en-US" sz="1200">
                <a:latin typeface="Times New Roman" panose="02020603050405020304" pitchFamily="18" charset="0"/>
              </a:rPr>
              <a:pPr eaLnBrk="1" hangingPunct="1"/>
              <a:t>55</a:t>
            </a:fld>
            <a:endParaRPr lang="en-US" altLang="en-US" sz="1200">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751826CB-1984-8C0C-8828-462A59BA2190}"/>
              </a:ext>
            </a:extLst>
          </p:cNvPr>
          <p:cNvSpPr>
            <a:spLocks noGrp="1" noRot="1" noChangeAspect="1" noTextEdit="1"/>
          </p:cNvSpPr>
          <p:nvPr>
            <p:ph type="sldImg"/>
          </p:nvPr>
        </p:nvSpPr>
        <p:spPr>
          <a:ln/>
        </p:spPr>
      </p:sp>
      <p:sp>
        <p:nvSpPr>
          <p:cNvPr id="30723" name="Notes Placeholder 2">
            <a:extLst>
              <a:ext uri="{FF2B5EF4-FFF2-40B4-BE49-F238E27FC236}">
                <a16:creationId xmlns:a16="http://schemas.microsoft.com/office/drawing/2014/main" id="{E4C21FB6-390C-18E2-2792-CA36B5CBA9E9}"/>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9BCDF692-5978-89F9-723E-2FC0712AD70A}"/>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49A17452-A424-4291-A418-915EC9D4C511}" type="slidenum">
              <a:rPr lang="en-US" altLang="en-US" sz="1200">
                <a:latin typeface="Times New Roman" panose="02020603050405020304" pitchFamily="18" charset="0"/>
              </a:rPr>
              <a:pPr eaLnBrk="1" hangingPunct="1"/>
              <a:t>56</a:t>
            </a:fld>
            <a:endParaRPr lang="en-US" altLang="en-US" sz="1200">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D28EABB3-C453-1817-3B93-0A1701EE6775}"/>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B7A98FD6-F07F-8B5E-F64E-1C52964DB4B5}"/>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18E3DC46-3F21-3F88-FA20-80975EA18FFA}"/>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803E21C6-6BC4-4F05-9082-8F1A25E1DC5E}" type="slidenum">
              <a:rPr lang="en-US" altLang="en-US" sz="1200">
                <a:latin typeface="Times New Roman" panose="02020603050405020304" pitchFamily="18" charset="0"/>
              </a:rPr>
              <a:pPr eaLnBrk="1" hangingPunct="1"/>
              <a:t>57</a:t>
            </a:fld>
            <a:endParaRPr lang="en-US" altLang="en-US" sz="1200">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14DAF457-D205-A365-A1E3-788746DA5DC1}"/>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4F22E9FF-359A-76D6-E696-87E17E9EBD39}"/>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8C6CFE12-133B-C454-9F8B-99C1302EBDC5}"/>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44F733F9-0097-4D0D-B2F7-3033851F5801}" type="slidenum">
              <a:rPr lang="en-US" altLang="en-US" sz="1200">
                <a:latin typeface="Times New Roman" panose="02020603050405020304" pitchFamily="18" charset="0"/>
              </a:rPr>
              <a:pPr eaLnBrk="1" hangingPunct="1"/>
              <a:t>58</a:t>
            </a:fld>
            <a:endParaRPr lang="en-US" altLang="en-US" sz="1200">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CD64DF3C-05F3-E5FC-7FEA-1BA71F730306}"/>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DD17C038-8D27-A334-A05F-AE79175FDF70}"/>
              </a:ext>
            </a:extLst>
          </p:cNvPr>
          <p:cNvSpPr>
            <a:spLocks noGrp="1"/>
          </p:cNvSpPr>
          <p:nvPr>
            <p:ph type="body" idx="1"/>
          </p:nvPr>
        </p:nvSpPr>
        <p:spPr>
          <a:noFill/>
        </p:spPr>
        <p:txBody>
          <a:bodyPr/>
          <a:lstStyle/>
          <a:p>
            <a:pPr eaLnBrk="1" hangingPunct="1"/>
            <a:endParaRPr lang="en-US" altLang="en-US"/>
          </a:p>
        </p:txBody>
      </p:sp>
      <p:sp>
        <p:nvSpPr>
          <p:cNvPr id="7172" name="Slide Number Placeholder 3">
            <a:extLst>
              <a:ext uri="{FF2B5EF4-FFF2-40B4-BE49-F238E27FC236}">
                <a16:creationId xmlns:a16="http://schemas.microsoft.com/office/drawing/2014/main" id="{E5469E0D-33C3-2C00-190A-4B73EC8E61D8}"/>
              </a:ext>
            </a:extLst>
          </p:cNvPr>
          <p:cNvSpPr>
            <a:spLocks noGrp="1"/>
          </p:cNvSpPr>
          <p:nvPr>
            <p:ph type="sldNum" sz="quarter" idx="5"/>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415240DC-8AE8-4637-B04A-2358AA005449}" type="slidenum">
              <a:rPr lang="en-US" altLang="en-US" sz="1200">
                <a:latin typeface="Times New Roman" panose="02020603050405020304" pitchFamily="18" charset="0"/>
              </a:rPr>
              <a:pPr eaLnBrk="1" hangingPunct="1"/>
              <a:t>59</a:t>
            </a:fld>
            <a:endParaRPr lang="en-US" altLang="en-US"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728E3-0FD8-32D9-57C5-5D5059E186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D422DF-8A7A-39D6-8A09-83AF866354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579A87-E718-D661-D1B1-33BD61564538}"/>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5" name="Footer Placeholder 4">
            <a:extLst>
              <a:ext uri="{FF2B5EF4-FFF2-40B4-BE49-F238E27FC236}">
                <a16:creationId xmlns:a16="http://schemas.microsoft.com/office/drawing/2014/main" id="{DD3718A2-A16A-821E-534E-8ACAD56C64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A14D41-A15E-D82C-765D-879049086CF3}"/>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2362962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BCB9B-0030-D12F-81F0-EE556BE7B3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06B8C9-6F45-1535-D6B5-F3C34A6F7C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F7DE55-B707-62AC-4B4F-3A0E3496CC97}"/>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5" name="Footer Placeholder 4">
            <a:extLst>
              <a:ext uri="{FF2B5EF4-FFF2-40B4-BE49-F238E27FC236}">
                <a16:creationId xmlns:a16="http://schemas.microsoft.com/office/drawing/2014/main" id="{5A1F504E-A101-76EF-CF40-EA84F73F74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71782-6B25-E4FB-3AD2-DEB2FEC4556B}"/>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4125205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7FFEB-1A2D-EC2E-4CDF-6791988B62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EEB071-39A7-4123-8E11-FFBD8F962F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B1CE8F-AD52-860E-C173-FE346C8B5C96}"/>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5" name="Footer Placeholder 4">
            <a:extLst>
              <a:ext uri="{FF2B5EF4-FFF2-40B4-BE49-F238E27FC236}">
                <a16:creationId xmlns:a16="http://schemas.microsoft.com/office/drawing/2014/main" id="{F2158365-F65A-57AB-A015-2FE40E13B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395072-D0A0-FAB4-9F94-491B86B0C35D}"/>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1900402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62215-F686-2B8D-CC97-65995153C3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77646C-4B8E-6BAE-6EF5-DC6477CAA5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35D907A-FF68-0210-A110-9CD03D3766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5C4401-0A03-12D2-D0AD-E3567C9E3F70}"/>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6" name="Footer Placeholder 5">
            <a:extLst>
              <a:ext uri="{FF2B5EF4-FFF2-40B4-BE49-F238E27FC236}">
                <a16:creationId xmlns:a16="http://schemas.microsoft.com/office/drawing/2014/main" id="{7A5B9605-B7DB-30A8-ECEA-10513E3A75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067459-BDCF-CE04-8717-D7814BBAEA8F}"/>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3380792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93C21-526D-0DF4-46AC-6B178A6861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DDB96E-8FD6-2DB2-F097-A5C6F18FEA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C18A0D-B90F-97F0-6700-44EA7EC88C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B57436-42FB-8682-0378-494F3FB00A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D8BEF-3CAA-60F1-7451-54B749CF11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B2C348-BE99-21CE-6741-1B70D0FA6D79}"/>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8" name="Footer Placeholder 7">
            <a:extLst>
              <a:ext uri="{FF2B5EF4-FFF2-40B4-BE49-F238E27FC236}">
                <a16:creationId xmlns:a16="http://schemas.microsoft.com/office/drawing/2014/main" id="{62B3B578-CF1D-9663-D7AA-83C0F02072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BCE55F-A414-ED9B-EC93-E8D04CA4BE8B}"/>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2517621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BE501-E0C3-CF6B-E5BE-78D8F13361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D0270E-6EEC-CD18-BD8A-7F7F94748F71}"/>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4" name="Footer Placeholder 3">
            <a:extLst>
              <a:ext uri="{FF2B5EF4-FFF2-40B4-BE49-F238E27FC236}">
                <a16:creationId xmlns:a16="http://schemas.microsoft.com/office/drawing/2014/main" id="{C8B06848-AF20-2896-4F5F-899DE5FD23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77FDDF-72DA-C893-CF07-DF7266B2F955}"/>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1484836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8538F9-1D97-97F2-18A2-F41502106762}"/>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3" name="Footer Placeholder 2">
            <a:extLst>
              <a:ext uri="{FF2B5EF4-FFF2-40B4-BE49-F238E27FC236}">
                <a16:creationId xmlns:a16="http://schemas.microsoft.com/office/drawing/2014/main" id="{2A6CFB8C-A14D-EDED-1483-312551ECB3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997FCE-C693-97BD-1C96-B27607CCA972}"/>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40475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D3370-3D9B-BBFD-FF00-AEC938349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7AAEF0-BC97-FE25-D8AB-8648E5149B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65CF60-9D6E-85EE-1111-4E708844EE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D1D57F-5AB9-B014-D5C0-FB91E8BC28AB}"/>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6" name="Footer Placeholder 5">
            <a:extLst>
              <a:ext uri="{FF2B5EF4-FFF2-40B4-BE49-F238E27FC236}">
                <a16:creationId xmlns:a16="http://schemas.microsoft.com/office/drawing/2014/main" id="{BBB9FD1E-42B8-4296-A87D-85981AFF30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AC8D2B-1A1D-1287-D8F6-BC976306FD7E}"/>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4199859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F22BB-F7B5-03B1-2D8B-081A494B24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5CD7C4-48C2-64A0-20B1-71ECF91F18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B6634E-3896-DB0F-AE85-A156676B1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3E5D40-71DF-BCD1-7B0B-7C48EAAB0D25}"/>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6" name="Footer Placeholder 5">
            <a:extLst>
              <a:ext uri="{FF2B5EF4-FFF2-40B4-BE49-F238E27FC236}">
                <a16:creationId xmlns:a16="http://schemas.microsoft.com/office/drawing/2014/main" id="{A064FC0C-5319-A6CD-E251-70F4C9482B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5D27A-0B9D-4581-1471-C8BF56C06E1C}"/>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3166456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A3AED-283A-B8F4-BF5D-08B558F85C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1E2C25-1AE2-BF07-9EFA-45ECC05063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7F4BC9-27FB-B31E-744F-7D25242A09D7}"/>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5" name="Footer Placeholder 4">
            <a:extLst>
              <a:ext uri="{FF2B5EF4-FFF2-40B4-BE49-F238E27FC236}">
                <a16:creationId xmlns:a16="http://schemas.microsoft.com/office/drawing/2014/main" id="{9F243A80-84A7-68C0-1C87-7D186DE4E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D519A7-1985-5AD1-88FA-BDD586C8B2BF}"/>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420846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94F857-3FAD-EA50-AF6B-F054293CBA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63B115-B251-0AA0-B1C7-F14EAB8801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BB18E3-1412-17E2-89CD-F3E4FD45F78A}"/>
              </a:ext>
            </a:extLst>
          </p:cNvPr>
          <p:cNvSpPr>
            <a:spLocks noGrp="1"/>
          </p:cNvSpPr>
          <p:nvPr>
            <p:ph type="dt" sz="half" idx="10"/>
          </p:nvPr>
        </p:nvSpPr>
        <p:spPr/>
        <p:txBody>
          <a:bodyPr/>
          <a:lstStyle/>
          <a:p>
            <a:fld id="{CA1E86BC-2D33-48AF-A08D-0673C716AD17}" type="datetimeFigureOut">
              <a:rPr lang="en-US" smtClean="0"/>
              <a:t>12/18/2025</a:t>
            </a:fld>
            <a:endParaRPr lang="en-US"/>
          </a:p>
        </p:txBody>
      </p:sp>
      <p:sp>
        <p:nvSpPr>
          <p:cNvPr id="5" name="Footer Placeholder 4">
            <a:extLst>
              <a:ext uri="{FF2B5EF4-FFF2-40B4-BE49-F238E27FC236}">
                <a16:creationId xmlns:a16="http://schemas.microsoft.com/office/drawing/2014/main" id="{17933F7D-7C1C-5461-5B95-4907D08EAC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E33041-4730-49B0-B928-12AC5F0B594A}"/>
              </a:ext>
            </a:extLst>
          </p:cNvPr>
          <p:cNvSpPr>
            <a:spLocks noGrp="1"/>
          </p:cNvSpPr>
          <p:nvPr>
            <p:ph type="sldNum" sz="quarter" idx="12"/>
          </p:nvPr>
        </p:nvSpPr>
        <p:spPr/>
        <p:txBody>
          <a:bodyPr/>
          <a:lstStyle/>
          <a:p>
            <a:fld id="{C72846B8-092C-41C9-A52E-11D5A9B9A107}" type="slidenum">
              <a:rPr lang="en-US" smtClean="0"/>
              <a:t>‹#›</a:t>
            </a:fld>
            <a:endParaRPr lang="en-US"/>
          </a:p>
        </p:txBody>
      </p:sp>
    </p:spTree>
    <p:extLst>
      <p:ext uri="{BB962C8B-B14F-4D97-AF65-F5344CB8AC3E}">
        <p14:creationId xmlns:p14="http://schemas.microsoft.com/office/powerpoint/2010/main" val="2348848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503FDC-A8D5-2913-E4F2-4670F2E0F6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A7ECE0-9DE5-89B0-BC00-EF448ACA3F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2A20C1-A733-F29D-BFA1-E53249BE4C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1E86BC-2D33-48AF-A08D-0673C716AD17}" type="datetimeFigureOut">
              <a:rPr lang="en-US" smtClean="0"/>
              <a:t>12/18/2025</a:t>
            </a:fld>
            <a:endParaRPr lang="en-US"/>
          </a:p>
        </p:txBody>
      </p:sp>
      <p:sp>
        <p:nvSpPr>
          <p:cNvPr id="5" name="Footer Placeholder 4">
            <a:extLst>
              <a:ext uri="{FF2B5EF4-FFF2-40B4-BE49-F238E27FC236}">
                <a16:creationId xmlns:a16="http://schemas.microsoft.com/office/drawing/2014/main" id="{71775943-54D7-C0B2-5038-71832C34FB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028D5A-70E3-746A-5706-D3D963899E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2846B8-092C-41C9-A52E-11D5A9B9A107}" type="slidenum">
              <a:rPr lang="en-US" smtClean="0"/>
              <a:t>‹#›</a:t>
            </a:fld>
            <a:endParaRPr lang="en-US"/>
          </a:p>
        </p:txBody>
      </p:sp>
    </p:spTree>
    <p:extLst>
      <p:ext uri="{BB962C8B-B14F-4D97-AF65-F5344CB8AC3E}">
        <p14:creationId xmlns:p14="http://schemas.microsoft.com/office/powerpoint/2010/main" val="22234577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oleObject" Target="../embeddings/oleObject3.bin"/><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oleObject" Target="../embeddings/oleObject5.bin"/><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password-decrypt.com/"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ifm.net.nz/cookbooks/cisco-ios-enable-secret-password-cracker.html"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EC475-2B42-2233-4F15-AB38DFE929AA}"/>
              </a:ext>
            </a:extLst>
          </p:cNvPr>
          <p:cNvSpPr>
            <a:spLocks noGrp="1"/>
          </p:cNvSpPr>
          <p:nvPr>
            <p:ph type="ctrTitle"/>
          </p:nvPr>
        </p:nvSpPr>
        <p:spPr/>
        <p:txBody>
          <a:bodyPr/>
          <a:lstStyle/>
          <a:p>
            <a:r>
              <a:rPr lang="en-US" dirty="0"/>
              <a:t>Chapter three</a:t>
            </a:r>
          </a:p>
        </p:txBody>
      </p:sp>
      <p:sp>
        <p:nvSpPr>
          <p:cNvPr id="3" name="Subtitle 2">
            <a:extLst>
              <a:ext uri="{FF2B5EF4-FFF2-40B4-BE49-F238E27FC236}">
                <a16:creationId xmlns:a16="http://schemas.microsoft.com/office/drawing/2014/main" id="{82ACA70A-74D7-3DCA-B40F-7F3350CC8D8E}"/>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40960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3B324490-8531-B996-D736-FA42D8755297}"/>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91F28725-F27C-4F20-942B-634815978401}" type="slidenum">
              <a:rPr lang="en-US" altLang="en-US" sz="1400">
                <a:latin typeface="Times New Roman" panose="02020603050405020304" pitchFamily="18" charset="0"/>
              </a:rPr>
              <a:pPr eaLnBrk="1" hangingPunct="1"/>
              <a:t>2</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24334CD6-F5BC-7A18-0EFD-5E8AC6E933FA}"/>
              </a:ext>
            </a:extLst>
          </p:cNvPr>
          <p:cNvSpPr txBox="1"/>
          <p:nvPr/>
        </p:nvSpPr>
        <p:spPr>
          <a:xfrm>
            <a:off x="290513" y="1506538"/>
            <a:ext cx="5209118"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pPr>
              <a:defRPr/>
            </a:pPr>
            <a:r>
              <a:rPr lang="en-US" dirty="0"/>
              <a:t>Ethernet describes the physical and data link layer.</a:t>
            </a:r>
          </a:p>
        </p:txBody>
      </p:sp>
      <p:sp>
        <p:nvSpPr>
          <p:cNvPr id="2056" name="TextBox 3">
            <a:extLst>
              <a:ext uri="{FF2B5EF4-FFF2-40B4-BE49-F238E27FC236}">
                <a16:creationId xmlns:a16="http://schemas.microsoft.com/office/drawing/2014/main" id="{ADFD16B5-2DD3-796F-53B3-4B68D5C66ECB}"/>
              </a:ext>
            </a:extLst>
          </p:cNvPr>
          <p:cNvSpPr txBox="1">
            <a:spLocks noChangeArrowheads="1"/>
          </p:cNvSpPr>
          <p:nvPr/>
        </p:nvSpPr>
        <p:spPr bwMode="auto">
          <a:xfrm>
            <a:off x="228601" y="2057401"/>
            <a:ext cx="9296400" cy="780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b="1" dirty="0"/>
              <a:t>Ethernet</a:t>
            </a:r>
            <a:r>
              <a:rPr lang="en-US" altLang="en-US" dirty="0"/>
              <a:t> is a way of connecting Devices together in a LANs. It defines wiring and signaling for the </a:t>
            </a:r>
            <a:r>
              <a:rPr lang="en-US" altLang="en-US" u="sng" dirty="0"/>
              <a:t>Physical layer </a:t>
            </a:r>
            <a:r>
              <a:rPr lang="en-US" altLang="en-US" dirty="0"/>
              <a:t>of the OSI model. For the </a:t>
            </a:r>
            <a:r>
              <a:rPr lang="en-US" altLang="en-US" u="sng" dirty="0"/>
              <a:t>Data Link layer</a:t>
            </a:r>
            <a:r>
              <a:rPr lang="en-US" altLang="en-US" dirty="0"/>
              <a:t>, it defines frame formats and protocols.</a:t>
            </a:r>
          </a:p>
        </p:txBody>
      </p:sp>
      <p:sp>
        <p:nvSpPr>
          <p:cNvPr id="2057" name="TextBox 4">
            <a:extLst>
              <a:ext uri="{FF2B5EF4-FFF2-40B4-BE49-F238E27FC236}">
                <a16:creationId xmlns:a16="http://schemas.microsoft.com/office/drawing/2014/main" id="{873BBF3F-9B8D-483B-7F56-081F286F7A72}"/>
              </a:ext>
            </a:extLst>
          </p:cNvPr>
          <p:cNvSpPr txBox="1">
            <a:spLocks noChangeArrowheads="1"/>
          </p:cNvSpPr>
          <p:nvPr/>
        </p:nvSpPr>
        <p:spPr bwMode="auto">
          <a:xfrm>
            <a:off x="304801" y="3200401"/>
            <a:ext cx="9677400" cy="780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dirty="0"/>
              <a:t>Ethernet is not a single protocol but an entire collection of different standards. These standards come from the </a:t>
            </a:r>
            <a:r>
              <a:rPr lang="en-US" altLang="en-US" b="1" dirty="0"/>
              <a:t>IEEE</a:t>
            </a:r>
            <a:r>
              <a:rPr lang="en-US" altLang="en-US" dirty="0"/>
              <a:t> and all of them start with </a:t>
            </a:r>
            <a:r>
              <a:rPr lang="en-US" altLang="en-US" b="1" dirty="0"/>
              <a:t>802.3</a:t>
            </a:r>
            <a:r>
              <a:rPr lang="en-US" altLang="en-US" dirty="0"/>
              <a:t> in their name.</a:t>
            </a:r>
          </a:p>
        </p:txBody>
      </p:sp>
      <p:sp>
        <p:nvSpPr>
          <p:cNvPr id="2058" name="TextBox 5">
            <a:extLst>
              <a:ext uri="{FF2B5EF4-FFF2-40B4-BE49-F238E27FC236}">
                <a16:creationId xmlns:a16="http://schemas.microsoft.com/office/drawing/2014/main" id="{1E563EFA-7A8E-3944-2E7B-2636CCE2D70C}"/>
              </a:ext>
            </a:extLst>
          </p:cNvPr>
          <p:cNvSpPr txBox="1">
            <a:spLocks noChangeArrowheads="1"/>
          </p:cNvSpPr>
          <p:nvPr/>
        </p:nvSpPr>
        <p:spPr bwMode="auto">
          <a:xfrm>
            <a:off x="533401" y="4343401"/>
            <a:ext cx="9448800" cy="780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dirty="0"/>
              <a:t>The term </a:t>
            </a:r>
            <a:r>
              <a:rPr lang="en-US" altLang="en-US" b="1" dirty="0"/>
              <a:t>Ethernet LAN</a:t>
            </a:r>
            <a:r>
              <a:rPr lang="en-US" altLang="en-US" dirty="0"/>
              <a:t> refers to a combination of computers, switches, and different kinds of cables that use the Ethernet standard to communicate over the network.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F42FBD43-BC3F-F01A-2C1E-122DC8247852}"/>
              </a:ext>
            </a:extLst>
          </p:cNvPr>
          <p:cNvSpPr>
            <a:spLocks noGrp="1"/>
          </p:cNvSpPr>
          <p:nvPr>
            <p:ph type="title"/>
          </p:nvPr>
        </p:nvSpPr>
        <p:spPr>
          <a:xfrm>
            <a:off x="1589" y="533400"/>
            <a:ext cx="12188825" cy="762000"/>
          </a:xfrm>
        </p:spPr>
        <p:txBody>
          <a:bodyPr/>
          <a:lstStyle/>
          <a:p>
            <a:pPr algn="ctr" eaLnBrk="1" hangingPunct="1"/>
            <a:r>
              <a:rPr lang="en-US" altLang="en-US" dirty="0"/>
              <a:t> Introduction to Ethernet </a:t>
            </a:r>
          </a:p>
        </p:txBody>
      </p:sp>
      <p:sp>
        <p:nvSpPr>
          <p:cNvPr id="2052" name="Slide Number Placeholder 4">
            <a:extLst>
              <a:ext uri="{FF2B5EF4-FFF2-40B4-BE49-F238E27FC236}">
                <a16:creationId xmlns:a16="http://schemas.microsoft.com/office/drawing/2014/main" id="{3DDB2881-BD78-FC52-358D-040D8B70E53A}"/>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83ABE3FC-56E4-4D29-B341-CA9C5181E313}" type="slidenum">
              <a:rPr lang="en-US" altLang="en-US" sz="1400">
                <a:latin typeface="Times New Roman" panose="02020603050405020304" pitchFamily="18" charset="0"/>
              </a:rPr>
              <a:pPr eaLnBrk="1" hangingPunct="1"/>
              <a:t>3</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3A07ABA9-63E2-B159-65B2-B6E3EF279E66}"/>
              </a:ext>
            </a:extLst>
          </p:cNvPr>
          <p:cNvSpPr txBox="1"/>
          <p:nvPr/>
        </p:nvSpPr>
        <p:spPr>
          <a:xfrm>
            <a:off x="533402" y="1447800"/>
            <a:ext cx="10796587" cy="58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a:defRPr/>
            </a:pPr>
            <a:r>
              <a:rPr lang="en-US" sz="3200" dirty="0"/>
              <a:t>Here’s an overview with some popular Ethernet standards:</a:t>
            </a:r>
          </a:p>
        </p:txBody>
      </p:sp>
      <p:graphicFrame>
        <p:nvGraphicFramePr>
          <p:cNvPr id="4" name="Content Placeholder 3">
            <a:extLst>
              <a:ext uri="{FF2B5EF4-FFF2-40B4-BE49-F238E27FC236}">
                <a16:creationId xmlns:a16="http://schemas.microsoft.com/office/drawing/2014/main" id="{0A9E494E-8DD3-0C1E-9E3D-967E139A63C4}"/>
              </a:ext>
            </a:extLst>
          </p:cNvPr>
          <p:cNvGraphicFramePr>
            <a:graphicFrameLocks noGrp="1"/>
          </p:cNvGraphicFramePr>
          <p:nvPr>
            <p:ph idx="1"/>
          </p:nvPr>
        </p:nvGraphicFramePr>
        <p:xfrm>
          <a:off x="93663" y="2260601"/>
          <a:ext cx="12022140" cy="4064001"/>
        </p:xfrm>
        <a:graphic>
          <a:graphicData uri="http://schemas.openxmlformats.org/drawingml/2006/table">
            <a:tbl>
              <a:tblPr/>
              <a:tblGrid>
                <a:gridCol w="2404428">
                  <a:extLst>
                    <a:ext uri="{9D8B030D-6E8A-4147-A177-3AD203B41FA5}">
                      <a16:colId xmlns:a16="http://schemas.microsoft.com/office/drawing/2014/main" val="20000"/>
                    </a:ext>
                  </a:extLst>
                </a:gridCol>
                <a:gridCol w="2404428">
                  <a:extLst>
                    <a:ext uri="{9D8B030D-6E8A-4147-A177-3AD203B41FA5}">
                      <a16:colId xmlns:a16="http://schemas.microsoft.com/office/drawing/2014/main" val="20001"/>
                    </a:ext>
                  </a:extLst>
                </a:gridCol>
                <a:gridCol w="2404428">
                  <a:extLst>
                    <a:ext uri="{9D8B030D-6E8A-4147-A177-3AD203B41FA5}">
                      <a16:colId xmlns:a16="http://schemas.microsoft.com/office/drawing/2014/main" val="20002"/>
                    </a:ext>
                  </a:extLst>
                </a:gridCol>
                <a:gridCol w="2404428">
                  <a:extLst>
                    <a:ext uri="{9D8B030D-6E8A-4147-A177-3AD203B41FA5}">
                      <a16:colId xmlns:a16="http://schemas.microsoft.com/office/drawing/2014/main" val="20003"/>
                    </a:ext>
                  </a:extLst>
                </a:gridCol>
                <a:gridCol w="2404428">
                  <a:extLst>
                    <a:ext uri="{9D8B030D-6E8A-4147-A177-3AD203B41FA5}">
                      <a16:colId xmlns:a16="http://schemas.microsoft.com/office/drawing/2014/main" val="20004"/>
                    </a:ext>
                  </a:extLst>
                </a:gridCol>
              </a:tblGrid>
              <a:tr h="667283">
                <a:tc>
                  <a:txBody>
                    <a:bodyPr/>
                    <a:lstStyle/>
                    <a:p>
                      <a:r>
                        <a:rPr lang="en-US" sz="1800" dirty="0">
                          <a:effectLst/>
                        </a:rPr>
                        <a:t>Bandwidth</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Common Name</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Informal name</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IEEE name</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Cable Type</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40751">
                <a:tc>
                  <a:txBody>
                    <a:bodyPr/>
                    <a:lstStyle/>
                    <a:p>
                      <a:r>
                        <a:rPr lang="en-US" sz="1800">
                          <a:effectLst/>
                        </a:rPr>
                        <a:t>10 Mbps</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Ethernet</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10BASE-T</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802.3</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UTP 100m</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640751">
                <a:tc>
                  <a:txBody>
                    <a:bodyPr/>
                    <a:lstStyle/>
                    <a:p>
                      <a:r>
                        <a:rPr lang="en-US" sz="1800">
                          <a:effectLst/>
                        </a:rPr>
                        <a:t>100 Mbps</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Fast Ethernet</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100BASE-T</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802.3u</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UTP 100m</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702">
                <a:tc>
                  <a:txBody>
                    <a:bodyPr/>
                    <a:lstStyle/>
                    <a:p>
                      <a:r>
                        <a:rPr lang="en-US" sz="1800">
                          <a:effectLst/>
                        </a:rPr>
                        <a:t>1000 Mbps</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dirty="0">
                          <a:effectLst/>
                        </a:rPr>
                        <a:t>Gigabit Ethernet</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1000BASE-LX</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802.3z</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Fiber 5000m</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685702">
                <a:tc>
                  <a:txBody>
                    <a:bodyPr/>
                    <a:lstStyle/>
                    <a:p>
                      <a:r>
                        <a:rPr lang="en-US" sz="1800">
                          <a:effectLst/>
                        </a:rPr>
                        <a:t>1000 Mbps</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Gigabit Ethernet</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1000BASE-T</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802.3ab</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tc>
                  <a:txBody>
                    <a:bodyPr/>
                    <a:lstStyle/>
                    <a:p>
                      <a:r>
                        <a:rPr lang="en-US" sz="1800">
                          <a:effectLst/>
                        </a:rPr>
                        <a:t>UTP 100m</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43812">
                <a:tc>
                  <a:txBody>
                    <a:bodyPr/>
                    <a:lstStyle/>
                    <a:p>
                      <a:r>
                        <a:rPr lang="en-US" sz="1800">
                          <a:effectLst/>
                        </a:rPr>
                        <a:t>10 Gbps</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10 Gigabit Ethernet</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10GBASE-T</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a:effectLst/>
                        </a:rPr>
                        <a:t>802.3an</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tc>
                  <a:txBody>
                    <a:bodyPr/>
                    <a:lstStyle/>
                    <a:p>
                      <a:r>
                        <a:rPr lang="en-US" sz="1800" dirty="0">
                          <a:effectLst/>
                        </a:rPr>
                        <a:t>UTP 100m</a:t>
                      </a:r>
                    </a:p>
                  </a:txBody>
                  <a:tcPr marL="190500" marR="190500" marT="114287" marB="114287" anchor="ctr">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9F9F9"/>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A7F6F156-033A-FC75-41A6-590B732B6921}"/>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576F9E8D-F510-4668-844C-AE5E6642EE57}" type="slidenum">
              <a:rPr lang="en-US" altLang="en-US" sz="1400">
                <a:latin typeface="Times New Roman" panose="02020603050405020304" pitchFamily="18" charset="0"/>
              </a:rPr>
              <a:pPr eaLnBrk="1" hangingPunct="1"/>
              <a:t>4</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17BD73F9-78F3-469A-5565-8813D437BE0F}"/>
              </a:ext>
            </a:extLst>
          </p:cNvPr>
          <p:cNvSpPr txBox="1"/>
          <p:nvPr/>
        </p:nvSpPr>
        <p:spPr>
          <a:xfrm>
            <a:off x="533401" y="1447800"/>
            <a:ext cx="2819400" cy="58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US" sz="3200" dirty="0"/>
              <a:t>Physical Layer</a:t>
            </a:r>
          </a:p>
        </p:txBody>
      </p:sp>
      <p:sp>
        <p:nvSpPr>
          <p:cNvPr id="4104" name="AutoShape 2" descr="ethernet topology mixed standards">
            <a:extLst>
              <a:ext uri="{FF2B5EF4-FFF2-40B4-BE49-F238E27FC236}">
                <a16:creationId xmlns:a16="http://schemas.microsoft.com/office/drawing/2014/main" id="{A7219547-C5A1-05A3-7BC3-F3F0F996893B}"/>
              </a:ext>
            </a:extLst>
          </p:cNvPr>
          <p:cNvSpPr>
            <a:spLocks noChangeAspect="1" noChangeArrowheads="1"/>
          </p:cNvSpPr>
          <p:nvPr/>
        </p:nvSpPr>
        <p:spPr bwMode="auto">
          <a:xfrm>
            <a:off x="1571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4105" name="AutoShape 4" descr="ethernet topology mixed standards">
            <a:extLst>
              <a:ext uri="{FF2B5EF4-FFF2-40B4-BE49-F238E27FC236}">
                <a16:creationId xmlns:a16="http://schemas.microsoft.com/office/drawing/2014/main" id="{289F5562-8FBB-FFD0-2272-E224E5A36095}"/>
              </a:ext>
            </a:extLst>
          </p:cNvPr>
          <p:cNvSpPr>
            <a:spLocks noChangeAspect="1" noChangeArrowheads="1"/>
          </p:cNvSpPr>
          <p:nvPr/>
        </p:nvSpPr>
        <p:spPr bwMode="auto">
          <a:xfrm>
            <a:off x="3095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graphicFrame>
        <p:nvGraphicFramePr>
          <p:cNvPr id="4106" name="Object 6">
            <a:extLst>
              <a:ext uri="{FF2B5EF4-FFF2-40B4-BE49-F238E27FC236}">
                <a16:creationId xmlns:a16="http://schemas.microsoft.com/office/drawing/2014/main" id="{66C8669A-9774-5411-6952-FCE11E972EB0}"/>
              </a:ext>
            </a:extLst>
          </p:cNvPr>
          <p:cNvGraphicFramePr>
            <a:graphicFrameLocks noChangeAspect="1"/>
          </p:cNvGraphicFramePr>
          <p:nvPr/>
        </p:nvGraphicFramePr>
        <p:xfrm>
          <a:off x="5257801" y="3200401"/>
          <a:ext cx="6781800" cy="2943225"/>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4106" name="Object 6">
                        <a:extLst>
                          <a:ext uri="{FF2B5EF4-FFF2-40B4-BE49-F238E27FC236}">
                            <a16:creationId xmlns:a16="http://schemas.microsoft.com/office/drawing/2014/main" id="{66C8669A-9774-5411-6952-FCE11E972E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1" y="3200401"/>
                        <a:ext cx="6781800" cy="294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7" name="TextBox 7">
            <a:extLst>
              <a:ext uri="{FF2B5EF4-FFF2-40B4-BE49-F238E27FC236}">
                <a16:creationId xmlns:a16="http://schemas.microsoft.com/office/drawing/2014/main" id="{42B17410-A8AE-08FC-53E8-ECD908A71E3D}"/>
              </a:ext>
            </a:extLst>
          </p:cNvPr>
          <p:cNvSpPr txBox="1">
            <a:spLocks noChangeArrowheads="1"/>
          </p:cNvSpPr>
          <p:nvPr/>
        </p:nvSpPr>
        <p:spPr bwMode="auto">
          <a:xfrm>
            <a:off x="533402" y="2362200"/>
            <a:ext cx="7210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You can mix different Ethernet standards in your network. Here’s an example:</a:t>
            </a:r>
          </a:p>
        </p:txBody>
      </p:sp>
      <p:sp>
        <p:nvSpPr>
          <p:cNvPr id="9" name="TextBox 8">
            <a:extLst>
              <a:ext uri="{FF2B5EF4-FFF2-40B4-BE49-F238E27FC236}">
                <a16:creationId xmlns:a16="http://schemas.microsoft.com/office/drawing/2014/main" id="{E43F7D58-D5EB-594E-010A-8B2B6BA6DB71}"/>
              </a:ext>
            </a:extLst>
          </p:cNvPr>
          <p:cNvSpPr txBox="1"/>
          <p:nvPr/>
        </p:nvSpPr>
        <p:spPr>
          <a:xfrm>
            <a:off x="533402" y="3276600"/>
            <a:ext cx="4671087" cy="1714380"/>
          </a:xfrm>
          <a:prstGeom prst="rect">
            <a:avLst/>
          </a:prstGeom>
          <a:noFill/>
        </p:spPr>
        <p:txBody>
          <a:bodyPr wrap="none">
            <a:spAutoFit/>
          </a:bodyPr>
          <a:lstStyle/>
          <a:p>
            <a:pPr>
              <a:lnSpc>
                <a:spcPct val="150000"/>
              </a:lnSpc>
              <a:defRPr/>
            </a:pPr>
            <a:r>
              <a:rPr lang="en-US" dirty="0">
                <a:cs typeface="Arial" charset="0"/>
              </a:rPr>
              <a:t>There are two cables we can use for Ethernet:</a:t>
            </a:r>
          </a:p>
          <a:p>
            <a:pPr marL="285750" indent="-285750">
              <a:lnSpc>
                <a:spcPct val="150000"/>
              </a:lnSpc>
              <a:buFont typeface="Arial" pitchFamily="34" charset="0"/>
              <a:buChar char="•"/>
              <a:defRPr/>
            </a:pPr>
            <a:r>
              <a:rPr lang="en-US" dirty="0">
                <a:cs typeface="Arial" charset="0"/>
              </a:rPr>
              <a:t>UTP (Unshielded Twisted Pair)</a:t>
            </a:r>
          </a:p>
          <a:p>
            <a:pPr marL="285750" indent="-285750">
              <a:lnSpc>
                <a:spcPct val="150000"/>
              </a:lnSpc>
              <a:buFont typeface="Arial" pitchFamily="34" charset="0"/>
              <a:buChar char="•"/>
              <a:defRPr/>
            </a:pPr>
            <a:r>
              <a:rPr lang="en-US" dirty="0">
                <a:cs typeface="Arial" charset="0"/>
              </a:rPr>
              <a:t>Glass fiber</a:t>
            </a:r>
          </a:p>
          <a:p>
            <a:pPr>
              <a:lnSpc>
                <a:spcPct val="150000"/>
              </a:lnSpc>
              <a:defRPr/>
            </a:pPr>
            <a:endParaRPr lang="en-US" dirty="0">
              <a:cs typeface="Arial" charset="0"/>
            </a:endParaRPr>
          </a:p>
        </p:txBody>
      </p:sp>
      <p:sp>
        <p:nvSpPr>
          <p:cNvPr id="4" name="Title 3">
            <a:extLst>
              <a:ext uri="{FF2B5EF4-FFF2-40B4-BE49-F238E27FC236}">
                <a16:creationId xmlns:a16="http://schemas.microsoft.com/office/drawing/2014/main" id="{CF1BFA8F-85DD-4B7D-D880-E05A8DCA2D71}"/>
              </a:ext>
            </a:extLst>
          </p:cNvPr>
          <p:cNvSpPr>
            <a:spLocks noGrp="1"/>
          </p:cNvSpPr>
          <p:nvPr>
            <p:ph type="title"/>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6095D9BB-51AC-2B00-3B69-290D4006B37E}"/>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F8334D31-0B16-43FE-AD18-85F84A7086D1}" type="slidenum">
              <a:rPr lang="en-US" altLang="en-US" sz="1400">
                <a:latin typeface="Times New Roman" panose="02020603050405020304" pitchFamily="18" charset="0"/>
              </a:rPr>
              <a:pPr eaLnBrk="1" hangingPunct="1"/>
              <a:t>5</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C48E4BDD-CB42-C756-7F0E-FBE1D8495536}"/>
              </a:ext>
            </a:extLst>
          </p:cNvPr>
          <p:cNvSpPr txBox="1"/>
          <p:nvPr/>
        </p:nvSpPr>
        <p:spPr>
          <a:xfrm>
            <a:off x="533401" y="1447800"/>
            <a:ext cx="2819400" cy="58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US" sz="3200" dirty="0"/>
              <a:t>Physical Layer</a:t>
            </a:r>
          </a:p>
        </p:txBody>
      </p:sp>
      <p:sp>
        <p:nvSpPr>
          <p:cNvPr id="5128" name="AutoShape 2" descr="ethernet topology mixed standards">
            <a:extLst>
              <a:ext uri="{FF2B5EF4-FFF2-40B4-BE49-F238E27FC236}">
                <a16:creationId xmlns:a16="http://schemas.microsoft.com/office/drawing/2014/main" id="{BDFFC7DF-6D8E-2D00-6411-768B1201F170}"/>
              </a:ext>
            </a:extLst>
          </p:cNvPr>
          <p:cNvSpPr>
            <a:spLocks noChangeAspect="1" noChangeArrowheads="1"/>
          </p:cNvSpPr>
          <p:nvPr/>
        </p:nvSpPr>
        <p:spPr bwMode="auto">
          <a:xfrm>
            <a:off x="1571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5129" name="AutoShape 4" descr="ethernet topology mixed standards">
            <a:extLst>
              <a:ext uri="{FF2B5EF4-FFF2-40B4-BE49-F238E27FC236}">
                <a16:creationId xmlns:a16="http://schemas.microsoft.com/office/drawing/2014/main" id="{A5502379-341A-D48C-956A-50D75E11AD17}"/>
              </a:ext>
            </a:extLst>
          </p:cNvPr>
          <p:cNvSpPr>
            <a:spLocks noChangeAspect="1" noChangeArrowheads="1"/>
          </p:cNvSpPr>
          <p:nvPr/>
        </p:nvSpPr>
        <p:spPr bwMode="auto">
          <a:xfrm>
            <a:off x="3095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 name="TextBox 1">
            <a:extLst>
              <a:ext uri="{FF2B5EF4-FFF2-40B4-BE49-F238E27FC236}">
                <a16:creationId xmlns:a16="http://schemas.microsoft.com/office/drawing/2014/main" id="{911073FF-87A8-F99A-708D-9E3C560CED97}"/>
              </a:ext>
            </a:extLst>
          </p:cNvPr>
          <p:cNvSpPr txBox="1"/>
          <p:nvPr/>
        </p:nvSpPr>
        <p:spPr>
          <a:xfrm>
            <a:off x="1143001" y="2209800"/>
            <a:ext cx="1329210"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pPr>
              <a:defRPr/>
            </a:pPr>
            <a:r>
              <a:rPr lang="en-US" b="1" dirty="0"/>
              <a:t>UTP Cabling</a:t>
            </a:r>
          </a:p>
        </p:txBody>
      </p:sp>
      <p:sp>
        <p:nvSpPr>
          <p:cNvPr id="5131" name="TextBox 3">
            <a:extLst>
              <a:ext uri="{FF2B5EF4-FFF2-40B4-BE49-F238E27FC236}">
                <a16:creationId xmlns:a16="http://schemas.microsoft.com/office/drawing/2014/main" id="{2F19051C-7437-5F51-F61B-91CE90C104F0}"/>
              </a:ext>
            </a:extLst>
          </p:cNvPr>
          <p:cNvSpPr txBox="1">
            <a:spLocks noChangeArrowheads="1"/>
          </p:cNvSpPr>
          <p:nvPr/>
        </p:nvSpPr>
        <p:spPr bwMode="auto">
          <a:xfrm>
            <a:off x="461963" y="2667001"/>
            <a:ext cx="8758238" cy="780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UTP cables use copper to </a:t>
            </a:r>
            <a:r>
              <a:rPr lang="en-US" altLang="en-US" u="sng"/>
              <a:t>transmit</a:t>
            </a:r>
            <a:r>
              <a:rPr lang="en-US" altLang="en-US"/>
              <a:t> an electrical signal. The </a:t>
            </a:r>
            <a:r>
              <a:rPr lang="en-US" altLang="en-US" u="sng"/>
              <a:t>advantage</a:t>
            </a:r>
            <a:r>
              <a:rPr lang="en-US" altLang="en-US"/>
              <a:t> of UTP is that it’s cheap and easy to work with. One of the </a:t>
            </a:r>
            <a:r>
              <a:rPr lang="en-US" altLang="en-US" u="sng"/>
              <a:t>disadvantages</a:t>
            </a:r>
            <a:r>
              <a:rPr lang="en-US" altLang="en-US"/>
              <a:t> is that you can only use it up to 100 meter.</a:t>
            </a:r>
          </a:p>
        </p:txBody>
      </p:sp>
      <p:graphicFrame>
        <p:nvGraphicFramePr>
          <p:cNvPr id="5132" name="Object 7">
            <a:extLst>
              <a:ext uri="{FF2B5EF4-FFF2-40B4-BE49-F238E27FC236}">
                <a16:creationId xmlns:a16="http://schemas.microsoft.com/office/drawing/2014/main" id="{C803FF15-8BF5-CC0A-EC3C-8774F529C7AC}"/>
              </a:ext>
            </a:extLst>
          </p:cNvPr>
          <p:cNvGraphicFramePr>
            <a:graphicFrameLocks noChangeAspect="1"/>
          </p:cNvGraphicFramePr>
          <p:nvPr/>
        </p:nvGraphicFramePr>
        <p:xfrm>
          <a:off x="8213726" y="3579813"/>
          <a:ext cx="3810000" cy="2857500"/>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5132" name="Object 7">
                        <a:extLst>
                          <a:ext uri="{FF2B5EF4-FFF2-40B4-BE49-F238E27FC236}">
                            <a16:creationId xmlns:a16="http://schemas.microsoft.com/office/drawing/2014/main" id="{C803FF15-8BF5-CC0A-EC3C-8774F529C7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3726" y="3579813"/>
                        <a:ext cx="3810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Box 8">
            <a:extLst>
              <a:ext uri="{FF2B5EF4-FFF2-40B4-BE49-F238E27FC236}">
                <a16:creationId xmlns:a16="http://schemas.microsoft.com/office/drawing/2014/main" id="{C117D919-4821-BA63-F459-2068B4CBE1C2}"/>
              </a:ext>
            </a:extLst>
          </p:cNvPr>
          <p:cNvSpPr txBox="1"/>
          <p:nvPr/>
        </p:nvSpPr>
        <p:spPr>
          <a:xfrm>
            <a:off x="533402" y="3657600"/>
            <a:ext cx="6426759" cy="1298882"/>
          </a:xfrm>
          <a:prstGeom prst="rect">
            <a:avLst/>
          </a:prstGeom>
          <a:noFill/>
        </p:spPr>
        <p:txBody>
          <a:bodyPr wrap="none">
            <a:spAutoFit/>
          </a:bodyPr>
          <a:lstStyle/>
          <a:p>
            <a:pPr>
              <a:lnSpc>
                <a:spcPct val="150000"/>
              </a:lnSpc>
              <a:defRPr/>
            </a:pPr>
            <a:r>
              <a:rPr lang="en-US" dirty="0">
                <a:cs typeface="Arial" charset="0"/>
              </a:rPr>
              <a:t>To use an electrical signal to transmit data, we need two things:</a:t>
            </a:r>
          </a:p>
          <a:p>
            <a:pPr marL="285750" indent="-285750">
              <a:lnSpc>
                <a:spcPct val="150000"/>
              </a:lnSpc>
              <a:buFont typeface="Arial" pitchFamily="34" charset="0"/>
              <a:buChar char="•"/>
              <a:defRPr/>
            </a:pPr>
            <a:r>
              <a:rPr lang="en-US" dirty="0">
                <a:cs typeface="Arial" charset="0"/>
              </a:rPr>
              <a:t>An electrical circuit.</a:t>
            </a:r>
          </a:p>
          <a:p>
            <a:pPr marL="285750" indent="-285750">
              <a:lnSpc>
                <a:spcPct val="150000"/>
              </a:lnSpc>
              <a:buFont typeface="Arial" pitchFamily="34" charset="0"/>
              <a:buChar char="•"/>
              <a:defRPr/>
            </a:pPr>
            <a:r>
              <a:rPr lang="en-US" dirty="0">
                <a:cs typeface="Arial" charset="0"/>
              </a:rPr>
              <a:t>Something to communicate a 1 or 0 to the other side.</a:t>
            </a:r>
          </a:p>
        </p:txBody>
      </p:sp>
      <p:graphicFrame>
        <p:nvGraphicFramePr>
          <p:cNvPr id="5134" name="Object 9">
            <a:extLst>
              <a:ext uri="{FF2B5EF4-FFF2-40B4-BE49-F238E27FC236}">
                <a16:creationId xmlns:a16="http://schemas.microsoft.com/office/drawing/2014/main" id="{19ECA46C-B7F7-A9CE-6C09-9396727BD913}"/>
              </a:ext>
            </a:extLst>
          </p:cNvPr>
          <p:cNvGraphicFramePr>
            <a:graphicFrameLocks noChangeAspect="1"/>
          </p:cNvGraphicFramePr>
          <p:nvPr/>
        </p:nvGraphicFramePr>
        <p:xfrm>
          <a:off x="1143002" y="5010150"/>
          <a:ext cx="6600825" cy="1295400"/>
        </p:xfrm>
        <a:graphic>
          <a:graphicData uri="http://schemas.openxmlformats.org/presentationml/2006/ole">
            <mc:AlternateContent xmlns:mc="http://schemas.openxmlformats.org/markup-compatibility/2006">
              <mc:Choice xmlns:v="urn:schemas-microsoft-com:vml" Requires="v">
                <p:oleObj name="Bitmap Image" r:id="rId5" imgW="0" imgH="0" progId="Paint.Picture">
                  <p:embed/>
                </p:oleObj>
              </mc:Choice>
              <mc:Fallback>
                <p:oleObj name="Bitmap Image" r:id="rId5" imgW="0" imgH="0" progId="Paint.Picture">
                  <p:embed/>
                  <p:pic>
                    <p:nvPicPr>
                      <p:cNvPr id="5134" name="Object 9">
                        <a:extLst>
                          <a:ext uri="{FF2B5EF4-FFF2-40B4-BE49-F238E27FC236}">
                            <a16:creationId xmlns:a16="http://schemas.microsoft.com/office/drawing/2014/main" id="{19ECA46C-B7F7-A9CE-6C09-9396727BD9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2" y="5010150"/>
                        <a:ext cx="66008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987227BA-CCDD-3CDD-7031-C228067C9399}"/>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46997486-0FC7-4AEF-84F3-23469CF5AD3C}" type="slidenum">
              <a:rPr lang="en-US" altLang="en-US" sz="1400">
                <a:latin typeface="Times New Roman" panose="02020603050405020304" pitchFamily="18" charset="0"/>
              </a:rPr>
              <a:pPr eaLnBrk="1" hangingPunct="1"/>
              <a:t>6</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0E79D5B4-8371-95B0-EFF3-27CCB1AD3A84}"/>
              </a:ext>
            </a:extLst>
          </p:cNvPr>
          <p:cNvSpPr txBox="1"/>
          <p:nvPr/>
        </p:nvSpPr>
        <p:spPr>
          <a:xfrm>
            <a:off x="533401" y="1447800"/>
            <a:ext cx="2895600" cy="58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US" sz="3200" dirty="0"/>
              <a:t>Physical Layer</a:t>
            </a:r>
          </a:p>
        </p:txBody>
      </p:sp>
      <p:sp>
        <p:nvSpPr>
          <p:cNvPr id="6152" name="AutoShape 2" descr="ethernet topology mixed standards">
            <a:extLst>
              <a:ext uri="{FF2B5EF4-FFF2-40B4-BE49-F238E27FC236}">
                <a16:creationId xmlns:a16="http://schemas.microsoft.com/office/drawing/2014/main" id="{1C2652F7-1E5D-373B-8BD0-DE3834F5FEA2}"/>
              </a:ext>
            </a:extLst>
          </p:cNvPr>
          <p:cNvSpPr>
            <a:spLocks noChangeAspect="1" noChangeArrowheads="1"/>
          </p:cNvSpPr>
          <p:nvPr/>
        </p:nvSpPr>
        <p:spPr bwMode="auto">
          <a:xfrm>
            <a:off x="1571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6153" name="AutoShape 4" descr="ethernet topology mixed standards">
            <a:extLst>
              <a:ext uri="{FF2B5EF4-FFF2-40B4-BE49-F238E27FC236}">
                <a16:creationId xmlns:a16="http://schemas.microsoft.com/office/drawing/2014/main" id="{41E48FBD-E70C-419B-6EE2-33BE4EF078B9}"/>
              </a:ext>
            </a:extLst>
          </p:cNvPr>
          <p:cNvSpPr>
            <a:spLocks noChangeAspect="1" noChangeArrowheads="1"/>
          </p:cNvSpPr>
          <p:nvPr/>
        </p:nvSpPr>
        <p:spPr bwMode="auto">
          <a:xfrm>
            <a:off x="3095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2" name="TextBox 1">
            <a:extLst>
              <a:ext uri="{FF2B5EF4-FFF2-40B4-BE49-F238E27FC236}">
                <a16:creationId xmlns:a16="http://schemas.microsoft.com/office/drawing/2014/main" id="{F14C032F-6C43-B6BF-E673-1796312213EE}"/>
              </a:ext>
            </a:extLst>
          </p:cNvPr>
          <p:cNvSpPr txBox="1"/>
          <p:nvPr/>
        </p:nvSpPr>
        <p:spPr>
          <a:xfrm>
            <a:off x="1143001" y="2133600"/>
            <a:ext cx="1329210"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pPr>
              <a:defRPr/>
            </a:pPr>
            <a:r>
              <a:rPr lang="en-US" b="1" dirty="0"/>
              <a:t>UTP Cabling</a:t>
            </a:r>
          </a:p>
        </p:txBody>
      </p:sp>
      <p:graphicFrame>
        <p:nvGraphicFramePr>
          <p:cNvPr id="6155" name="Object 6">
            <a:extLst>
              <a:ext uri="{FF2B5EF4-FFF2-40B4-BE49-F238E27FC236}">
                <a16:creationId xmlns:a16="http://schemas.microsoft.com/office/drawing/2014/main" id="{52568DD2-785A-7C6A-FD1A-1482096D701D}"/>
              </a:ext>
            </a:extLst>
          </p:cNvPr>
          <p:cNvGraphicFramePr>
            <a:graphicFrameLocks noChangeAspect="1"/>
          </p:cNvGraphicFramePr>
          <p:nvPr/>
        </p:nvGraphicFramePr>
        <p:xfrm>
          <a:off x="7785102" y="1481138"/>
          <a:ext cx="4238625" cy="2571750"/>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6155" name="Object 6">
                        <a:extLst>
                          <a:ext uri="{FF2B5EF4-FFF2-40B4-BE49-F238E27FC236}">
                            <a16:creationId xmlns:a16="http://schemas.microsoft.com/office/drawing/2014/main" id="{52568DD2-785A-7C6A-FD1A-1482096D70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5102" y="1481138"/>
                        <a:ext cx="4238625"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6" name="Object 10">
            <a:extLst>
              <a:ext uri="{FF2B5EF4-FFF2-40B4-BE49-F238E27FC236}">
                <a16:creationId xmlns:a16="http://schemas.microsoft.com/office/drawing/2014/main" id="{39599A13-2A27-4270-CD5C-27A337734C51}"/>
              </a:ext>
            </a:extLst>
          </p:cNvPr>
          <p:cNvGraphicFramePr>
            <a:graphicFrameLocks noChangeAspect="1"/>
          </p:cNvGraphicFramePr>
          <p:nvPr/>
        </p:nvGraphicFramePr>
        <p:xfrm>
          <a:off x="8077202" y="4114800"/>
          <a:ext cx="3660775" cy="2616200"/>
        </p:xfrm>
        <a:graphic>
          <a:graphicData uri="http://schemas.openxmlformats.org/presentationml/2006/ole">
            <mc:AlternateContent xmlns:mc="http://schemas.openxmlformats.org/markup-compatibility/2006">
              <mc:Choice xmlns:v="urn:schemas-microsoft-com:vml" Requires="v">
                <p:oleObj name="Bitmap Image" r:id="rId5" imgW="0" imgH="0" progId="Paint.Picture">
                  <p:embed/>
                </p:oleObj>
              </mc:Choice>
              <mc:Fallback>
                <p:oleObj name="Bitmap Image" r:id="rId5" imgW="0" imgH="0" progId="Paint.Picture">
                  <p:embed/>
                  <p:pic>
                    <p:nvPicPr>
                      <p:cNvPr id="6156" name="Object 10">
                        <a:extLst>
                          <a:ext uri="{FF2B5EF4-FFF2-40B4-BE49-F238E27FC236}">
                            <a16:creationId xmlns:a16="http://schemas.microsoft.com/office/drawing/2014/main" id="{39599A13-2A27-4270-CD5C-27A337734C5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77202" y="4114800"/>
                        <a:ext cx="3660775"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7" name="TextBox 11">
            <a:extLst>
              <a:ext uri="{FF2B5EF4-FFF2-40B4-BE49-F238E27FC236}">
                <a16:creationId xmlns:a16="http://schemas.microsoft.com/office/drawing/2014/main" id="{0AABF172-9828-F4A5-AD0C-AA393FFBED56}"/>
              </a:ext>
            </a:extLst>
          </p:cNvPr>
          <p:cNvSpPr txBox="1">
            <a:spLocks noChangeArrowheads="1"/>
          </p:cNvSpPr>
          <p:nvPr/>
        </p:nvSpPr>
        <p:spPr bwMode="auto">
          <a:xfrm>
            <a:off x="609601" y="3733800"/>
            <a:ext cx="7239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sz="1400"/>
              <a:t>The RJ45 connector has 8 </a:t>
            </a:r>
            <a:r>
              <a:rPr lang="en-US" altLang="en-US" sz="1400" b="1"/>
              <a:t>spots</a:t>
            </a:r>
            <a:r>
              <a:rPr lang="en-US" altLang="en-US" sz="1400"/>
              <a:t> where the wires can be inserted, called “</a:t>
            </a:r>
            <a:r>
              <a:rPr lang="en-US" altLang="en-US" sz="1400" b="1"/>
              <a:t>pins</a:t>
            </a:r>
            <a:r>
              <a:rPr lang="en-US" altLang="en-US" sz="1400"/>
              <a:t>”. We count the pin numbers from left to right, looking at the bottom of the RJ45 connector.</a:t>
            </a:r>
          </a:p>
          <a:p>
            <a:pPr eaLnBrk="1" hangingPunct="1">
              <a:lnSpc>
                <a:spcPct val="150000"/>
              </a:lnSpc>
            </a:pPr>
            <a:endParaRPr lang="en-US" altLang="en-US" sz="1400"/>
          </a:p>
          <a:p>
            <a:pPr eaLnBrk="1" hangingPunct="1">
              <a:lnSpc>
                <a:spcPct val="150000"/>
              </a:lnSpc>
            </a:pPr>
            <a:r>
              <a:rPr lang="en-US" altLang="en-US" sz="1400"/>
              <a:t> The cable with connectors is then connected to a NIC (Network Card) or a switch port:</a:t>
            </a:r>
          </a:p>
        </p:txBody>
      </p:sp>
      <p:sp>
        <p:nvSpPr>
          <p:cNvPr id="6158" name="TextBox 12">
            <a:extLst>
              <a:ext uri="{FF2B5EF4-FFF2-40B4-BE49-F238E27FC236}">
                <a16:creationId xmlns:a16="http://schemas.microsoft.com/office/drawing/2014/main" id="{2F331563-188F-2372-8FD7-151201821923}"/>
              </a:ext>
            </a:extLst>
          </p:cNvPr>
          <p:cNvSpPr txBox="1">
            <a:spLocks noChangeArrowheads="1"/>
          </p:cNvSpPr>
          <p:nvPr/>
        </p:nvSpPr>
        <p:spPr bwMode="auto">
          <a:xfrm>
            <a:off x="609601" y="2590801"/>
            <a:ext cx="7239000" cy="1017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sz="1400"/>
              <a:t>As you can see side, the UTP cable has 4 wire pairs with 2 wires each. Each wire pair has two matching colors. For example, blue and blue-white. On the end of the UTP cable, we use an RJ45 connector:</a:t>
            </a:r>
          </a:p>
        </p:txBody>
      </p:sp>
      <p:graphicFrame>
        <p:nvGraphicFramePr>
          <p:cNvPr id="6159" name="Object 13">
            <a:extLst>
              <a:ext uri="{FF2B5EF4-FFF2-40B4-BE49-F238E27FC236}">
                <a16:creationId xmlns:a16="http://schemas.microsoft.com/office/drawing/2014/main" id="{232B41F9-DF3A-F0B7-20A0-AB78FC5A4427}"/>
              </a:ext>
            </a:extLst>
          </p:cNvPr>
          <p:cNvGraphicFramePr>
            <a:graphicFrameLocks noChangeAspect="1"/>
          </p:cNvGraphicFramePr>
          <p:nvPr/>
        </p:nvGraphicFramePr>
        <p:xfrm>
          <a:off x="4038601" y="5143500"/>
          <a:ext cx="3581400" cy="1562100"/>
        </p:xfrm>
        <a:graphic>
          <a:graphicData uri="http://schemas.openxmlformats.org/presentationml/2006/ole">
            <mc:AlternateContent xmlns:mc="http://schemas.openxmlformats.org/markup-compatibility/2006">
              <mc:Choice xmlns:v="urn:schemas-microsoft-com:vml" Requires="v">
                <p:oleObj name="Bitmap Image" r:id="rId7" imgW="0" imgH="0" progId="Paint.Picture">
                  <p:embed/>
                </p:oleObj>
              </mc:Choice>
              <mc:Fallback>
                <p:oleObj name="Bitmap Image" r:id="rId7" imgW="0" imgH="0" progId="Paint.Picture">
                  <p:embed/>
                  <p:pic>
                    <p:nvPicPr>
                      <p:cNvPr id="6159" name="Object 13">
                        <a:extLst>
                          <a:ext uri="{FF2B5EF4-FFF2-40B4-BE49-F238E27FC236}">
                            <a16:creationId xmlns:a16="http://schemas.microsoft.com/office/drawing/2014/main" id="{232B41F9-DF3A-F0B7-20A0-AB78FC5A442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8601" y="5143500"/>
                        <a:ext cx="35814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0DAC5AC0-0311-66B2-E13A-FF370B720E10}"/>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F3CFEC33-42D0-40FB-9F7C-BE79EEA29AD0}" type="slidenum">
              <a:rPr lang="en-US" altLang="en-US" sz="1400">
                <a:latin typeface="Times New Roman" panose="02020603050405020304" pitchFamily="18" charset="0"/>
              </a:rPr>
              <a:pPr eaLnBrk="1" hangingPunct="1"/>
              <a:t>7</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1248F899-16C7-DB15-A552-05FECE3B31B5}"/>
              </a:ext>
            </a:extLst>
          </p:cNvPr>
          <p:cNvSpPr txBox="1"/>
          <p:nvPr/>
        </p:nvSpPr>
        <p:spPr>
          <a:xfrm>
            <a:off x="533401" y="1447800"/>
            <a:ext cx="2895600" cy="58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defRPr/>
            </a:pPr>
            <a:r>
              <a:rPr lang="en-US" sz="3200" dirty="0"/>
              <a:t>Physical Layer</a:t>
            </a:r>
          </a:p>
        </p:txBody>
      </p:sp>
      <p:sp>
        <p:nvSpPr>
          <p:cNvPr id="7176" name="AutoShape 2" descr="ethernet topology mixed standards">
            <a:extLst>
              <a:ext uri="{FF2B5EF4-FFF2-40B4-BE49-F238E27FC236}">
                <a16:creationId xmlns:a16="http://schemas.microsoft.com/office/drawing/2014/main" id="{6DF01974-DD6D-795F-FF6F-3B6EF9D3F690}"/>
              </a:ext>
            </a:extLst>
          </p:cNvPr>
          <p:cNvSpPr>
            <a:spLocks noChangeAspect="1" noChangeArrowheads="1"/>
          </p:cNvSpPr>
          <p:nvPr/>
        </p:nvSpPr>
        <p:spPr bwMode="auto">
          <a:xfrm>
            <a:off x="1571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7177" name="AutoShape 4" descr="ethernet topology mixed standards">
            <a:extLst>
              <a:ext uri="{FF2B5EF4-FFF2-40B4-BE49-F238E27FC236}">
                <a16:creationId xmlns:a16="http://schemas.microsoft.com/office/drawing/2014/main" id="{73810C08-539E-0E0F-E783-35B14E62629F}"/>
              </a:ext>
            </a:extLst>
          </p:cNvPr>
          <p:cNvSpPr>
            <a:spLocks noChangeAspect="1" noChangeArrowheads="1"/>
          </p:cNvSpPr>
          <p:nvPr/>
        </p:nvSpPr>
        <p:spPr bwMode="auto">
          <a:xfrm>
            <a:off x="3095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3" name="TextBox 12">
            <a:extLst>
              <a:ext uri="{FF2B5EF4-FFF2-40B4-BE49-F238E27FC236}">
                <a16:creationId xmlns:a16="http://schemas.microsoft.com/office/drawing/2014/main" id="{D435E46E-E3BB-EBF8-21A5-F844315D7BA9}"/>
              </a:ext>
            </a:extLst>
          </p:cNvPr>
          <p:cNvSpPr txBox="1"/>
          <p:nvPr/>
        </p:nvSpPr>
        <p:spPr>
          <a:xfrm>
            <a:off x="1143001" y="2133600"/>
            <a:ext cx="1329210"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pPr>
              <a:defRPr/>
            </a:pPr>
            <a:r>
              <a:rPr lang="en-US" b="1" dirty="0"/>
              <a:t>UTP Cabling</a:t>
            </a:r>
          </a:p>
        </p:txBody>
      </p:sp>
      <p:sp>
        <p:nvSpPr>
          <p:cNvPr id="7179" name="TextBox 1">
            <a:extLst>
              <a:ext uri="{FF2B5EF4-FFF2-40B4-BE49-F238E27FC236}">
                <a16:creationId xmlns:a16="http://schemas.microsoft.com/office/drawing/2014/main" id="{47DF1DD7-07F0-AC6C-7487-46D2CF2EB348}"/>
              </a:ext>
            </a:extLst>
          </p:cNvPr>
          <p:cNvSpPr txBox="1">
            <a:spLocks noChangeArrowheads="1"/>
          </p:cNvSpPr>
          <p:nvPr/>
        </p:nvSpPr>
        <p:spPr bwMode="auto">
          <a:xfrm>
            <a:off x="2754313" y="2133600"/>
            <a:ext cx="28638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b="1" u="sng"/>
              <a:t>1- Straight Through Cable</a:t>
            </a:r>
          </a:p>
        </p:txBody>
      </p:sp>
      <p:sp>
        <p:nvSpPr>
          <p:cNvPr id="7180" name="TextBox 3">
            <a:extLst>
              <a:ext uri="{FF2B5EF4-FFF2-40B4-BE49-F238E27FC236}">
                <a16:creationId xmlns:a16="http://schemas.microsoft.com/office/drawing/2014/main" id="{54A65D95-6A68-E6FC-CB99-79B59380F349}"/>
              </a:ext>
            </a:extLst>
          </p:cNvPr>
          <p:cNvSpPr txBox="1">
            <a:spLocks noChangeArrowheads="1"/>
          </p:cNvSpPr>
          <p:nvPr/>
        </p:nvSpPr>
        <p:spPr bwMode="auto">
          <a:xfrm>
            <a:off x="609601" y="2743201"/>
            <a:ext cx="9448800" cy="780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10BASE-T and 100BASE-T both use only </a:t>
            </a:r>
            <a:r>
              <a:rPr lang="en-US" altLang="en-US" u="sng"/>
              <a:t>two wire pairs </a:t>
            </a:r>
            <a:r>
              <a:rPr lang="en-US" altLang="en-US"/>
              <a:t>in a UTP cable, one for </a:t>
            </a:r>
            <a:r>
              <a:rPr lang="en-US" altLang="en-US" b="1">
                <a:solidFill>
                  <a:srgbClr val="FF0000"/>
                </a:solidFill>
              </a:rPr>
              <a:t>transmission</a:t>
            </a:r>
            <a:r>
              <a:rPr lang="en-US" altLang="en-US">
                <a:solidFill>
                  <a:srgbClr val="FF0000"/>
                </a:solidFill>
              </a:rPr>
              <a:t> </a:t>
            </a:r>
            <a:r>
              <a:rPr lang="en-US" altLang="en-US"/>
              <a:t>and the other for </a:t>
            </a:r>
            <a:r>
              <a:rPr lang="en-US" altLang="en-US" b="1">
                <a:solidFill>
                  <a:srgbClr val="FF0000"/>
                </a:solidFill>
              </a:rPr>
              <a:t>receiving</a:t>
            </a:r>
            <a:r>
              <a:rPr lang="en-US" altLang="en-US"/>
              <a:t>. </a:t>
            </a:r>
          </a:p>
        </p:txBody>
      </p:sp>
      <p:graphicFrame>
        <p:nvGraphicFramePr>
          <p:cNvPr id="7181" name="Object 9">
            <a:extLst>
              <a:ext uri="{FF2B5EF4-FFF2-40B4-BE49-F238E27FC236}">
                <a16:creationId xmlns:a16="http://schemas.microsoft.com/office/drawing/2014/main" id="{A4DB6ACE-83CA-6998-2E7E-1BBF71AAEEE5}"/>
              </a:ext>
            </a:extLst>
          </p:cNvPr>
          <p:cNvGraphicFramePr>
            <a:graphicFrameLocks noChangeAspect="1"/>
          </p:cNvGraphicFramePr>
          <p:nvPr/>
        </p:nvGraphicFramePr>
        <p:xfrm>
          <a:off x="5334001" y="5375275"/>
          <a:ext cx="6705600" cy="1182688"/>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7181" name="Object 9">
                        <a:extLst>
                          <a:ext uri="{FF2B5EF4-FFF2-40B4-BE49-F238E27FC236}">
                            <a16:creationId xmlns:a16="http://schemas.microsoft.com/office/drawing/2014/main" id="{A4DB6ACE-83CA-6998-2E7E-1BBF71AAEE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1" y="5375275"/>
                        <a:ext cx="6705600"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82" name="TextBox 10">
            <a:extLst>
              <a:ext uri="{FF2B5EF4-FFF2-40B4-BE49-F238E27FC236}">
                <a16:creationId xmlns:a16="http://schemas.microsoft.com/office/drawing/2014/main" id="{B9D16346-1241-77C0-1B6E-4961621E68FD}"/>
              </a:ext>
            </a:extLst>
          </p:cNvPr>
          <p:cNvSpPr txBox="1">
            <a:spLocks noChangeArrowheads="1"/>
          </p:cNvSpPr>
          <p:nvPr/>
        </p:nvSpPr>
        <p:spPr bwMode="auto">
          <a:xfrm>
            <a:off x="614363" y="3733800"/>
            <a:ext cx="10434638"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On the left side, we use the orange/orange-white wires to transmit data (pin 1 and 2), the green/green-white wires (pin 3 and 6) are used to receive data. On the other end, we receive data on the orange/orange-white wires (pin 1 and 2) and transmit on the green/green-white wires (pin 3 and 6).</a:t>
            </a:r>
          </a:p>
          <a:p>
            <a:pPr eaLnBrk="1" hangingPunct="1">
              <a:lnSpc>
                <a:spcPct val="150000"/>
              </a:lnSpc>
            </a:pPr>
            <a:r>
              <a:rPr lang="en-US" altLang="en-US"/>
              <a:t>We call this the straight through cable, the wires on </a:t>
            </a:r>
            <a:r>
              <a:rPr lang="en-US" altLang="en-US" b="1"/>
              <a:t>both ends are connected one-to-one</a:t>
            </a:r>
            <a:r>
              <a:rPr lang="en-US" altLang="en-US"/>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C6CC035E-E4E3-3913-C60D-2649F0AE8A09}"/>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044B9712-1AB7-42DF-9151-CEF8F234EDFD}" type="slidenum">
              <a:rPr lang="en-US" altLang="en-US" sz="1400">
                <a:latin typeface="Times New Roman" panose="02020603050405020304" pitchFamily="18" charset="0"/>
              </a:rPr>
              <a:pPr eaLnBrk="1" hangingPunct="1"/>
              <a:t>8</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7879C098-0BC0-6806-8AA9-10D7B2633F15}"/>
              </a:ext>
            </a:extLst>
          </p:cNvPr>
          <p:cNvSpPr txBox="1"/>
          <p:nvPr/>
        </p:nvSpPr>
        <p:spPr>
          <a:xfrm>
            <a:off x="533402" y="1447800"/>
            <a:ext cx="2727325" cy="58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a:defRPr/>
            </a:pPr>
            <a:r>
              <a:rPr lang="en-US" sz="3200" dirty="0"/>
              <a:t>Physical Layer</a:t>
            </a:r>
          </a:p>
        </p:txBody>
      </p:sp>
      <p:sp>
        <p:nvSpPr>
          <p:cNvPr id="8200" name="AutoShape 2" descr="ethernet topology mixed standards">
            <a:extLst>
              <a:ext uri="{FF2B5EF4-FFF2-40B4-BE49-F238E27FC236}">
                <a16:creationId xmlns:a16="http://schemas.microsoft.com/office/drawing/2014/main" id="{FF03BEB7-C1B7-899B-D940-DFB5240A4D6D}"/>
              </a:ext>
            </a:extLst>
          </p:cNvPr>
          <p:cNvSpPr>
            <a:spLocks noChangeAspect="1" noChangeArrowheads="1"/>
          </p:cNvSpPr>
          <p:nvPr/>
        </p:nvSpPr>
        <p:spPr bwMode="auto">
          <a:xfrm>
            <a:off x="1571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8201" name="AutoShape 4" descr="ethernet topology mixed standards">
            <a:extLst>
              <a:ext uri="{FF2B5EF4-FFF2-40B4-BE49-F238E27FC236}">
                <a16:creationId xmlns:a16="http://schemas.microsoft.com/office/drawing/2014/main" id="{2BF55465-D3A9-B223-5E51-7CCA11C26DC9}"/>
              </a:ext>
            </a:extLst>
          </p:cNvPr>
          <p:cNvSpPr>
            <a:spLocks noChangeAspect="1" noChangeArrowheads="1"/>
          </p:cNvSpPr>
          <p:nvPr/>
        </p:nvSpPr>
        <p:spPr bwMode="auto">
          <a:xfrm>
            <a:off x="3095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3" name="TextBox 12">
            <a:extLst>
              <a:ext uri="{FF2B5EF4-FFF2-40B4-BE49-F238E27FC236}">
                <a16:creationId xmlns:a16="http://schemas.microsoft.com/office/drawing/2014/main" id="{6D82B944-6F66-FB24-DD0B-B866BFEEFA14}"/>
              </a:ext>
            </a:extLst>
          </p:cNvPr>
          <p:cNvSpPr txBox="1"/>
          <p:nvPr/>
        </p:nvSpPr>
        <p:spPr>
          <a:xfrm>
            <a:off x="1143001" y="2133600"/>
            <a:ext cx="1329210"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pPr>
              <a:defRPr/>
            </a:pPr>
            <a:r>
              <a:rPr lang="en-US" b="1" dirty="0"/>
              <a:t>UTP Cabling</a:t>
            </a:r>
          </a:p>
        </p:txBody>
      </p:sp>
      <p:sp>
        <p:nvSpPr>
          <p:cNvPr id="8203" name="TextBox 10">
            <a:extLst>
              <a:ext uri="{FF2B5EF4-FFF2-40B4-BE49-F238E27FC236}">
                <a16:creationId xmlns:a16="http://schemas.microsoft.com/office/drawing/2014/main" id="{43132034-6245-FBB4-D86B-F926E021D521}"/>
              </a:ext>
            </a:extLst>
          </p:cNvPr>
          <p:cNvSpPr txBox="1">
            <a:spLocks noChangeArrowheads="1"/>
          </p:cNvSpPr>
          <p:nvPr/>
        </p:nvSpPr>
        <p:spPr bwMode="auto">
          <a:xfrm>
            <a:off x="2754313" y="2133600"/>
            <a:ext cx="2120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b="1" u="sng"/>
              <a:t>2- Crossover Cable</a:t>
            </a:r>
          </a:p>
        </p:txBody>
      </p:sp>
      <p:sp>
        <p:nvSpPr>
          <p:cNvPr id="8204" name="TextBox 1">
            <a:extLst>
              <a:ext uri="{FF2B5EF4-FFF2-40B4-BE49-F238E27FC236}">
                <a16:creationId xmlns:a16="http://schemas.microsoft.com/office/drawing/2014/main" id="{8C2D93B7-4E82-1E14-E188-736C118115DB}"/>
              </a:ext>
            </a:extLst>
          </p:cNvPr>
          <p:cNvSpPr txBox="1">
            <a:spLocks noChangeArrowheads="1"/>
          </p:cNvSpPr>
          <p:nvPr/>
        </p:nvSpPr>
        <p:spPr bwMode="auto">
          <a:xfrm>
            <a:off x="762001" y="2747964"/>
            <a:ext cx="1051560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sz="1400"/>
              <a:t>What if we want to connect two switches to each other? If both of them transmit on pins 3 and 6, we get a </a:t>
            </a:r>
            <a:r>
              <a:rPr lang="en-US" altLang="en-US" sz="1400" b="1">
                <a:solidFill>
                  <a:srgbClr val="FF0000"/>
                </a:solidFill>
              </a:rPr>
              <a:t>collision</a:t>
            </a:r>
            <a:r>
              <a:rPr lang="en-US" altLang="en-US" sz="1400"/>
              <a:t> on the wire.</a:t>
            </a:r>
          </a:p>
          <a:p>
            <a:pPr eaLnBrk="1" hangingPunct="1">
              <a:lnSpc>
                <a:spcPct val="150000"/>
              </a:lnSpc>
            </a:pPr>
            <a:r>
              <a:rPr lang="en-US" altLang="en-US" sz="1400"/>
              <a:t>To make sure we send/receive on the correct pins, we use a different type of cable called a crossover cable.</a:t>
            </a:r>
          </a:p>
          <a:p>
            <a:pPr eaLnBrk="1" hangingPunct="1">
              <a:lnSpc>
                <a:spcPct val="150000"/>
              </a:lnSpc>
            </a:pPr>
            <a:endParaRPr lang="en-US" altLang="en-US" sz="1400"/>
          </a:p>
          <a:p>
            <a:pPr eaLnBrk="1" hangingPunct="1">
              <a:lnSpc>
                <a:spcPct val="150000"/>
              </a:lnSpc>
            </a:pPr>
            <a:r>
              <a:rPr lang="en-US" altLang="en-US" sz="1400"/>
              <a:t> The UTP cable is still the same but on one end of the cable, we have the wires in a different order in the RJ45 connector like this:</a:t>
            </a:r>
          </a:p>
        </p:txBody>
      </p:sp>
      <p:graphicFrame>
        <p:nvGraphicFramePr>
          <p:cNvPr id="8205" name="Object 3">
            <a:extLst>
              <a:ext uri="{FF2B5EF4-FFF2-40B4-BE49-F238E27FC236}">
                <a16:creationId xmlns:a16="http://schemas.microsoft.com/office/drawing/2014/main" id="{6564AADD-D30A-4B8A-0195-9AA358C72B0F}"/>
              </a:ext>
            </a:extLst>
          </p:cNvPr>
          <p:cNvGraphicFramePr>
            <a:graphicFrameLocks noChangeAspect="1"/>
          </p:cNvGraphicFramePr>
          <p:nvPr/>
        </p:nvGraphicFramePr>
        <p:xfrm>
          <a:off x="4391027" y="5334000"/>
          <a:ext cx="7572375" cy="1295400"/>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8205" name="Object 3">
                        <a:extLst>
                          <a:ext uri="{FF2B5EF4-FFF2-40B4-BE49-F238E27FC236}">
                            <a16:creationId xmlns:a16="http://schemas.microsoft.com/office/drawing/2014/main" id="{6564AADD-D30A-4B8A-0195-9AA358C72B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1027" y="5334000"/>
                        <a:ext cx="75723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6" name="TextBox 18">
            <a:extLst>
              <a:ext uri="{FF2B5EF4-FFF2-40B4-BE49-F238E27FC236}">
                <a16:creationId xmlns:a16="http://schemas.microsoft.com/office/drawing/2014/main" id="{36735507-E53C-8F97-D4F6-95B7E33CF411}"/>
              </a:ext>
            </a:extLst>
          </p:cNvPr>
          <p:cNvSpPr txBox="1">
            <a:spLocks noChangeArrowheads="1"/>
          </p:cNvSpPr>
          <p:nvPr/>
        </p:nvSpPr>
        <p:spPr bwMode="auto">
          <a:xfrm>
            <a:off x="762001" y="4343401"/>
            <a:ext cx="93726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sz="1400"/>
              <a:t>Modern switches don’t care if you use a straight-through or crossover cable, they use something called </a:t>
            </a:r>
            <a:r>
              <a:rPr lang="en-US" altLang="en-US" sz="1400" b="1"/>
              <a:t>auto-mdix</a:t>
            </a:r>
            <a:r>
              <a:rPr lang="en-US" altLang="en-US" sz="1400"/>
              <a:t> to figure out what cable you used and use the correct wires automatically.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8F43D8AF-7353-F54C-F59C-FCD06BD4D451}"/>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2A7945FC-6FFF-4110-B8FA-F51ACD8512F8}" type="slidenum">
              <a:rPr lang="en-US" altLang="en-US" sz="1400">
                <a:latin typeface="Times New Roman" panose="02020603050405020304" pitchFamily="18" charset="0"/>
              </a:rPr>
              <a:pPr eaLnBrk="1" hangingPunct="1"/>
              <a:t>9</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4C1CCE3D-3081-17EA-8969-448C62EDBF39}"/>
              </a:ext>
            </a:extLst>
          </p:cNvPr>
          <p:cNvSpPr txBox="1"/>
          <p:nvPr/>
        </p:nvSpPr>
        <p:spPr>
          <a:xfrm>
            <a:off x="533402" y="1447800"/>
            <a:ext cx="2727325" cy="58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a:defRPr/>
            </a:pPr>
            <a:r>
              <a:rPr lang="en-US" sz="3200" dirty="0"/>
              <a:t>Physical Layer</a:t>
            </a:r>
          </a:p>
        </p:txBody>
      </p:sp>
      <p:sp>
        <p:nvSpPr>
          <p:cNvPr id="9224" name="AutoShape 2" descr="ethernet topology mixed standards">
            <a:extLst>
              <a:ext uri="{FF2B5EF4-FFF2-40B4-BE49-F238E27FC236}">
                <a16:creationId xmlns:a16="http://schemas.microsoft.com/office/drawing/2014/main" id="{74F07B92-C4C8-D2A9-4A19-45A1433D5930}"/>
              </a:ext>
            </a:extLst>
          </p:cNvPr>
          <p:cNvSpPr>
            <a:spLocks noChangeAspect="1" noChangeArrowheads="1"/>
          </p:cNvSpPr>
          <p:nvPr/>
        </p:nvSpPr>
        <p:spPr bwMode="auto">
          <a:xfrm>
            <a:off x="1571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9225" name="AutoShape 4" descr="ethernet topology mixed standards">
            <a:extLst>
              <a:ext uri="{FF2B5EF4-FFF2-40B4-BE49-F238E27FC236}">
                <a16:creationId xmlns:a16="http://schemas.microsoft.com/office/drawing/2014/main" id="{4ABD11EC-9061-0F56-02C7-C7B61E52521B}"/>
              </a:ext>
            </a:extLst>
          </p:cNvPr>
          <p:cNvSpPr>
            <a:spLocks noChangeAspect="1" noChangeArrowheads="1"/>
          </p:cNvSpPr>
          <p:nvPr/>
        </p:nvSpPr>
        <p:spPr bwMode="auto">
          <a:xfrm>
            <a:off x="3095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3" name="TextBox 12">
            <a:extLst>
              <a:ext uri="{FF2B5EF4-FFF2-40B4-BE49-F238E27FC236}">
                <a16:creationId xmlns:a16="http://schemas.microsoft.com/office/drawing/2014/main" id="{1D1188B0-0015-6FC5-8E4E-39998E07CDBF}"/>
              </a:ext>
            </a:extLst>
          </p:cNvPr>
          <p:cNvSpPr txBox="1"/>
          <p:nvPr/>
        </p:nvSpPr>
        <p:spPr>
          <a:xfrm>
            <a:off x="1143001" y="2133600"/>
            <a:ext cx="1329210"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pPr>
              <a:defRPr/>
            </a:pPr>
            <a:r>
              <a:rPr lang="en-US" b="1" dirty="0"/>
              <a:t>UTP Cabling</a:t>
            </a:r>
          </a:p>
        </p:txBody>
      </p:sp>
      <p:sp>
        <p:nvSpPr>
          <p:cNvPr id="9227" name="TextBox 10">
            <a:extLst>
              <a:ext uri="{FF2B5EF4-FFF2-40B4-BE49-F238E27FC236}">
                <a16:creationId xmlns:a16="http://schemas.microsoft.com/office/drawing/2014/main" id="{90C48AF3-4456-DF88-D871-199A5873F697}"/>
              </a:ext>
            </a:extLst>
          </p:cNvPr>
          <p:cNvSpPr txBox="1">
            <a:spLocks noChangeArrowheads="1"/>
          </p:cNvSpPr>
          <p:nvPr/>
        </p:nvSpPr>
        <p:spPr bwMode="auto">
          <a:xfrm>
            <a:off x="1011239" y="2557464"/>
            <a:ext cx="17700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b="1"/>
              <a:t>Cable Selection</a:t>
            </a:r>
          </a:p>
        </p:txBody>
      </p:sp>
      <p:sp>
        <p:nvSpPr>
          <p:cNvPr id="9228" name="TextBox 1">
            <a:extLst>
              <a:ext uri="{FF2B5EF4-FFF2-40B4-BE49-F238E27FC236}">
                <a16:creationId xmlns:a16="http://schemas.microsoft.com/office/drawing/2014/main" id="{94C5550F-B035-48D3-DE57-17700B779660}"/>
              </a:ext>
            </a:extLst>
          </p:cNvPr>
          <p:cNvSpPr txBox="1">
            <a:spLocks noChangeArrowheads="1"/>
          </p:cNvSpPr>
          <p:nvPr/>
        </p:nvSpPr>
        <p:spPr bwMode="auto">
          <a:xfrm>
            <a:off x="762001" y="3451225"/>
            <a:ext cx="6705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When do we use a straight through or crossover cable? Something to keep in mind is that computers, printers, routers, access points and such use pin 1 and 2 to transmit their data. Switches use pin 3 and 6 to transmit data.</a:t>
            </a:r>
          </a:p>
        </p:txBody>
      </p:sp>
      <p:graphicFrame>
        <p:nvGraphicFramePr>
          <p:cNvPr id="9229" name="Object 6">
            <a:extLst>
              <a:ext uri="{FF2B5EF4-FFF2-40B4-BE49-F238E27FC236}">
                <a16:creationId xmlns:a16="http://schemas.microsoft.com/office/drawing/2014/main" id="{F3019FC8-6E85-355D-3327-94BB78EFF3E1}"/>
              </a:ext>
            </a:extLst>
          </p:cNvPr>
          <p:cNvGraphicFramePr>
            <a:graphicFrameLocks noChangeAspect="1"/>
          </p:cNvGraphicFramePr>
          <p:nvPr/>
        </p:nvGraphicFramePr>
        <p:xfrm>
          <a:off x="7848601" y="1414464"/>
          <a:ext cx="3338512" cy="5214937"/>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9229" name="Object 6">
                        <a:extLst>
                          <a:ext uri="{FF2B5EF4-FFF2-40B4-BE49-F238E27FC236}">
                            <a16:creationId xmlns:a16="http://schemas.microsoft.com/office/drawing/2014/main" id="{F3019FC8-6E85-355D-3327-94BB78EFF3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8601" y="1414464"/>
                        <a:ext cx="3338512" cy="521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C53731B4-6567-7FCB-9282-99C2ED5EFCD4}"/>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B0ED6421-97F4-461A-BCD5-E053CC0A0BF1}" type="slidenum">
              <a:rPr lang="en-US" altLang="en-US" sz="1400">
                <a:latin typeface="Times New Roman" panose="02020603050405020304" pitchFamily="18" charset="0"/>
              </a:rPr>
              <a:pPr eaLnBrk="1" hangingPunct="1"/>
              <a:t>10</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CCECE870-D962-8047-7F81-44B52CF9FE49}"/>
              </a:ext>
            </a:extLst>
          </p:cNvPr>
          <p:cNvSpPr txBox="1"/>
          <p:nvPr/>
        </p:nvSpPr>
        <p:spPr>
          <a:xfrm>
            <a:off x="533402" y="1447800"/>
            <a:ext cx="2727325" cy="58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a:defRPr/>
            </a:pPr>
            <a:r>
              <a:rPr lang="en-US" sz="3200" dirty="0"/>
              <a:t>Physical Layer</a:t>
            </a:r>
          </a:p>
        </p:txBody>
      </p:sp>
      <p:sp>
        <p:nvSpPr>
          <p:cNvPr id="10248" name="AutoShape 2" descr="ethernet topology mixed standards">
            <a:extLst>
              <a:ext uri="{FF2B5EF4-FFF2-40B4-BE49-F238E27FC236}">
                <a16:creationId xmlns:a16="http://schemas.microsoft.com/office/drawing/2014/main" id="{31508061-8926-015E-433E-7B2D0094AE60}"/>
              </a:ext>
            </a:extLst>
          </p:cNvPr>
          <p:cNvSpPr>
            <a:spLocks noChangeAspect="1" noChangeArrowheads="1"/>
          </p:cNvSpPr>
          <p:nvPr/>
        </p:nvSpPr>
        <p:spPr bwMode="auto">
          <a:xfrm>
            <a:off x="1571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0249" name="AutoShape 4" descr="ethernet topology mixed standards">
            <a:extLst>
              <a:ext uri="{FF2B5EF4-FFF2-40B4-BE49-F238E27FC236}">
                <a16:creationId xmlns:a16="http://schemas.microsoft.com/office/drawing/2014/main" id="{1C6E3D65-E2C4-FBAB-14E3-C6870A7F2D30}"/>
              </a:ext>
            </a:extLst>
          </p:cNvPr>
          <p:cNvSpPr>
            <a:spLocks noChangeAspect="1" noChangeArrowheads="1"/>
          </p:cNvSpPr>
          <p:nvPr/>
        </p:nvSpPr>
        <p:spPr bwMode="auto">
          <a:xfrm>
            <a:off x="3095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3" name="TextBox 12">
            <a:extLst>
              <a:ext uri="{FF2B5EF4-FFF2-40B4-BE49-F238E27FC236}">
                <a16:creationId xmlns:a16="http://schemas.microsoft.com/office/drawing/2014/main" id="{EF88BAA8-CF47-C165-1138-DFF8707848F6}"/>
              </a:ext>
            </a:extLst>
          </p:cNvPr>
          <p:cNvSpPr txBox="1"/>
          <p:nvPr/>
        </p:nvSpPr>
        <p:spPr>
          <a:xfrm>
            <a:off x="1143001" y="2133600"/>
            <a:ext cx="1329210"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pPr>
              <a:defRPr/>
            </a:pPr>
            <a:r>
              <a:rPr lang="en-US" b="1" dirty="0"/>
              <a:t>UTP Cabling</a:t>
            </a:r>
          </a:p>
        </p:txBody>
      </p:sp>
      <p:sp>
        <p:nvSpPr>
          <p:cNvPr id="10251" name="TextBox 10">
            <a:extLst>
              <a:ext uri="{FF2B5EF4-FFF2-40B4-BE49-F238E27FC236}">
                <a16:creationId xmlns:a16="http://schemas.microsoft.com/office/drawing/2014/main" id="{9CD630B5-D27B-C79E-ABFC-B5BD4A7C328F}"/>
              </a:ext>
            </a:extLst>
          </p:cNvPr>
          <p:cNvSpPr txBox="1">
            <a:spLocks noChangeArrowheads="1"/>
          </p:cNvSpPr>
          <p:nvPr/>
        </p:nvSpPr>
        <p:spPr bwMode="auto">
          <a:xfrm>
            <a:off x="1011239" y="2557464"/>
            <a:ext cx="2970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1000BASE-T (Gigabit Cabling)</a:t>
            </a:r>
          </a:p>
        </p:txBody>
      </p:sp>
      <p:sp>
        <p:nvSpPr>
          <p:cNvPr id="10252" name="TextBox 1">
            <a:extLst>
              <a:ext uri="{FF2B5EF4-FFF2-40B4-BE49-F238E27FC236}">
                <a16:creationId xmlns:a16="http://schemas.microsoft.com/office/drawing/2014/main" id="{11B7F472-9C86-2FF0-74AE-86F6B9BAF999}"/>
              </a:ext>
            </a:extLst>
          </p:cNvPr>
          <p:cNvSpPr txBox="1">
            <a:spLocks noChangeArrowheads="1"/>
          </p:cNvSpPr>
          <p:nvPr/>
        </p:nvSpPr>
        <p:spPr bwMode="auto">
          <a:xfrm>
            <a:off x="762001" y="3124200"/>
            <a:ext cx="9525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In the examples above we had </a:t>
            </a:r>
            <a:r>
              <a:rPr lang="en-US" altLang="en-US" b="1"/>
              <a:t>two wire pairs</a:t>
            </a:r>
            <a:r>
              <a:rPr lang="en-US" altLang="en-US"/>
              <a:t>, one for transmission and the other one for receiving. Gigabit Ethernet, however, uses </a:t>
            </a:r>
            <a:r>
              <a:rPr lang="en-US" altLang="en-US" b="1"/>
              <a:t>all 4 wire pairs</a:t>
            </a:r>
            <a:r>
              <a:rPr lang="en-US" altLang="en-US"/>
              <a:t>.</a:t>
            </a:r>
          </a:p>
          <a:p>
            <a:pPr eaLnBrk="1" hangingPunct="1">
              <a:lnSpc>
                <a:spcPct val="150000"/>
              </a:lnSpc>
            </a:pPr>
            <a:endParaRPr lang="en-US" altLang="en-US"/>
          </a:p>
          <a:p>
            <a:pPr eaLnBrk="1" hangingPunct="1">
              <a:lnSpc>
                <a:spcPct val="150000"/>
              </a:lnSpc>
            </a:pPr>
            <a:r>
              <a:rPr lang="en-US" altLang="en-US"/>
              <a:t> Instead of using different wire pairs for transmission / receiving, it is able to transmit and receive simultaneously on each wire pair.</a:t>
            </a:r>
          </a:p>
        </p:txBody>
      </p:sp>
      <p:graphicFrame>
        <p:nvGraphicFramePr>
          <p:cNvPr id="10253" name="Object 3">
            <a:extLst>
              <a:ext uri="{FF2B5EF4-FFF2-40B4-BE49-F238E27FC236}">
                <a16:creationId xmlns:a16="http://schemas.microsoft.com/office/drawing/2014/main" id="{BF329781-01CD-6D0E-D909-005D585671CF}"/>
              </a:ext>
            </a:extLst>
          </p:cNvPr>
          <p:cNvGraphicFramePr>
            <a:graphicFrameLocks noChangeAspect="1"/>
          </p:cNvGraphicFramePr>
          <p:nvPr/>
        </p:nvGraphicFramePr>
        <p:xfrm>
          <a:off x="3962401" y="4876801"/>
          <a:ext cx="7772400" cy="1457325"/>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10253" name="Object 3">
                        <a:extLst>
                          <a:ext uri="{FF2B5EF4-FFF2-40B4-BE49-F238E27FC236}">
                            <a16:creationId xmlns:a16="http://schemas.microsoft.com/office/drawing/2014/main" id="{BF329781-01CD-6D0E-D909-005D585671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1" y="4876801"/>
                        <a:ext cx="777240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E02000CC-4966-F35D-49A4-1BC402F9F6DF}"/>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CD7E7715-1029-4C2B-85D9-EAD9DD7F77C6}" type="slidenum">
              <a:rPr lang="en-US" altLang="en-US" sz="1400">
                <a:latin typeface="Times New Roman" panose="02020603050405020304" pitchFamily="18" charset="0"/>
              </a:rPr>
              <a:pPr eaLnBrk="1" hangingPunct="1"/>
              <a:t>11</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9E9E82C5-788F-C727-0643-117402DC0134}"/>
              </a:ext>
            </a:extLst>
          </p:cNvPr>
          <p:cNvSpPr txBox="1"/>
          <p:nvPr/>
        </p:nvSpPr>
        <p:spPr>
          <a:xfrm>
            <a:off x="533402" y="1447800"/>
            <a:ext cx="2727325" cy="584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pPr>
              <a:defRPr/>
            </a:pPr>
            <a:r>
              <a:rPr lang="en-US" sz="3200" dirty="0"/>
              <a:t>Physical Layer</a:t>
            </a:r>
          </a:p>
        </p:txBody>
      </p:sp>
      <p:sp>
        <p:nvSpPr>
          <p:cNvPr id="11272" name="AutoShape 2" descr="ethernet topology mixed standards">
            <a:extLst>
              <a:ext uri="{FF2B5EF4-FFF2-40B4-BE49-F238E27FC236}">
                <a16:creationId xmlns:a16="http://schemas.microsoft.com/office/drawing/2014/main" id="{91741BEE-3CAB-B288-8236-03E7F91247B9}"/>
              </a:ext>
            </a:extLst>
          </p:cNvPr>
          <p:cNvSpPr>
            <a:spLocks noChangeAspect="1" noChangeArrowheads="1"/>
          </p:cNvSpPr>
          <p:nvPr/>
        </p:nvSpPr>
        <p:spPr bwMode="auto">
          <a:xfrm>
            <a:off x="157163"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1273" name="AutoShape 4" descr="ethernet topology mixed standards">
            <a:extLst>
              <a:ext uri="{FF2B5EF4-FFF2-40B4-BE49-F238E27FC236}">
                <a16:creationId xmlns:a16="http://schemas.microsoft.com/office/drawing/2014/main" id="{7B60304D-13E6-410A-39CA-9007964036A5}"/>
              </a:ext>
            </a:extLst>
          </p:cNvPr>
          <p:cNvSpPr>
            <a:spLocks noChangeAspect="1" noChangeArrowheads="1"/>
          </p:cNvSpPr>
          <p:nvPr/>
        </p:nvSpPr>
        <p:spPr bwMode="auto">
          <a:xfrm>
            <a:off x="309563"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a:p>
        </p:txBody>
      </p:sp>
      <p:sp>
        <p:nvSpPr>
          <p:cNvPr id="13" name="TextBox 12">
            <a:extLst>
              <a:ext uri="{FF2B5EF4-FFF2-40B4-BE49-F238E27FC236}">
                <a16:creationId xmlns:a16="http://schemas.microsoft.com/office/drawing/2014/main" id="{6291882B-0DA3-B4D9-C1AC-59F638C8C908}"/>
              </a:ext>
            </a:extLst>
          </p:cNvPr>
          <p:cNvSpPr txBox="1"/>
          <p:nvPr/>
        </p:nvSpPr>
        <p:spPr>
          <a:xfrm>
            <a:off x="1143001" y="2133600"/>
            <a:ext cx="1423788" cy="369332"/>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pPr>
              <a:defRPr/>
            </a:pPr>
            <a:r>
              <a:rPr lang="en-US" b="1" dirty="0"/>
              <a:t>Fiber Cabling</a:t>
            </a:r>
          </a:p>
        </p:txBody>
      </p:sp>
      <p:graphicFrame>
        <p:nvGraphicFramePr>
          <p:cNvPr id="11275" name="Object 6">
            <a:extLst>
              <a:ext uri="{FF2B5EF4-FFF2-40B4-BE49-F238E27FC236}">
                <a16:creationId xmlns:a16="http://schemas.microsoft.com/office/drawing/2014/main" id="{251CEBD4-DFC4-3BFA-F066-D125940640C6}"/>
              </a:ext>
            </a:extLst>
          </p:cNvPr>
          <p:cNvGraphicFramePr>
            <a:graphicFrameLocks noChangeAspect="1"/>
          </p:cNvGraphicFramePr>
          <p:nvPr/>
        </p:nvGraphicFramePr>
        <p:xfrm>
          <a:off x="7947026" y="3919539"/>
          <a:ext cx="4076700" cy="2676525"/>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11275" name="Object 6">
                        <a:extLst>
                          <a:ext uri="{FF2B5EF4-FFF2-40B4-BE49-F238E27FC236}">
                            <a16:creationId xmlns:a16="http://schemas.microsoft.com/office/drawing/2014/main" id="{251CEBD4-DFC4-3BFA-F066-D125940640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7026" y="3919539"/>
                        <a:ext cx="40767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6" name="TextBox 7">
            <a:extLst>
              <a:ext uri="{FF2B5EF4-FFF2-40B4-BE49-F238E27FC236}">
                <a16:creationId xmlns:a16="http://schemas.microsoft.com/office/drawing/2014/main" id="{076EBE16-79BA-71C0-0882-7FC801023A92}"/>
              </a:ext>
            </a:extLst>
          </p:cNvPr>
          <p:cNvSpPr txBox="1">
            <a:spLocks noChangeArrowheads="1"/>
          </p:cNvSpPr>
          <p:nvPr/>
        </p:nvSpPr>
        <p:spPr bwMode="auto">
          <a:xfrm>
            <a:off x="614363" y="2938464"/>
            <a:ext cx="1028223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Instead of an electrical signal, we transmit </a:t>
            </a:r>
            <a:r>
              <a:rPr lang="en-US" altLang="en-US" b="1"/>
              <a:t>light</a:t>
            </a:r>
            <a:r>
              <a:rPr lang="en-US" altLang="en-US"/>
              <a:t> from one end to another through glass or plastic. </a:t>
            </a:r>
          </a:p>
          <a:p>
            <a:pPr eaLnBrk="1" hangingPunct="1">
              <a:lnSpc>
                <a:spcPct val="150000"/>
              </a:lnSpc>
            </a:pPr>
            <a:r>
              <a:rPr lang="en-US" altLang="en-US"/>
              <a:t>One of the </a:t>
            </a:r>
            <a:r>
              <a:rPr lang="en-US" altLang="en-US" b="1"/>
              <a:t>advantages</a:t>
            </a:r>
            <a:r>
              <a:rPr lang="en-US" altLang="en-US"/>
              <a:t> is that there is less signal loss over </a:t>
            </a:r>
            <a:r>
              <a:rPr lang="en-US" altLang="en-US" b="1"/>
              <a:t>long distances</a:t>
            </a:r>
            <a:r>
              <a:rPr lang="en-US" altLang="en-US"/>
              <a:t>. With a UTP cable, the maximum distance is 100 meters. Fiber cables allow you distances up to many</a:t>
            </a:r>
          </a:p>
          <a:p>
            <a:pPr eaLnBrk="1" hangingPunct="1">
              <a:lnSpc>
                <a:spcPct val="150000"/>
              </a:lnSpc>
            </a:pPr>
            <a:r>
              <a:rPr lang="en-US" altLang="en-US"/>
              <a:t> kilometers / miles.</a:t>
            </a:r>
          </a:p>
          <a:p>
            <a:pPr eaLnBrk="1" hangingPunct="1">
              <a:lnSpc>
                <a:spcPct val="150000"/>
              </a:lnSpc>
            </a:pPr>
            <a:r>
              <a:rPr lang="en-US" altLang="en-US"/>
              <a:t> You also don’t have any issues with EMI.</a:t>
            </a:r>
          </a:p>
        </p:txBody>
      </p:sp>
      <p:sp>
        <p:nvSpPr>
          <p:cNvPr id="11277" name="TextBox 8">
            <a:extLst>
              <a:ext uri="{FF2B5EF4-FFF2-40B4-BE49-F238E27FC236}">
                <a16:creationId xmlns:a16="http://schemas.microsoft.com/office/drawing/2014/main" id="{003D3F70-04AC-CE97-37B5-BA19A1EE4EAC}"/>
              </a:ext>
            </a:extLst>
          </p:cNvPr>
          <p:cNvSpPr txBox="1">
            <a:spLocks noChangeArrowheads="1"/>
          </p:cNvSpPr>
          <p:nvPr/>
        </p:nvSpPr>
        <p:spPr bwMode="auto">
          <a:xfrm>
            <a:off x="635001" y="2557464"/>
            <a:ext cx="3556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An alternative to UTP is fiber cabling.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4E5D4699-A084-746C-97FD-F3A26AC7EDB1}"/>
              </a:ext>
            </a:extLst>
          </p:cNvPr>
          <p:cNvSpPr>
            <a:spLocks noGrp="1" noChangeArrowheads="1"/>
          </p:cNvSpPr>
          <p:nvPr>
            <p:ph type="title"/>
          </p:nvPr>
        </p:nvSpPr>
        <p:spPr>
          <a:xfrm>
            <a:off x="1589" y="533400"/>
            <a:ext cx="12188825" cy="762000"/>
          </a:xfrm>
        </p:spPr>
        <p:txBody>
          <a:bodyPr/>
          <a:lstStyle/>
          <a:p>
            <a:pPr eaLnBrk="1" hangingPunct="1"/>
            <a:r>
              <a:rPr lang="en-US" altLang="en-US" dirty="0"/>
              <a:t>Address Resolution Protocol (ARP)</a:t>
            </a:r>
          </a:p>
        </p:txBody>
      </p:sp>
      <p:sp>
        <p:nvSpPr>
          <p:cNvPr id="3" name="TextBox 2">
            <a:extLst>
              <a:ext uri="{FF2B5EF4-FFF2-40B4-BE49-F238E27FC236}">
                <a16:creationId xmlns:a16="http://schemas.microsoft.com/office/drawing/2014/main" id="{FC171ABD-6FDF-322F-BAC9-56089B4475BC}"/>
              </a:ext>
            </a:extLst>
          </p:cNvPr>
          <p:cNvSpPr txBox="1"/>
          <p:nvPr/>
        </p:nvSpPr>
        <p:spPr>
          <a:xfrm>
            <a:off x="814467" y="1071161"/>
            <a:ext cx="10287000" cy="5453865"/>
          </a:xfrm>
          <a:prstGeom prst="rect">
            <a:avLst/>
          </a:prstGeom>
          <a:noFill/>
        </p:spPr>
        <p:txBody>
          <a:bodyPr>
            <a:spAutoFit/>
          </a:bodyPr>
          <a:lstStyle/>
          <a:p>
            <a:pPr marL="285750" indent="-285750">
              <a:lnSpc>
                <a:spcPct val="150000"/>
              </a:lnSpc>
              <a:buFont typeface="Wingdings" pitchFamily="2" charset="2"/>
              <a:buChar char="v"/>
              <a:defRPr/>
            </a:pPr>
            <a:r>
              <a:rPr lang="en-US" b="1" dirty="0">
                <a:cs typeface="Arial" charset="0"/>
              </a:rPr>
              <a:t>ARP (Address Resolution Protocol)</a:t>
            </a:r>
            <a:r>
              <a:rPr lang="en-US" dirty="0">
                <a:cs typeface="Arial" charset="0"/>
              </a:rPr>
              <a:t> is a network protocol used to find out the hardware (MAC) address of a device from an IP address.</a:t>
            </a:r>
          </a:p>
          <a:p>
            <a:pPr marL="285750" indent="-285750">
              <a:lnSpc>
                <a:spcPct val="150000"/>
              </a:lnSpc>
              <a:buFont typeface="Wingdings" pitchFamily="2" charset="2"/>
              <a:buChar char="v"/>
              <a:defRPr/>
            </a:pPr>
            <a:r>
              <a:rPr lang="en-US" dirty="0">
                <a:cs typeface="Arial" charset="0"/>
              </a:rPr>
              <a:t> It is used when a device wants to communicate with some other device on a local network  (for example on an Ethernet network that requires physical addresses to be known before sending packets). The sending device uses ARP to translate IP addresses to MAC addresses. The device sends an ARP request message containing the IP address of the receiving device. All devices on a local network segment see the message, but only the device that has that IP address responds with the ARP reply message containing its MAC address. The sending device now has enough information to send the packet to the receiving device.</a:t>
            </a:r>
          </a:p>
          <a:p>
            <a:pPr marL="285750" indent="-285750">
              <a:lnSpc>
                <a:spcPct val="150000"/>
              </a:lnSpc>
              <a:buFont typeface="Wingdings" pitchFamily="2" charset="2"/>
              <a:buChar char="v"/>
              <a:defRPr/>
            </a:pPr>
            <a:endParaRPr lang="en-US" dirty="0">
              <a:cs typeface="Arial" charset="0"/>
            </a:endParaRPr>
          </a:p>
          <a:p>
            <a:pPr marL="285750" indent="-285750">
              <a:lnSpc>
                <a:spcPct val="150000"/>
              </a:lnSpc>
              <a:buFont typeface="Wingdings" pitchFamily="2" charset="2"/>
              <a:buChar char="v"/>
              <a:defRPr/>
            </a:pPr>
            <a:r>
              <a:rPr lang="en-US" dirty="0">
                <a:cs typeface="Arial" charset="0"/>
              </a:rPr>
              <a:t>ARP request packets are sent to the broadcast addresses (FF:FF:FF:FF:FF:FF for the Ethernet broadcasts and 255.255.255.255 for the IP broadcast).</a:t>
            </a:r>
          </a:p>
          <a:p>
            <a:pPr eaLnBrk="1" hangingPunct="1">
              <a:lnSpc>
                <a:spcPct val="150000"/>
              </a:lnSpc>
              <a:defRPr/>
            </a:pPr>
            <a:endParaRPr lang="en-US" dirty="0">
              <a:cs typeface="Arial"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4">
            <a:extLst>
              <a:ext uri="{FF2B5EF4-FFF2-40B4-BE49-F238E27FC236}">
                <a16:creationId xmlns:a16="http://schemas.microsoft.com/office/drawing/2014/main" id="{D022EBEA-DD9D-3A4E-F2B7-45507E123AF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7DCD77C0-5CB9-4865-9AFF-BBB907F11AA9}" type="slidenum">
              <a:rPr lang="en-US" altLang="en-US" sz="1400">
                <a:latin typeface="Times New Roman" panose="02020603050405020304" pitchFamily="18" charset="0"/>
              </a:rPr>
              <a:pPr>
                <a:spcBef>
                  <a:spcPct val="0"/>
                </a:spcBef>
                <a:buFontTx/>
                <a:buNone/>
              </a:pPr>
              <a:t>13</a:t>
            </a:fld>
            <a:endParaRPr lang="en-US" altLang="en-US" sz="1400">
              <a:latin typeface="Times New Roman" panose="02020603050405020304" pitchFamily="18" charset="0"/>
            </a:endParaRPr>
          </a:p>
        </p:txBody>
      </p:sp>
      <p:graphicFrame>
        <p:nvGraphicFramePr>
          <p:cNvPr id="5127" name="Object 3">
            <a:extLst>
              <a:ext uri="{FF2B5EF4-FFF2-40B4-BE49-F238E27FC236}">
                <a16:creationId xmlns:a16="http://schemas.microsoft.com/office/drawing/2014/main" id="{2E0BA58A-4F42-7F08-6B2F-10A9F2542B94}"/>
              </a:ext>
            </a:extLst>
          </p:cNvPr>
          <p:cNvGraphicFramePr>
            <a:graphicFrameLocks noChangeAspect="1"/>
          </p:cNvGraphicFramePr>
          <p:nvPr/>
        </p:nvGraphicFramePr>
        <p:xfrm>
          <a:off x="7391402" y="1447800"/>
          <a:ext cx="4613275" cy="1701800"/>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5127" name="Object 3">
                        <a:extLst>
                          <a:ext uri="{FF2B5EF4-FFF2-40B4-BE49-F238E27FC236}">
                            <a16:creationId xmlns:a16="http://schemas.microsoft.com/office/drawing/2014/main" id="{2E0BA58A-4F42-7F08-6B2F-10A9F2542B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2" y="1447800"/>
                        <a:ext cx="4613275"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128" name="Picture 4" descr="F:\C i s c o\CCNA 200 - 301 by zain\image\Capture.PNG">
            <a:extLst>
              <a:ext uri="{FF2B5EF4-FFF2-40B4-BE49-F238E27FC236}">
                <a16:creationId xmlns:a16="http://schemas.microsoft.com/office/drawing/2014/main" id="{81C2251E-7C06-1AD7-DC18-1C42555C26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1" y="1524000"/>
            <a:ext cx="6411912"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9" name="Picture 6" descr="E:\D e s i g n\MCSA d\arp-request.png.pagespeed.ce.K0HXT7-AUV.png">
            <a:extLst>
              <a:ext uri="{FF2B5EF4-FFF2-40B4-BE49-F238E27FC236}">
                <a16:creationId xmlns:a16="http://schemas.microsoft.com/office/drawing/2014/main" id="{AA1E3F19-4FE1-A595-4416-9F0C20C0D4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91402" y="3124201"/>
            <a:ext cx="4613275"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 name="Picture 7" descr="E:\D e s i g n\MCSA d\arp-reply.png.pagespeed.ce.XaY5X1X_0M.png">
            <a:extLst>
              <a:ext uri="{FF2B5EF4-FFF2-40B4-BE49-F238E27FC236}">
                <a16:creationId xmlns:a16="http://schemas.microsoft.com/office/drawing/2014/main" id="{23A2D43F-0A2F-B11E-C91E-61AEBCAA1F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91402" y="4572000"/>
            <a:ext cx="46323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1" name="TextBox 5">
            <a:extLst>
              <a:ext uri="{FF2B5EF4-FFF2-40B4-BE49-F238E27FC236}">
                <a16:creationId xmlns:a16="http://schemas.microsoft.com/office/drawing/2014/main" id="{7731B38A-4533-07AA-970D-5E2D39AC97AD}"/>
              </a:ext>
            </a:extLst>
          </p:cNvPr>
          <p:cNvSpPr txBox="1">
            <a:spLocks noChangeArrowheads="1"/>
          </p:cNvSpPr>
          <p:nvPr/>
        </p:nvSpPr>
        <p:spPr bwMode="auto">
          <a:xfrm>
            <a:off x="307977" y="4559300"/>
            <a:ext cx="67024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spcBef>
                <a:spcPct val="0"/>
              </a:spcBef>
            </a:pPr>
            <a:r>
              <a:rPr lang="en-US" altLang="en-US" sz="1600" b="1"/>
              <a:t>Ping</a:t>
            </a:r>
            <a:r>
              <a:rPr lang="en-US" altLang="en-US" sz="1600"/>
              <a:t> (</a:t>
            </a:r>
            <a:r>
              <a:rPr lang="en-US" altLang="en-US" sz="1600" b="1">
                <a:solidFill>
                  <a:srgbClr val="FF0000"/>
                </a:solidFill>
              </a:rPr>
              <a:t>Packet Internet Groper</a:t>
            </a:r>
            <a:r>
              <a:rPr lang="en-US" altLang="en-US" sz="1600"/>
              <a:t>) uses the ICMP</a:t>
            </a:r>
            <a:r>
              <a:rPr lang="en-US" altLang="en-US" sz="1600" b="1"/>
              <a:t>(</a:t>
            </a:r>
            <a:r>
              <a:rPr lang="en-US" altLang="en-US" sz="1600" b="1">
                <a:solidFill>
                  <a:srgbClr val="FF0000"/>
                </a:solidFill>
              </a:rPr>
              <a:t>Internet Control Message  protocol</a:t>
            </a:r>
            <a:r>
              <a:rPr lang="en-US" altLang="en-US" sz="1600" b="1"/>
              <a:t>) </a:t>
            </a:r>
            <a:r>
              <a:rPr lang="en-US" altLang="en-US" sz="1600"/>
              <a:t>and IP uses the network layer (layer 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4">
            <a:extLst>
              <a:ext uri="{FF2B5EF4-FFF2-40B4-BE49-F238E27FC236}">
                <a16:creationId xmlns:a16="http://schemas.microsoft.com/office/drawing/2014/main" id="{7316C42A-B90A-D0D8-ED99-12056A74B2B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D5EC7407-5DC1-4FC2-9CD7-ADB71637DE47}" type="slidenum">
              <a:rPr lang="en-US" altLang="en-US" sz="1400">
                <a:latin typeface="Times New Roman" panose="02020603050405020304" pitchFamily="18" charset="0"/>
              </a:rPr>
              <a:pPr>
                <a:spcBef>
                  <a:spcPct val="0"/>
                </a:spcBef>
                <a:buFontTx/>
                <a:buNone/>
              </a:pPr>
              <a:t>14</a:t>
            </a:fld>
            <a:endParaRPr lang="en-US" altLang="en-US" sz="1400">
              <a:latin typeface="Times New Roman" panose="02020603050405020304" pitchFamily="18" charset="0"/>
            </a:endParaRPr>
          </a:p>
        </p:txBody>
      </p:sp>
      <p:graphicFrame>
        <p:nvGraphicFramePr>
          <p:cNvPr id="7175" name="Object 3">
            <a:extLst>
              <a:ext uri="{FF2B5EF4-FFF2-40B4-BE49-F238E27FC236}">
                <a16:creationId xmlns:a16="http://schemas.microsoft.com/office/drawing/2014/main" id="{B8D2BFB7-256E-0A8C-CC97-AF7FE2624A00}"/>
              </a:ext>
            </a:extLst>
          </p:cNvPr>
          <p:cNvGraphicFramePr>
            <a:graphicFrameLocks noChangeAspect="1"/>
          </p:cNvGraphicFramePr>
          <p:nvPr/>
        </p:nvGraphicFramePr>
        <p:xfrm>
          <a:off x="7391402" y="1447800"/>
          <a:ext cx="4613275" cy="1701800"/>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7175" name="Object 3">
                        <a:extLst>
                          <a:ext uri="{FF2B5EF4-FFF2-40B4-BE49-F238E27FC236}">
                            <a16:creationId xmlns:a16="http://schemas.microsoft.com/office/drawing/2014/main" id="{B8D2BFB7-256E-0A8C-CC97-AF7FE2624A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2" y="1447800"/>
                        <a:ext cx="4613275"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7176" name="Picture 6" descr="E:\D e s i g n\MCSA d\arp-request.png.pagespeed.ce.K0HXT7-AUV.png">
            <a:extLst>
              <a:ext uri="{FF2B5EF4-FFF2-40B4-BE49-F238E27FC236}">
                <a16:creationId xmlns:a16="http://schemas.microsoft.com/office/drawing/2014/main" id="{E39C2828-6640-EF44-D071-0B0494DE23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402" y="3124201"/>
            <a:ext cx="4613275"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7" name="Picture 7" descr="E:\D e s i g n\MCSA d\arp-reply.png.pagespeed.ce.XaY5X1X_0M.png">
            <a:extLst>
              <a:ext uri="{FF2B5EF4-FFF2-40B4-BE49-F238E27FC236}">
                <a16:creationId xmlns:a16="http://schemas.microsoft.com/office/drawing/2014/main" id="{F029E64B-0CF4-C10C-77BA-364CC819D0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91402" y="4572000"/>
            <a:ext cx="46323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TextBox 5">
            <a:extLst>
              <a:ext uri="{FF2B5EF4-FFF2-40B4-BE49-F238E27FC236}">
                <a16:creationId xmlns:a16="http://schemas.microsoft.com/office/drawing/2014/main" id="{2FCF16A8-39E1-5D7B-DE5B-3722DF4E4CD0}"/>
              </a:ext>
            </a:extLst>
          </p:cNvPr>
          <p:cNvSpPr txBox="1">
            <a:spLocks noChangeArrowheads="1"/>
          </p:cNvSpPr>
          <p:nvPr/>
        </p:nvSpPr>
        <p:spPr bwMode="auto">
          <a:xfrm>
            <a:off x="228601" y="4713289"/>
            <a:ext cx="698976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lnSpc>
                <a:spcPct val="150000"/>
              </a:lnSpc>
              <a:spcBef>
                <a:spcPct val="0"/>
              </a:spcBef>
              <a:buFontTx/>
              <a:buNone/>
            </a:pPr>
            <a:r>
              <a:rPr lang="en-US" altLang="en-US" sz="1600"/>
              <a:t>In the example above you see an example of an </a:t>
            </a:r>
            <a:r>
              <a:rPr lang="en-US" altLang="en-US" sz="1600" b="1"/>
              <a:t>ARP table</a:t>
            </a:r>
            <a:r>
              <a:rPr lang="en-US" altLang="en-US" sz="1600"/>
              <a:t> on a H1. As you can see there is only one entry, this computer has learned that the IP address 192.168.1.2 has been mapped to the MAC address 00:0C:29:63:AF:D0.</a:t>
            </a:r>
          </a:p>
        </p:txBody>
      </p:sp>
      <p:pic>
        <p:nvPicPr>
          <p:cNvPr id="7179" name="Picture 2" descr="F:\C i s c o\CCNA 200 - 301 by zain\image\aaaaa.PNG">
            <a:extLst>
              <a:ext uri="{FF2B5EF4-FFF2-40B4-BE49-F238E27FC236}">
                <a16:creationId xmlns:a16="http://schemas.microsoft.com/office/drawing/2014/main" id="{9DB11091-A14C-3209-2CA4-EC128B3C85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600200"/>
            <a:ext cx="7299326"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0EE3935A-AE68-9284-06CB-29F5D9162EFC}"/>
              </a:ext>
            </a:extLst>
          </p:cNvPr>
          <p:cNvSpPr>
            <a:spLocks noGrp="1" noChangeArrowheads="1"/>
          </p:cNvSpPr>
          <p:nvPr>
            <p:ph type="title"/>
          </p:nvPr>
        </p:nvSpPr>
        <p:spPr>
          <a:xfrm>
            <a:off x="1589" y="533400"/>
            <a:ext cx="12188825" cy="762000"/>
          </a:xfrm>
        </p:spPr>
        <p:txBody>
          <a:bodyPr/>
          <a:lstStyle/>
          <a:p>
            <a:pPr eaLnBrk="1" hangingPunct="1"/>
            <a:r>
              <a:rPr lang="en-US" altLang="en-US" dirty="0"/>
              <a:t> Cisco IOS </a:t>
            </a:r>
          </a:p>
        </p:txBody>
      </p:sp>
      <p:sp>
        <p:nvSpPr>
          <p:cNvPr id="2055" name="TextBox 3">
            <a:extLst>
              <a:ext uri="{FF2B5EF4-FFF2-40B4-BE49-F238E27FC236}">
                <a16:creationId xmlns:a16="http://schemas.microsoft.com/office/drawing/2014/main" id="{0D518734-995D-B9E6-68F5-A1B9D2AF6F45}"/>
              </a:ext>
            </a:extLst>
          </p:cNvPr>
          <p:cNvSpPr txBox="1">
            <a:spLocks noChangeArrowheads="1"/>
          </p:cNvSpPr>
          <p:nvPr/>
        </p:nvSpPr>
        <p:spPr bwMode="auto">
          <a:xfrm>
            <a:off x="685801" y="1519238"/>
            <a:ext cx="91440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Cisco Internetwork Operating System</a:t>
            </a:r>
          </a:p>
        </p:txBody>
      </p:sp>
      <p:sp>
        <p:nvSpPr>
          <p:cNvPr id="3081" name="TextBox 3">
            <a:extLst>
              <a:ext uri="{FF2B5EF4-FFF2-40B4-BE49-F238E27FC236}">
                <a16:creationId xmlns:a16="http://schemas.microsoft.com/office/drawing/2014/main" id="{B9DCE1C9-67BC-536F-8C0F-4A98821C68D0}"/>
              </a:ext>
            </a:extLst>
          </p:cNvPr>
          <p:cNvSpPr txBox="1">
            <a:spLocks noChangeArrowheads="1"/>
          </p:cNvSpPr>
          <p:nvPr/>
        </p:nvSpPr>
        <p:spPr bwMode="auto">
          <a:xfrm>
            <a:off x="658813" y="2133600"/>
            <a:ext cx="9475788"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lgn="just">
              <a:lnSpc>
                <a:spcPct val="150000"/>
              </a:lnSpc>
              <a:spcBef>
                <a:spcPct val="0"/>
              </a:spcBef>
            </a:pPr>
            <a:r>
              <a:rPr lang="en-US" altLang="en-US" sz="1600"/>
              <a:t>Cisco technology is built around the Cisco Internetwork Operating System (IOS), which is the software that controls the routing and switching functions of internetworking devices. </a:t>
            </a:r>
          </a:p>
          <a:p>
            <a:pPr algn="just">
              <a:lnSpc>
                <a:spcPct val="150000"/>
              </a:lnSpc>
              <a:spcBef>
                <a:spcPct val="0"/>
              </a:spcBef>
              <a:buFontTx/>
              <a:buNone/>
            </a:pPr>
            <a:endParaRPr lang="en-US" altLang="en-US" sz="1600"/>
          </a:p>
          <a:p>
            <a:pPr algn="just">
              <a:lnSpc>
                <a:spcPct val="150000"/>
              </a:lnSpc>
              <a:spcBef>
                <a:spcPct val="0"/>
              </a:spcBef>
            </a:pPr>
            <a:r>
              <a:rPr lang="en-US" altLang="en-US" sz="1600"/>
              <a:t>A solid understanding of the IOS is essential for a network administrator. </a:t>
            </a:r>
          </a:p>
          <a:p>
            <a:pPr algn="just">
              <a:lnSpc>
                <a:spcPct val="150000"/>
              </a:lnSpc>
              <a:spcBef>
                <a:spcPct val="0"/>
              </a:spcBef>
            </a:pPr>
            <a:r>
              <a:rPr lang="en-US" altLang="en-US" sz="1600"/>
              <a:t>As with a computer, a router or switch cannot function without an operating system. Cisco calls its operating system the Cisco Internetwork Operating System or Cisco IOS. </a:t>
            </a:r>
          </a:p>
          <a:p>
            <a:pPr algn="just">
              <a:spcBef>
                <a:spcPct val="0"/>
              </a:spcBef>
            </a:pPr>
            <a:endParaRPr lang="en-US" altLang="en-US" sz="1600"/>
          </a:p>
          <a:p>
            <a:pPr>
              <a:spcBef>
                <a:spcPct val="0"/>
              </a:spcBef>
              <a:buFontTx/>
              <a:buNone/>
            </a:pPr>
            <a:endParaRPr lang="en-US" altLang="en-US" sz="16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4">
            <a:extLst>
              <a:ext uri="{FF2B5EF4-FFF2-40B4-BE49-F238E27FC236}">
                <a16:creationId xmlns:a16="http://schemas.microsoft.com/office/drawing/2014/main" id="{5F25004E-4792-9ECC-34F4-858FE75889D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696A4D73-BCEE-4193-8320-2EE46295E5D6}" type="slidenum">
              <a:rPr lang="en-US" altLang="en-US" sz="1400">
                <a:latin typeface="Times New Roman" panose="02020603050405020304" pitchFamily="18" charset="0"/>
              </a:rPr>
              <a:pPr>
                <a:spcBef>
                  <a:spcPct val="0"/>
                </a:spcBef>
                <a:buFontTx/>
                <a:buNone/>
              </a:pPr>
              <a:t>16</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15CEC192-B551-798A-CCFA-1DC89DB4E3B4}"/>
              </a:ext>
            </a:extLst>
          </p:cNvPr>
          <p:cNvSpPr txBox="1">
            <a:spLocks noChangeArrowheads="1"/>
          </p:cNvSpPr>
          <p:nvPr/>
        </p:nvSpPr>
        <p:spPr bwMode="auto">
          <a:xfrm>
            <a:off x="685801" y="1519239"/>
            <a:ext cx="9144000" cy="523875"/>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800" dirty="0">
                <a:solidFill>
                  <a:schemeClr val="tx2"/>
                </a:solidFill>
              </a:rPr>
              <a:t>Switch or Router Memory Components </a:t>
            </a:r>
            <a:endParaRPr lang="en-US" sz="2800" dirty="0"/>
          </a:p>
        </p:txBody>
      </p:sp>
      <p:sp>
        <p:nvSpPr>
          <p:cNvPr id="3" name="Text Box 3">
            <a:extLst>
              <a:ext uri="{FF2B5EF4-FFF2-40B4-BE49-F238E27FC236}">
                <a16:creationId xmlns:a16="http://schemas.microsoft.com/office/drawing/2014/main" id="{B3E0D8D2-559B-1D06-78A5-B299FE53A047}"/>
              </a:ext>
            </a:extLst>
          </p:cNvPr>
          <p:cNvSpPr txBox="1">
            <a:spLocks noChangeArrowheads="1"/>
          </p:cNvSpPr>
          <p:nvPr/>
        </p:nvSpPr>
        <p:spPr bwMode="auto">
          <a:xfrm>
            <a:off x="1042989" y="2266950"/>
            <a:ext cx="8220075" cy="3570288"/>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p>
            <a:pPr eaLnBrk="1" hangingPunct="1">
              <a:defRPr/>
            </a:pPr>
            <a:r>
              <a:rPr lang="en-US" sz="1500" b="1" dirty="0">
                <a:solidFill>
                  <a:srgbClr val="000000"/>
                </a:solidFill>
              </a:rPr>
              <a:t>ROM			 - Read Only Memory – Bootstrap/POST</a:t>
            </a:r>
          </a:p>
          <a:p>
            <a:pPr eaLnBrk="1" hangingPunct="1">
              <a:defRPr/>
            </a:pPr>
            <a:endParaRPr lang="en-US" sz="1500" b="1" dirty="0">
              <a:solidFill>
                <a:srgbClr val="000000"/>
              </a:solidFill>
            </a:endParaRPr>
          </a:p>
          <a:p>
            <a:pPr eaLnBrk="1" hangingPunct="1">
              <a:defRPr/>
            </a:pPr>
            <a:r>
              <a:rPr lang="en-US" sz="1500" b="1" dirty="0">
                <a:solidFill>
                  <a:srgbClr val="000000"/>
                </a:solidFill>
              </a:rPr>
              <a:t>FLASH Memory- IOS Images are kept here</a:t>
            </a:r>
          </a:p>
          <a:p>
            <a:pPr eaLnBrk="1" hangingPunct="1">
              <a:defRPr/>
            </a:pPr>
            <a:r>
              <a:rPr lang="en-US" sz="1500" b="1" dirty="0">
                <a:solidFill>
                  <a:srgbClr val="000000"/>
                </a:solidFill>
              </a:rPr>
              <a:t>			- Erasable reprogrammable ROM</a:t>
            </a:r>
          </a:p>
          <a:p>
            <a:pPr eaLnBrk="1" hangingPunct="1">
              <a:defRPr/>
            </a:pPr>
            <a:r>
              <a:rPr lang="en-US" sz="1500" b="1" dirty="0">
                <a:solidFill>
                  <a:srgbClr val="000000"/>
                </a:solidFill>
              </a:rPr>
              <a:t>			- Contents are kept on Power down or reload</a:t>
            </a:r>
          </a:p>
          <a:p>
            <a:pPr eaLnBrk="1" hangingPunct="1">
              <a:defRPr/>
            </a:pPr>
            <a:endParaRPr lang="en-US" sz="1500" b="1" dirty="0">
              <a:solidFill>
                <a:srgbClr val="000000"/>
              </a:solidFill>
            </a:endParaRPr>
          </a:p>
          <a:p>
            <a:pPr eaLnBrk="1" hangingPunct="1">
              <a:defRPr/>
            </a:pPr>
            <a:r>
              <a:rPr lang="en-US" sz="1500" b="1" dirty="0">
                <a:solidFill>
                  <a:srgbClr val="000000"/>
                </a:solidFill>
              </a:rPr>
              <a:t>RAM 		- Random Access memory</a:t>
            </a:r>
          </a:p>
          <a:p>
            <a:pPr eaLnBrk="1" hangingPunct="1">
              <a:defRPr/>
            </a:pPr>
            <a:r>
              <a:rPr lang="en-US" sz="1500" b="1" dirty="0">
                <a:solidFill>
                  <a:srgbClr val="000000"/>
                </a:solidFill>
              </a:rPr>
              <a:t>			- Routing Tables</a:t>
            </a:r>
          </a:p>
          <a:p>
            <a:pPr eaLnBrk="1" hangingPunct="1">
              <a:defRPr/>
            </a:pPr>
            <a:r>
              <a:rPr lang="en-US" sz="1500" b="1" dirty="0">
                <a:solidFill>
                  <a:srgbClr val="000000"/>
                </a:solidFill>
              </a:rPr>
              <a:t>			- Running Configuration</a:t>
            </a:r>
          </a:p>
          <a:p>
            <a:pPr eaLnBrk="1" hangingPunct="1">
              <a:defRPr/>
            </a:pPr>
            <a:r>
              <a:rPr lang="en-US" sz="1500" b="1" dirty="0">
                <a:solidFill>
                  <a:srgbClr val="000000"/>
                </a:solidFill>
              </a:rPr>
              <a:t>			- Contents are lost on reboot</a:t>
            </a:r>
          </a:p>
          <a:p>
            <a:pPr eaLnBrk="1" hangingPunct="1">
              <a:defRPr/>
            </a:pPr>
            <a:endParaRPr lang="en-US" sz="1500" b="1" dirty="0">
              <a:solidFill>
                <a:srgbClr val="000000"/>
              </a:solidFill>
            </a:endParaRPr>
          </a:p>
          <a:p>
            <a:pPr eaLnBrk="1" hangingPunct="1">
              <a:defRPr/>
            </a:pPr>
            <a:r>
              <a:rPr lang="en-US" sz="1500" b="1" dirty="0">
                <a:solidFill>
                  <a:srgbClr val="000000"/>
                </a:solidFill>
              </a:rPr>
              <a:t>NVRAM(</a:t>
            </a:r>
            <a:r>
              <a:rPr lang="en-US" b="1" dirty="0"/>
              <a:t>Non-Volatile )</a:t>
            </a:r>
            <a:r>
              <a:rPr lang="en-US" sz="1500" b="1" dirty="0">
                <a:solidFill>
                  <a:srgbClr val="000000"/>
                </a:solidFill>
              </a:rPr>
              <a:t>		- Start up configuration</a:t>
            </a:r>
          </a:p>
          <a:p>
            <a:pPr eaLnBrk="1" hangingPunct="1">
              <a:defRPr/>
            </a:pPr>
            <a:r>
              <a:rPr lang="en-US" sz="1500" b="1" dirty="0">
                <a:solidFill>
                  <a:srgbClr val="000000"/>
                </a:solidFill>
              </a:rPr>
              <a:t>			- Configuration Register</a:t>
            </a:r>
          </a:p>
          <a:p>
            <a:pPr eaLnBrk="1" hangingPunct="1">
              <a:defRPr/>
            </a:pPr>
            <a:r>
              <a:rPr lang="en-US" sz="1500" b="1" dirty="0">
                <a:solidFill>
                  <a:srgbClr val="000000"/>
                </a:solidFill>
              </a:rPr>
              <a:t>			- Contents are kept on reload</a:t>
            </a:r>
          </a:p>
          <a:p>
            <a:pPr eaLnBrk="1" hangingPunct="1">
              <a:defRPr/>
            </a:pP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4">
            <a:extLst>
              <a:ext uri="{FF2B5EF4-FFF2-40B4-BE49-F238E27FC236}">
                <a16:creationId xmlns:a16="http://schemas.microsoft.com/office/drawing/2014/main" id="{653AA859-47CF-011B-5BA7-38BD1B7D183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BFC042B0-C3F6-4C48-974F-A3003A8CCCC4}" type="slidenum">
              <a:rPr lang="en-US" altLang="en-US" sz="1400">
                <a:latin typeface="Times New Roman" panose="02020603050405020304" pitchFamily="18" charset="0"/>
              </a:rPr>
              <a:pPr>
                <a:spcBef>
                  <a:spcPct val="0"/>
                </a:spcBef>
                <a:buFontTx/>
                <a:buNone/>
              </a:pPr>
              <a:t>17</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60001DAA-B3E8-D224-E8E3-DC9BDE675538}"/>
              </a:ext>
            </a:extLst>
          </p:cNvPr>
          <p:cNvSpPr txBox="1">
            <a:spLocks noChangeArrowheads="1"/>
          </p:cNvSpPr>
          <p:nvPr/>
        </p:nvSpPr>
        <p:spPr bwMode="auto">
          <a:xfrm>
            <a:off x="685801" y="1519238"/>
            <a:ext cx="9144000" cy="8302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3200" dirty="0">
                <a:solidFill>
                  <a:schemeClr val="tx2"/>
                </a:solidFill>
              </a:rPr>
              <a:t>Interfaces</a:t>
            </a:r>
            <a:r>
              <a:rPr lang="en-US" sz="4800" dirty="0">
                <a:solidFill>
                  <a:schemeClr val="tx2"/>
                </a:solidFill>
              </a:rPr>
              <a:t> </a:t>
            </a:r>
            <a:endParaRPr lang="en-US" sz="1800" dirty="0"/>
          </a:p>
        </p:txBody>
      </p:sp>
      <p:sp>
        <p:nvSpPr>
          <p:cNvPr id="4" name="Text Box 3">
            <a:extLst>
              <a:ext uri="{FF2B5EF4-FFF2-40B4-BE49-F238E27FC236}">
                <a16:creationId xmlns:a16="http://schemas.microsoft.com/office/drawing/2014/main" id="{2A07E553-2FD0-2E5F-5319-CF43606B68E5}"/>
              </a:ext>
            </a:extLst>
          </p:cNvPr>
          <p:cNvSpPr txBox="1">
            <a:spLocks noChangeArrowheads="1"/>
          </p:cNvSpPr>
          <p:nvPr/>
        </p:nvSpPr>
        <p:spPr bwMode="auto">
          <a:xfrm>
            <a:off x="1371601" y="2689225"/>
            <a:ext cx="8610600" cy="3094038"/>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spAutoFit/>
          </a:bodyPr>
          <a:lstStyle/>
          <a:p>
            <a:pPr eaLnBrk="1" hangingPunct="1">
              <a:buFont typeface="Wingdings" pitchFamily="2" charset="2"/>
              <a:buNone/>
              <a:defRPr/>
            </a:pPr>
            <a:r>
              <a:rPr lang="en-US" sz="1500" dirty="0">
                <a:solidFill>
                  <a:srgbClr val="000000"/>
                </a:solidFill>
              </a:rPr>
              <a:t>Interfaces have the following characteristics and functions: </a:t>
            </a:r>
          </a:p>
          <a:p>
            <a:pPr eaLnBrk="1" hangingPunct="1">
              <a:buFont typeface="Wingdings" pitchFamily="2" charset="2"/>
              <a:buChar char="q"/>
              <a:defRPr/>
            </a:pPr>
            <a:endParaRPr lang="en-US" sz="1500" dirty="0">
              <a:solidFill>
                <a:srgbClr val="000000"/>
              </a:solidFill>
            </a:endParaRPr>
          </a:p>
          <a:p>
            <a:pPr eaLnBrk="1" hangingPunct="1">
              <a:buFont typeface="Wingdings" pitchFamily="2" charset="2"/>
              <a:buNone/>
              <a:defRPr/>
            </a:pPr>
            <a:r>
              <a:rPr lang="en-US" sz="1500" dirty="0">
                <a:solidFill>
                  <a:srgbClr val="000000"/>
                </a:solidFill>
              </a:rPr>
              <a:t>	Connect router to network for frame entry and exit </a:t>
            </a:r>
          </a:p>
          <a:p>
            <a:pPr eaLnBrk="1" hangingPunct="1">
              <a:buFont typeface="Wingdings" pitchFamily="2" charset="2"/>
              <a:buNone/>
              <a:defRPr/>
            </a:pPr>
            <a:r>
              <a:rPr lang="en-US" sz="1500" dirty="0">
                <a:solidFill>
                  <a:srgbClr val="000000"/>
                </a:solidFill>
              </a:rPr>
              <a:t>	Can be on the motherboard or on a separate module </a:t>
            </a:r>
          </a:p>
          <a:p>
            <a:pPr eaLnBrk="1" hangingPunct="1">
              <a:buFont typeface="Wingdings" pitchFamily="2" charset="2"/>
              <a:buChar char="q"/>
              <a:defRPr/>
            </a:pPr>
            <a:endParaRPr lang="en-US" sz="1500" dirty="0">
              <a:solidFill>
                <a:srgbClr val="000000"/>
              </a:solidFill>
            </a:endParaRPr>
          </a:p>
          <a:p>
            <a:pPr eaLnBrk="1" hangingPunct="1">
              <a:buFont typeface="Wingdings" pitchFamily="2" charset="2"/>
              <a:buNone/>
              <a:defRPr/>
            </a:pPr>
            <a:r>
              <a:rPr lang="en-US" sz="1500" dirty="0">
                <a:solidFill>
                  <a:srgbClr val="000000"/>
                </a:solidFill>
              </a:rPr>
              <a:t>Types of interfaces:</a:t>
            </a:r>
          </a:p>
          <a:p>
            <a:pPr eaLnBrk="1" hangingPunct="1">
              <a:buFont typeface="Wingdings" pitchFamily="2" charset="2"/>
              <a:buChar char="q"/>
              <a:defRPr/>
            </a:pPr>
            <a:endParaRPr lang="en-US" sz="1500" dirty="0">
              <a:solidFill>
                <a:srgbClr val="000000"/>
              </a:solidFill>
            </a:endParaRPr>
          </a:p>
          <a:p>
            <a:pPr eaLnBrk="1" hangingPunct="1">
              <a:buFont typeface="Wingdings" pitchFamily="2" charset="2"/>
              <a:buChar char="q"/>
              <a:defRPr/>
            </a:pPr>
            <a:r>
              <a:rPr lang="en-US" sz="1500" dirty="0">
                <a:solidFill>
                  <a:srgbClr val="000000"/>
                </a:solidFill>
              </a:rPr>
              <a:t>	Ethernet</a:t>
            </a:r>
          </a:p>
          <a:p>
            <a:pPr eaLnBrk="1" hangingPunct="1">
              <a:buFont typeface="Wingdings" pitchFamily="2" charset="2"/>
              <a:buChar char="q"/>
              <a:defRPr/>
            </a:pPr>
            <a:r>
              <a:rPr lang="en-US" sz="1500" dirty="0">
                <a:solidFill>
                  <a:srgbClr val="000000"/>
                </a:solidFill>
              </a:rPr>
              <a:t>	Fast Ethernet</a:t>
            </a:r>
          </a:p>
          <a:p>
            <a:pPr eaLnBrk="1" hangingPunct="1">
              <a:buFont typeface="Wingdings" pitchFamily="2" charset="2"/>
              <a:buChar char="q"/>
              <a:defRPr/>
            </a:pPr>
            <a:r>
              <a:rPr lang="en-US" sz="1500" dirty="0">
                <a:solidFill>
                  <a:srgbClr val="000000"/>
                </a:solidFill>
              </a:rPr>
              <a:t>	Serial</a:t>
            </a:r>
          </a:p>
          <a:p>
            <a:pPr eaLnBrk="1" hangingPunct="1">
              <a:buFont typeface="Wingdings" pitchFamily="2" charset="2"/>
              <a:buChar char="q"/>
              <a:defRPr/>
            </a:pPr>
            <a:r>
              <a:rPr lang="en-US" sz="1500" dirty="0">
                <a:solidFill>
                  <a:srgbClr val="000000"/>
                </a:solidFill>
              </a:rPr>
              <a:t>	Loopback</a:t>
            </a:r>
          </a:p>
          <a:p>
            <a:pPr eaLnBrk="1" hangingPunct="1">
              <a:buFont typeface="Wingdings" pitchFamily="2" charset="2"/>
              <a:buChar char="q"/>
              <a:defRPr/>
            </a:pPr>
            <a:r>
              <a:rPr lang="en-US" sz="1500" dirty="0">
                <a:solidFill>
                  <a:srgbClr val="000000"/>
                </a:solidFill>
              </a:rPr>
              <a:t>	Console</a:t>
            </a:r>
          </a:p>
          <a:p>
            <a:pPr eaLnBrk="1" hangingPunct="1">
              <a:buFont typeface="Wingdings" pitchFamily="2" charset="2"/>
              <a:buChar char="q"/>
              <a:defRPr/>
            </a:pPr>
            <a:r>
              <a:rPr lang="en-US" sz="1500" dirty="0">
                <a:solidFill>
                  <a:srgbClr val="000000"/>
                </a:solidFill>
              </a:rPr>
              <a:t>	Aux</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Slide Number Placeholder 4">
            <a:extLst>
              <a:ext uri="{FF2B5EF4-FFF2-40B4-BE49-F238E27FC236}">
                <a16:creationId xmlns:a16="http://schemas.microsoft.com/office/drawing/2014/main" id="{CA18CD1B-F453-09F5-F5C1-D5BF94C0F47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E97FF005-E241-40D6-8506-86C8AD14D173}" type="slidenum">
              <a:rPr lang="en-US" altLang="en-US" sz="1400">
                <a:latin typeface="Times New Roman" panose="02020603050405020304" pitchFamily="18" charset="0"/>
              </a:rPr>
              <a:pPr>
                <a:spcBef>
                  <a:spcPct val="0"/>
                </a:spcBef>
                <a:buFontTx/>
                <a:buNone/>
              </a:pPr>
              <a:t>18</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27A2FFB9-4EE6-9429-2904-B65131D061C3}"/>
              </a:ext>
            </a:extLst>
          </p:cNvPr>
          <p:cNvSpPr txBox="1">
            <a:spLocks noChangeArrowheads="1"/>
          </p:cNvSpPr>
          <p:nvPr/>
        </p:nvSpPr>
        <p:spPr bwMode="auto">
          <a:xfrm>
            <a:off x="685801" y="1519238"/>
            <a:ext cx="91440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Access to Cisco IOS CLI</a:t>
            </a:r>
          </a:p>
        </p:txBody>
      </p:sp>
      <p:sp>
        <p:nvSpPr>
          <p:cNvPr id="9225" name="TextBox 3">
            <a:extLst>
              <a:ext uri="{FF2B5EF4-FFF2-40B4-BE49-F238E27FC236}">
                <a16:creationId xmlns:a16="http://schemas.microsoft.com/office/drawing/2014/main" id="{7877F5B7-11D5-2F14-C601-9ED128E46C8C}"/>
              </a:ext>
            </a:extLst>
          </p:cNvPr>
          <p:cNvSpPr txBox="1">
            <a:spLocks noChangeArrowheads="1"/>
          </p:cNvSpPr>
          <p:nvPr/>
        </p:nvSpPr>
        <p:spPr bwMode="auto">
          <a:xfrm>
            <a:off x="658813" y="2133601"/>
            <a:ext cx="9475788"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lnSpc>
                <a:spcPct val="200000"/>
              </a:lnSpc>
              <a:spcBef>
                <a:spcPct val="0"/>
              </a:spcBef>
              <a:buFont typeface="Wingdings" panose="05000000000000000000" pitchFamily="2" charset="2"/>
              <a:buChar char="§"/>
            </a:pPr>
            <a:r>
              <a:rPr lang="en-US" altLang="en-US" sz="1600"/>
              <a:t>Most Cisco devices (including routers and switches) use a CLI (Command Line Interface) to configure the network device.</a:t>
            </a:r>
          </a:p>
          <a:p>
            <a:pPr eaLnBrk="1" hangingPunct="1">
              <a:lnSpc>
                <a:spcPct val="200000"/>
              </a:lnSpc>
              <a:spcBef>
                <a:spcPct val="0"/>
              </a:spcBef>
              <a:buFont typeface="Wingdings" panose="05000000000000000000" pitchFamily="2" charset="2"/>
              <a:buChar char="§"/>
            </a:pPr>
            <a:r>
              <a:rPr lang="en-US" altLang="en-US" sz="1600"/>
              <a:t> The CLI is an interface, based on text. You type in configuration commands and use show commands to get the output from the router or switch. There are also GUIs (Graphical User Interface) for the routers, switches and firewalls but the majority of the work is done on the CLI</a:t>
            </a:r>
          </a:p>
          <a:p>
            <a:pPr eaLnBrk="1" hangingPunct="1">
              <a:lnSpc>
                <a:spcPct val="200000"/>
              </a:lnSpc>
              <a:spcBef>
                <a:spcPct val="0"/>
              </a:spcBef>
              <a:buFont typeface="Wingdings" panose="05000000000000000000" pitchFamily="2" charset="2"/>
              <a:buChar char="§"/>
            </a:pPr>
            <a:endParaRPr lang="en-US" altLang="en-US" sz="1600"/>
          </a:p>
          <a:p>
            <a:pPr eaLnBrk="1" hangingPunct="1">
              <a:lnSpc>
                <a:spcPct val="200000"/>
              </a:lnSpc>
              <a:spcBef>
                <a:spcPct val="0"/>
              </a:spcBef>
              <a:buFont typeface="Wingdings" panose="05000000000000000000" pitchFamily="2" charset="2"/>
              <a:buChar char="§"/>
            </a:pPr>
            <a:r>
              <a:rPr lang="en-US" altLang="en-US" sz="1600"/>
              <a:t>In this lesson, I’ll explain how to access the CLI and the basics of how Cisco IOS works.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4">
            <a:extLst>
              <a:ext uri="{FF2B5EF4-FFF2-40B4-BE49-F238E27FC236}">
                <a16:creationId xmlns:a16="http://schemas.microsoft.com/office/drawing/2014/main" id="{DE003AAA-C302-F312-83C2-BD1FE9707D5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6E24750D-151E-49BF-A773-0483FCC3DD8D}" type="slidenum">
              <a:rPr lang="en-US" altLang="en-US" sz="1400">
                <a:latin typeface="Times New Roman" panose="02020603050405020304" pitchFamily="18" charset="0"/>
              </a:rPr>
              <a:pPr>
                <a:spcBef>
                  <a:spcPct val="0"/>
                </a:spcBef>
                <a:buFontTx/>
                <a:buNone/>
              </a:pPr>
              <a:t>19</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72031A88-1540-B6B6-8920-3B49B838F7AC}"/>
              </a:ext>
            </a:extLst>
          </p:cNvPr>
          <p:cNvSpPr txBox="1">
            <a:spLocks noChangeArrowheads="1"/>
          </p:cNvSpPr>
          <p:nvPr/>
        </p:nvSpPr>
        <p:spPr bwMode="auto">
          <a:xfrm>
            <a:off x="685801" y="1519238"/>
            <a:ext cx="9220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Access to Cisco IOS CLI</a:t>
            </a:r>
          </a:p>
        </p:txBody>
      </p:sp>
      <p:sp>
        <p:nvSpPr>
          <p:cNvPr id="2057" name="TextBox 3">
            <a:extLst>
              <a:ext uri="{FF2B5EF4-FFF2-40B4-BE49-F238E27FC236}">
                <a16:creationId xmlns:a16="http://schemas.microsoft.com/office/drawing/2014/main" id="{FF67BC61-9263-D3BC-1023-DEC3EC7A1DB4}"/>
              </a:ext>
            </a:extLst>
          </p:cNvPr>
          <p:cNvSpPr txBox="1">
            <a:spLocks noChangeArrowheads="1"/>
          </p:cNvSpPr>
          <p:nvPr/>
        </p:nvSpPr>
        <p:spPr bwMode="auto">
          <a:xfrm>
            <a:off x="658813" y="2133601"/>
            <a:ext cx="9628188" cy="2308225"/>
          </a:xfrm>
          <a:prstGeom prst="rect">
            <a:avLst/>
          </a:prstGeom>
          <a:noFill/>
          <a:ln>
            <a:noFill/>
          </a:ln>
        </p:spPr>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lnSpc>
                <a:spcPct val="150000"/>
              </a:lnSpc>
              <a:defRPr/>
            </a:pPr>
            <a:r>
              <a:rPr lang="en-US" dirty="0"/>
              <a:t>Before we can enter any commands, we need access to the CLI. There are three options:</a:t>
            </a:r>
          </a:p>
          <a:p>
            <a:pPr marL="285750" indent="-285750">
              <a:lnSpc>
                <a:spcPct val="150000"/>
              </a:lnSpc>
              <a:buFont typeface="Wingdings" pitchFamily="2" charset="2"/>
              <a:buChar char="§"/>
              <a:defRPr/>
            </a:pPr>
            <a:r>
              <a:rPr lang="en-US" dirty="0"/>
              <a:t>Console</a:t>
            </a:r>
          </a:p>
          <a:p>
            <a:pPr marL="285750" indent="-285750">
              <a:lnSpc>
                <a:spcPct val="150000"/>
              </a:lnSpc>
              <a:buFont typeface="Wingdings" pitchFamily="2" charset="2"/>
              <a:buChar char="§"/>
              <a:defRPr/>
            </a:pPr>
            <a:r>
              <a:rPr lang="en-US" dirty="0"/>
              <a:t>Telnet</a:t>
            </a:r>
          </a:p>
          <a:p>
            <a:pPr marL="285750" indent="-285750">
              <a:lnSpc>
                <a:spcPct val="150000"/>
              </a:lnSpc>
              <a:buFont typeface="Wingdings" pitchFamily="2" charset="2"/>
              <a:buChar char="§"/>
              <a:defRPr/>
            </a:pPr>
            <a:r>
              <a:rPr lang="en-US" dirty="0"/>
              <a:t>SSH</a:t>
            </a:r>
          </a:p>
          <a:p>
            <a:pPr>
              <a:lnSpc>
                <a:spcPct val="150000"/>
              </a:lnSpc>
              <a:defRPr/>
            </a:pPr>
            <a:r>
              <a:rPr lang="en-US" dirty="0"/>
              <a:t>The console is a physical port on the switch that allows access to the CLI. We typically use this the first time we configure the switch. Telnet and SSH are both options for remote access.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lide Number Placeholder 4">
            <a:extLst>
              <a:ext uri="{FF2B5EF4-FFF2-40B4-BE49-F238E27FC236}">
                <a16:creationId xmlns:a16="http://schemas.microsoft.com/office/drawing/2014/main" id="{C8DCB91B-4568-820C-4D42-549640BF777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3DBA37D4-C9C9-4DC8-9DB6-B37FE6ABFA3C}" type="slidenum">
              <a:rPr lang="en-US" altLang="en-US" sz="1400">
                <a:latin typeface="Times New Roman" panose="02020603050405020304" pitchFamily="18" charset="0"/>
              </a:rPr>
              <a:pPr>
                <a:spcBef>
                  <a:spcPct val="0"/>
                </a:spcBef>
                <a:buFontTx/>
                <a:buNone/>
              </a:pPr>
              <a:t>20</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88579202-ECC2-14A1-D84B-7B0B6B33EAF3}"/>
              </a:ext>
            </a:extLst>
          </p:cNvPr>
          <p:cNvSpPr txBox="1">
            <a:spLocks noChangeArrowheads="1"/>
          </p:cNvSpPr>
          <p:nvPr/>
        </p:nvSpPr>
        <p:spPr bwMode="auto">
          <a:xfrm>
            <a:off x="685801" y="1519238"/>
            <a:ext cx="86106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Access to Cisco IOS CLI</a:t>
            </a:r>
          </a:p>
        </p:txBody>
      </p:sp>
      <p:sp>
        <p:nvSpPr>
          <p:cNvPr id="13321" name="TextBox 3">
            <a:extLst>
              <a:ext uri="{FF2B5EF4-FFF2-40B4-BE49-F238E27FC236}">
                <a16:creationId xmlns:a16="http://schemas.microsoft.com/office/drawing/2014/main" id="{F6016E3D-BAE6-58E7-1D10-24D8AC21D51B}"/>
              </a:ext>
            </a:extLst>
          </p:cNvPr>
          <p:cNvSpPr txBox="1">
            <a:spLocks noChangeArrowheads="1"/>
          </p:cNvSpPr>
          <p:nvPr/>
        </p:nvSpPr>
        <p:spPr bwMode="auto">
          <a:xfrm>
            <a:off x="658813" y="2133600"/>
            <a:ext cx="96281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r>
              <a:rPr lang="en-US" altLang="en-US" sz="1600" b="1"/>
              <a:t>Console Cabling</a:t>
            </a:r>
          </a:p>
        </p:txBody>
      </p:sp>
      <p:graphicFrame>
        <p:nvGraphicFramePr>
          <p:cNvPr id="13322" name="Object 2">
            <a:extLst>
              <a:ext uri="{FF2B5EF4-FFF2-40B4-BE49-F238E27FC236}">
                <a16:creationId xmlns:a16="http://schemas.microsoft.com/office/drawing/2014/main" id="{D5E626CE-F120-8552-A3A7-132C0981CB92}"/>
              </a:ext>
            </a:extLst>
          </p:cNvPr>
          <p:cNvGraphicFramePr>
            <a:graphicFrameLocks noChangeAspect="1"/>
          </p:cNvGraphicFramePr>
          <p:nvPr/>
        </p:nvGraphicFramePr>
        <p:xfrm>
          <a:off x="6126164" y="2303463"/>
          <a:ext cx="5724525" cy="4292600"/>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13322" name="Object 2">
                        <a:extLst>
                          <a:ext uri="{FF2B5EF4-FFF2-40B4-BE49-F238E27FC236}">
                            <a16:creationId xmlns:a16="http://schemas.microsoft.com/office/drawing/2014/main" id="{D5E626CE-F120-8552-A3A7-132C0981CB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6164" y="2303463"/>
                        <a:ext cx="5724525"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323" name="Picture 10" descr="E:\D e s i g n\MCSA d\CAB-CONSOLE-RJ45.jpg">
            <a:extLst>
              <a:ext uri="{FF2B5EF4-FFF2-40B4-BE49-F238E27FC236}">
                <a16:creationId xmlns:a16="http://schemas.microsoft.com/office/drawing/2014/main" id="{38BCA166-7311-5118-7CE4-C5B60C195F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1501" y="2819400"/>
            <a:ext cx="29718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4" name="Picture 11" descr="E:\D e s i g n\MCSA d\s-l300.jpg">
            <a:extLst>
              <a:ext uri="{FF2B5EF4-FFF2-40B4-BE49-F238E27FC236}">
                <a16:creationId xmlns:a16="http://schemas.microsoft.com/office/drawing/2014/main" id="{D2595EE7-6186-0F35-023D-8531C0C877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1" y="2819400"/>
            <a:ext cx="29718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Slide Number Placeholder 4">
            <a:extLst>
              <a:ext uri="{FF2B5EF4-FFF2-40B4-BE49-F238E27FC236}">
                <a16:creationId xmlns:a16="http://schemas.microsoft.com/office/drawing/2014/main" id="{DA1C2229-B090-B1FE-8C40-26BDE63E25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DC45D7AC-7964-4C7E-AED6-619E1D136558}" type="slidenum">
              <a:rPr lang="en-US" altLang="en-US" sz="1400">
                <a:latin typeface="Times New Roman" panose="02020603050405020304" pitchFamily="18" charset="0"/>
              </a:rPr>
              <a:pPr>
                <a:spcBef>
                  <a:spcPct val="0"/>
                </a:spcBef>
                <a:buFontTx/>
                <a:buNone/>
              </a:pPr>
              <a:t>21</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D305D280-A187-698E-A626-B970CE5F1C5B}"/>
              </a:ext>
            </a:extLst>
          </p:cNvPr>
          <p:cNvSpPr txBox="1">
            <a:spLocks noChangeArrowheads="1"/>
          </p:cNvSpPr>
          <p:nvPr/>
        </p:nvSpPr>
        <p:spPr bwMode="auto">
          <a:xfrm>
            <a:off x="685801" y="1519238"/>
            <a:ext cx="86868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Access to Cisco IOS CLI</a:t>
            </a:r>
          </a:p>
        </p:txBody>
      </p:sp>
      <p:sp>
        <p:nvSpPr>
          <p:cNvPr id="15369" name="TextBox 3">
            <a:extLst>
              <a:ext uri="{FF2B5EF4-FFF2-40B4-BE49-F238E27FC236}">
                <a16:creationId xmlns:a16="http://schemas.microsoft.com/office/drawing/2014/main" id="{92811DBE-998D-94EF-16F9-B30BB9F641EA}"/>
              </a:ext>
            </a:extLst>
          </p:cNvPr>
          <p:cNvSpPr txBox="1">
            <a:spLocks noChangeArrowheads="1"/>
          </p:cNvSpPr>
          <p:nvPr/>
        </p:nvSpPr>
        <p:spPr bwMode="auto">
          <a:xfrm>
            <a:off x="658813" y="2133600"/>
            <a:ext cx="96281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r>
              <a:rPr lang="en-US" altLang="en-US" sz="1600" b="1">
                <a:solidFill>
                  <a:srgbClr val="FF0000"/>
                </a:solidFill>
              </a:rPr>
              <a:t>Terminal Emulator</a:t>
            </a:r>
          </a:p>
        </p:txBody>
      </p:sp>
      <p:sp>
        <p:nvSpPr>
          <p:cNvPr id="4" name="TextBox 3">
            <a:extLst>
              <a:ext uri="{FF2B5EF4-FFF2-40B4-BE49-F238E27FC236}">
                <a16:creationId xmlns:a16="http://schemas.microsoft.com/office/drawing/2014/main" id="{DDAB5576-A618-D6B5-B78B-0B192E52AFDD}"/>
              </a:ext>
            </a:extLst>
          </p:cNvPr>
          <p:cNvSpPr txBox="1"/>
          <p:nvPr/>
        </p:nvSpPr>
        <p:spPr>
          <a:xfrm>
            <a:off x="658813" y="2819400"/>
            <a:ext cx="6122988" cy="2129878"/>
          </a:xfrm>
          <a:prstGeom prst="rect">
            <a:avLst/>
          </a:prstGeom>
          <a:noFill/>
        </p:spPr>
        <p:txBody>
          <a:bodyPr>
            <a:spAutoFit/>
          </a:bodyPr>
          <a:lstStyle/>
          <a:p>
            <a:pPr eaLnBrk="1" hangingPunct="1">
              <a:lnSpc>
                <a:spcPct val="150000"/>
              </a:lnSpc>
              <a:defRPr/>
            </a:pPr>
            <a:r>
              <a:rPr lang="en-US" dirty="0">
                <a:cs typeface="Arial" charset="0"/>
              </a:rPr>
              <a:t>There are many terminal emulator applications. If you are new to this, the best one to start with is </a:t>
            </a:r>
            <a:r>
              <a:rPr lang="en-US" b="1" u="sng" dirty="0">
                <a:solidFill>
                  <a:schemeClr val="accent2">
                    <a:lumMod val="75000"/>
                  </a:schemeClr>
                </a:solidFill>
                <a:cs typeface="Arial" charset="0"/>
              </a:rPr>
              <a:t>Putty</a:t>
            </a:r>
            <a:r>
              <a:rPr lang="en-US" dirty="0">
                <a:cs typeface="Arial" charset="0"/>
              </a:rPr>
              <a:t>. It’s free and allows you to connect using a serial connection, telnet and SSH. Once you have downloaded it, you will see the main screen:</a:t>
            </a:r>
          </a:p>
        </p:txBody>
      </p:sp>
      <p:graphicFrame>
        <p:nvGraphicFramePr>
          <p:cNvPr id="15371" name="Object 4">
            <a:extLst>
              <a:ext uri="{FF2B5EF4-FFF2-40B4-BE49-F238E27FC236}">
                <a16:creationId xmlns:a16="http://schemas.microsoft.com/office/drawing/2014/main" id="{B0980BC6-7026-E13F-0940-932D9D2C7D45}"/>
              </a:ext>
            </a:extLst>
          </p:cNvPr>
          <p:cNvGraphicFramePr>
            <a:graphicFrameLocks noChangeAspect="1"/>
          </p:cNvGraphicFramePr>
          <p:nvPr/>
        </p:nvGraphicFramePr>
        <p:xfrm>
          <a:off x="6934201" y="2108200"/>
          <a:ext cx="4800600" cy="4641850"/>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15371" name="Object 4">
                        <a:extLst>
                          <a:ext uri="{FF2B5EF4-FFF2-40B4-BE49-F238E27FC236}">
                            <a16:creationId xmlns:a16="http://schemas.microsoft.com/office/drawing/2014/main" id="{B0980BC6-7026-E13F-0940-932D9D2C7D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1" y="2108200"/>
                        <a:ext cx="4800600"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4">
            <a:extLst>
              <a:ext uri="{FF2B5EF4-FFF2-40B4-BE49-F238E27FC236}">
                <a16:creationId xmlns:a16="http://schemas.microsoft.com/office/drawing/2014/main" id="{1CC15C09-6A65-C884-2842-AA5B38E9E85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AEBAEC74-6765-48EB-BCC6-EF1D6CC603AC}" type="slidenum">
              <a:rPr lang="en-US" altLang="en-US" sz="1400">
                <a:latin typeface="Times New Roman" panose="02020603050405020304" pitchFamily="18" charset="0"/>
              </a:rPr>
              <a:pPr>
                <a:spcBef>
                  <a:spcPct val="0"/>
                </a:spcBef>
                <a:buFontTx/>
                <a:buNone/>
              </a:pPr>
              <a:t>22</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12810296-142B-B639-C23C-1EFA9CFBBF53}"/>
              </a:ext>
            </a:extLst>
          </p:cNvPr>
          <p:cNvSpPr txBox="1">
            <a:spLocks noChangeArrowheads="1"/>
          </p:cNvSpPr>
          <p:nvPr/>
        </p:nvSpPr>
        <p:spPr bwMode="auto">
          <a:xfrm>
            <a:off x="685801" y="1519238"/>
            <a:ext cx="9220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Access to Cisco IOS CLI</a:t>
            </a:r>
          </a:p>
        </p:txBody>
      </p:sp>
      <p:sp>
        <p:nvSpPr>
          <p:cNvPr id="19465" name="TextBox 3">
            <a:extLst>
              <a:ext uri="{FF2B5EF4-FFF2-40B4-BE49-F238E27FC236}">
                <a16:creationId xmlns:a16="http://schemas.microsoft.com/office/drawing/2014/main" id="{010EF301-CD52-8E4C-8024-F0FBEF629B63}"/>
              </a:ext>
            </a:extLst>
          </p:cNvPr>
          <p:cNvSpPr txBox="1">
            <a:spLocks noChangeArrowheads="1"/>
          </p:cNvSpPr>
          <p:nvPr/>
        </p:nvSpPr>
        <p:spPr bwMode="auto">
          <a:xfrm>
            <a:off x="658813" y="2133600"/>
            <a:ext cx="96281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r>
              <a:rPr lang="en-US" altLang="en-US" sz="1600" b="1">
                <a:solidFill>
                  <a:srgbClr val="FF0000"/>
                </a:solidFill>
              </a:rPr>
              <a:t>Terminal Emulator</a:t>
            </a:r>
          </a:p>
        </p:txBody>
      </p:sp>
      <p:sp>
        <p:nvSpPr>
          <p:cNvPr id="19466" name="TextBox 3">
            <a:extLst>
              <a:ext uri="{FF2B5EF4-FFF2-40B4-BE49-F238E27FC236}">
                <a16:creationId xmlns:a16="http://schemas.microsoft.com/office/drawing/2014/main" id="{7D728FBB-E168-6EDE-2CFC-5B4B65107ECF}"/>
              </a:ext>
            </a:extLst>
          </p:cNvPr>
          <p:cNvSpPr txBox="1">
            <a:spLocks noChangeArrowheads="1"/>
          </p:cNvSpPr>
          <p:nvPr/>
        </p:nvSpPr>
        <p:spPr bwMode="auto">
          <a:xfrm>
            <a:off x="658813" y="2819401"/>
            <a:ext cx="6122988"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lnSpc>
                <a:spcPct val="150000"/>
              </a:lnSpc>
              <a:spcBef>
                <a:spcPct val="0"/>
              </a:spcBef>
              <a:buFontTx/>
              <a:buNone/>
            </a:pPr>
            <a:r>
              <a:rPr lang="en-US" altLang="en-US" sz="1600"/>
              <a:t>Above you can see that on my computer, I have to use COM4. Change the COM port and click on Open to start the console:</a:t>
            </a:r>
          </a:p>
          <a:p>
            <a:pPr eaLnBrk="1" hangingPunct="1">
              <a:lnSpc>
                <a:spcPct val="150000"/>
              </a:lnSpc>
              <a:spcBef>
                <a:spcPct val="0"/>
              </a:spcBef>
              <a:buFontTx/>
              <a:buNone/>
            </a:pPr>
            <a:endParaRPr lang="en-US" altLang="en-US" sz="1600"/>
          </a:p>
          <a:p>
            <a:pPr eaLnBrk="1" hangingPunct="1">
              <a:lnSpc>
                <a:spcPct val="150000"/>
              </a:lnSpc>
              <a:spcBef>
                <a:spcPct val="0"/>
              </a:spcBef>
              <a:buFontTx/>
              <a:buNone/>
            </a:pPr>
            <a:endParaRPr lang="en-US" altLang="en-US" sz="1600"/>
          </a:p>
          <a:p>
            <a:pPr eaLnBrk="1" hangingPunct="1">
              <a:lnSpc>
                <a:spcPct val="150000"/>
              </a:lnSpc>
              <a:spcBef>
                <a:spcPct val="0"/>
              </a:spcBef>
              <a:buFontTx/>
              <a:buNone/>
            </a:pPr>
            <a:endParaRPr lang="en-US" altLang="en-US" sz="1600"/>
          </a:p>
          <a:p>
            <a:pPr eaLnBrk="1" hangingPunct="1">
              <a:lnSpc>
                <a:spcPct val="150000"/>
              </a:lnSpc>
              <a:spcBef>
                <a:spcPct val="0"/>
              </a:spcBef>
              <a:buFontTx/>
              <a:buNone/>
            </a:pPr>
            <a:r>
              <a:rPr lang="en-US" altLang="en-US" sz="1600"/>
              <a:t>Now is a good time to power on your switch or in case it is already powered on, pull the plug so it can reload.</a:t>
            </a:r>
          </a:p>
        </p:txBody>
      </p:sp>
      <p:graphicFrame>
        <p:nvGraphicFramePr>
          <p:cNvPr id="19467" name="Object 4">
            <a:extLst>
              <a:ext uri="{FF2B5EF4-FFF2-40B4-BE49-F238E27FC236}">
                <a16:creationId xmlns:a16="http://schemas.microsoft.com/office/drawing/2014/main" id="{B6765210-975A-0D59-08A6-431F272D6C5B}"/>
              </a:ext>
            </a:extLst>
          </p:cNvPr>
          <p:cNvGraphicFramePr>
            <a:graphicFrameLocks noChangeAspect="1"/>
          </p:cNvGraphicFramePr>
          <p:nvPr/>
        </p:nvGraphicFramePr>
        <p:xfrm>
          <a:off x="7086601" y="2159001"/>
          <a:ext cx="4648200" cy="4494213"/>
        </p:xfrm>
        <a:graphic>
          <a:graphicData uri="http://schemas.openxmlformats.org/presentationml/2006/ole">
            <mc:AlternateContent xmlns:mc="http://schemas.openxmlformats.org/markup-compatibility/2006">
              <mc:Choice xmlns:v="urn:schemas-microsoft-com:vml" Requires="v">
                <p:oleObj name="Bitmap Image" r:id="rId3" imgW="0" imgH="0" progId="Paint.Picture">
                  <p:embed/>
                </p:oleObj>
              </mc:Choice>
              <mc:Fallback>
                <p:oleObj name="Bitmap Image" r:id="rId3" imgW="0" imgH="0" progId="Paint.Picture">
                  <p:embed/>
                  <p:pic>
                    <p:nvPicPr>
                      <p:cNvPr id="19467" name="Object 4">
                        <a:extLst>
                          <a:ext uri="{FF2B5EF4-FFF2-40B4-BE49-F238E27FC236}">
                            <a16:creationId xmlns:a16="http://schemas.microsoft.com/office/drawing/2014/main" id="{B6765210-975A-0D59-08A6-431F272D6C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1" y="2159001"/>
                        <a:ext cx="4648200" cy="449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4">
            <a:extLst>
              <a:ext uri="{FF2B5EF4-FFF2-40B4-BE49-F238E27FC236}">
                <a16:creationId xmlns:a16="http://schemas.microsoft.com/office/drawing/2014/main" id="{8956A0BC-6C7C-4F1A-BD72-004B279C226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56B38FDE-7BF3-408A-AE7D-0C28FCC5A99A}" type="slidenum">
              <a:rPr lang="en-US" altLang="en-US" sz="1400">
                <a:latin typeface="Times New Roman" panose="02020603050405020304" pitchFamily="18" charset="0"/>
              </a:rPr>
              <a:pPr>
                <a:spcBef>
                  <a:spcPct val="0"/>
                </a:spcBef>
                <a:buFontTx/>
                <a:buNone/>
              </a:pPr>
              <a:t>23</a:t>
            </a:fld>
            <a:endParaRPr lang="en-US" altLang="en-US" sz="1400">
              <a:latin typeface="Times New Roman" panose="02020603050405020304" pitchFamily="18" charset="0"/>
            </a:endParaRPr>
          </a:p>
        </p:txBody>
      </p:sp>
      <p:sp>
        <p:nvSpPr>
          <p:cNvPr id="21513" name="TextBox 3">
            <a:extLst>
              <a:ext uri="{FF2B5EF4-FFF2-40B4-BE49-F238E27FC236}">
                <a16:creationId xmlns:a16="http://schemas.microsoft.com/office/drawing/2014/main" id="{A711B792-24A0-906A-D31A-9BB7AC55BF96}"/>
              </a:ext>
            </a:extLst>
          </p:cNvPr>
          <p:cNvSpPr txBox="1">
            <a:spLocks noChangeArrowheads="1"/>
          </p:cNvSpPr>
          <p:nvPr/>
        </p:nvSpPr>
        <p:spPr bwMode="auto">
          <a:xfrm>
            <a:off x="658813" y="2133600"/>
            <a:ext cx="421798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r>
              <a:rPr lang="en-US" altLang="en-US" sz="1800" b="1">
                <a:solidFill>
                  <a:srgbClr val="FF0000"/>
                </a:solidFill>
              </a:rPr>
              <a:t>First Boot</a:t>
            </a:r>
          </a:p>
          <a:p>
            <a:pPr>
              <a:spcBef>
                <a:spcPct val="0"/>
              </a:spcBef>
              <a:buFontTx/>
              <a:buNone/>
            </a:pPr>
            <a:endParaRPr lang="en-US" altLang="en-US" sz="1800" b="1">
              <a:solidFill>
                <a:srgbClr val="FF0000"/>
              </a:solidFill>
            </a:endParaRPr>
          </a:p>
          <a:p>
            <a:pPr>
              <a:spcBef>
                <a:spcPct val="0"/>
              </a:spcBef>
              <a:buFontTx/>
              <a:buNone/>
            </a:pPr>
            <a:r>
              <a:rPr lang="en-US" altLang="en-US" sz="1600"/>
              <a:t>When the switch boots, you will see a lot of stuff on the console. First, it will initialize the flash memory:</a:t>
            </a:r>
          </a:p>
        </p:txBody>
      </p:sp>
      <p:pic>
        <p:nvPicPr>
          <p:cNvPr id="21514" name="Picture 2" descr="F:\C i s c o\CCNA 200 - 301 by zain\image\2222.PNG">
            <a:extLst>
              <a:ext uri="{FF2B5EF4-FFF2-40B4-BE49-F238E27FC236}">
                <a16:creationId xmlns:a16="http://schemas.microsoft.com/office/drawing/2014/main" id="{DFA443BD-E990-D05A-E12B-08022A7A49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1" y="5219700"/>
            <a:ext cx="6469062"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5" name="Picture 3" descr="F:\C i s c o\CCNA 200 - 301 by zain\image\111111.PNG">
            <a:extLst>
              <a:ext uri="{FF2B5EF4-FFF2-40B4-BE49-F238E27FC236}">
                <a16:creationId xmlns:a16="http://schemas.microsoft.com/office/drawing/2014/main" id="{3F91F369-D3A2-B82B-DD33-BBB4AB7FDD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9563" y="2057401"/>
            <a:ext cx="6459538"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5EA3C31-FDB9-2119-AF3E-B8A89D9D8B42}"/>
              </a:ext>
            </a:extLst>
          </p:cNvPr>
          <p:cNvSpPr>
            <a:spLocks noGrp="1"/>
          </p:cNvSpPr>
          <p:nvPr>
            <p:ph type="title"/>
          </p:nvPr>
        </p:nvSpPr>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Slide Number Placeholder 4">
            <a:extLst>
              <a:ext uri="{FF2B5EF4-FFF2-40B4-BE49-F238E27FC236}">
                <a16:creationId xmlns:a16="http://schemas.microsoft.com/office/drawing/2014/main" id="{AEAF676E-FAD0-FAC9-6F00-2E708A3B1EE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9CCAA6BB-CCBA-458E-BC5D-88BA9B7E30E8}" type="slidenum">
              <a:rPr lang="en-US" altLang="en-US" sz="1400">
                <a:latin typeface="Times New Roman" panose="02020603050405020304" pitchFamily="18" charset="0"/>
              </a:rPr>
              <a:pPr>
                <a:spcBef>
                  <a:spcPct val="0"/>
                </a:spcBef>
                <a:buFontTx/>
                <a:buNone/>
              </a:pPr>
              <a:t>24</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76B6A25F-63B7-1296-2C47-ACF249FE7BD0}"/>
              </a:ext>
            </a:extLst>
          </p:cNvPr>
          <p:cNvSpPr txBox="1">
            <a:spLocks noChangeArrowheads="1"/>
          </p:cNvSpPr>
          <p:nvPr/>
        </p:nvSpPr>
        <p:spPr bwMode="auto">
          <a:xfrm>
            <a:off x="685801" y="1519238"/>
            <a:ext cx="98298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Now it’s up to us to configure the switch.</a:t>
            </a:r>
          </a:p>
        </p:txBody>
      </p:sp>
      <p:sp>
        <p:nvSpPr>
          <p:cNvPr id="23561" name="TextBox 3">
            <a:extLst>
              <a:ext uri="{FF2B5EF4-FFF2-40B4-BE49-F238E27FC236}">
                <a16:creationId xmlns:a16="http://schemas.microsoft.com/office/drawing/2014/main" id="{DF73A529-9AB0-8C52-0E99-442AFA0C4BAB}"/>
              </a:ext>
            </a:extLst>
          </p:cNvPr>
          <p:cNvSpPr txBox="1">
            <a:spLocks noChangeArrowheads="1"/>
          </p:cNvSpPr>
          <p:nvPr/>
        </p:nvSpPr>
        <p:spPr bwMode="auto">
          <a:xfrm>
            <a:off x="658813" y="2133601"/>
            <a:ext cx="9856788" cy="217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lnSpc>
                <a:spcPct val="150000"/>
              </a:lnSpc>
              <a:spcBef>
                <a:spcPct val="0"/>
              </a:spcBef>
              <a:buFontTx/>
              <a:buNone/>
            </a:pPr>
            <a:r>
              <a:rPr lang="en-US" altLang="en-US" sz="1800"/>
              <a:t>User and Enable mode (Privileged Exec Mode)</a:t>
            </a:r>
          </a:p>
          <a:p>
            <a:pPr>
              <a:lnSpc>
                <a:spcPct val="150000"/>
              </a:lnSpc>
              <a:spcBef>
                <a:spcPct val="0"/>
              </a:spcBef>
              <a:buFontTx/>
              <a:buNone/>
            </a:pPr>
            <a:endParaRPr lang="en-US" altLang="en-US" sz="1800"/>
          </a:p>
          <a:p>
            <a:pPr>
              <a:lnSpc>
                <a:spcPct val="150000"/>
              </a:lnSpc>
              <a:spcBef>
                <a:spcPct val="0"/>
              </a:spcBef>
              <a:buFontTx/>
              <a:buNone/>
            </a:pPr>
            <a:r>
              <a:rPr lang="en-US" altLang="en-US" sz="1800"/>
              <a:t>Once the switch has booted and we have pressed the enter key, we end up in what we call the user mode or user EXEC mode. In this mode, we have permission to use some simple commands but we are restricted to configure anything or use some more advanced commands.</a:t>
            </a:r>
          </a:p>
        </p:txBody>
      </p:sp>
      <p:sp>
        <p:nvSpPr>
          <p:cNvPr id="2" name="Title 1">
            <a:extLst>
              <a:ext uri="{FF2B5EF4-FFF2-40B4-BE49-F238E27FC236}">
                <a16:creationId xmlns:a16="http://schemas.microsoft.com/office/drawing/2014/main" id="{C252B649-0CA3-A30B-B017-A550BD6E3F1F}"/>
              </a:ext>
            </a:extLst>
          </p:cNvPr>
          <p:cNvSpPr>
            <a:spLocks noGrp="1"/>
          </p:cNvSpPr>
          <p:nvPr>
            <p:ph type="title"/>
          </p:nvPr>
        </p:nvSpPr>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DF347C20-D508-8E4F-9D1E-B8B73520226C}"/>
              </a:ext>
            </a:extLst>
          </p:cNvPr>
          <p:cNvSpPr>
            <a:spLocks noGrp="1" noChangeArrowheads="1"/>
          </p:cNvSpPr>
          <p:nvPr>
            <p:ph type="title"/>
          </p:nvPr>
        </p:nvSpPr>
        <p:spPr>
          <a:xfrm>
            <a:off x="1589" y="533400"/>
            <a:ext cx="12188825" cy="762000"/>
          </a:xfrm>
        </p:spPr>
        <p:txBody>
          <a:bodyPr/>
          <a:lstStyle/>
          <a:p>
            <a:pPr eaLnBrk="1" hangingPunct="1"/>
            <a:r>
              <a:rPr lang="en-US" altLang="en-US"/>
              <a:t>Lesson 10: Introduction to Cisco IOS CLI</a:t>
            </a:r>
          </a:p>
        </p:txBody>
      </p:sp>
      <p:sp>
        <p:nvSpPr>
          <p:cNvPr id="25605" name="TextBox 16">
            <a:extLst>
              <a:ext uri="{FF2B5EF4-FFF2-40B4-BE49-F238E27FC236}">
                <a16:creationId xmlns:a16="http://schemas.microsoft.com/office/drawing/2014/main" id="{4E76AAC6-535A-FE9E-EA3B-B8C7CF5D3D38}"/>
              </a:ext>
            </a:extLst>
          </p:cNvPr>
          <p:cNvSpPr txBox="1">
            <a:spLocks noChangeArrowheads="1"/>
          </p:cNvSpPr>
          <p:nvPr/>
        </p:nvSpPr>
        <p:spPr bwMode="auto">
          <a:xfrm>
            <a:off x="76201" y="152400"/>
            <a:ext cx="53022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lgn="ctr" eaLnBrk="1" hangingPunct="1">
              <a:spcBef>
                <a:spcPct val="0"/>
              </a:spcBef>
              <a:buFontTx/>
              <a:buNone/>
            </a:pPr>
            <a:r>
              <a:rPr lang="en-US" altLang="en-US" sz="1800"/>
              <a:t>Cisco Certified Network Associate (CCNA 200-301)</a:t>
            </a:r>
          </a:p>
        </p:txBody>
      </p:sp>
      <p:sp>
        <p:nvSpPr>
          <p:cNvPr id="2055" name="TextBox 3">
            <a:extLst>
              <a:ext uri="{FF2B5EF4-FFF2-40B4-BE49-F238E27FC236}">
                <a16:creationId xmlns:a16="http://schemas.microsoft.com/office/drawing/2014/main" id="{A96C521D-1060-C5A9-D22D-8B12AEABDC9D}"/>
              </a:ext>
            </a:extLst>
          </p:cNvPr>
          <p:cNvSpPr txBox="1">
            <a:spLocks noChangeArrowheads="1"/>
          </p:cNvSpPr>
          <p:nvPr/>
        </p:nvSpPr>
        <p:spPr bwMode="auto">
          <a:xfrm>
            <a:off x="685801" y="1519238"/>
            <a:ext cx="9269412"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Now it’s up to us to configure the switch.</a:t>
            </a:r>
          </a:p>
        </p:txBody>
      </p:sp>
      <p:sp>
        <p:nvSpPr>
          <p:cNvPr id="25608" name="TextBox 2">
            <a:extLst>
              <a:ext uri="{FF2B5EF4-FFF2-40B4-BE49-F238E27FC236}">
                <a16:creationId xmlns:a16="http://schemas.microsoft.com/office/drawing/2014/main" id="{CFDE537F-2F44-020B-F353-CCF69CCB447C}"/>
              </a:ext>
            </a:extLst>
          </p:cNvPr>
          <p:cNvSpPr txBox="1">
            <a:spLocks noChangeArrowheads="1"/>
          </p:cNvSpPr>
          <p:nvPr/>
        </p:nvSpPr>
        <p:spPr bwMode="auto">
          <a:xfrm>
            <a:off x="6172201" y="120651"/>
            <a:ext cx="2317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2400"/>
              <a:t>Network Access</a:t>
            </a:r>
          </a:p>
        </p:txBody>
      </p:sp>
      <p:sp>
        <p:nvSpPr>
          <p:cNvPr id="25609" name="TextBox 3">
            <a:extLst>
              <a:ext uri="{FF2B5EF4-FFF2-40B4-BE49-F238E27FC236}">
                <a16:creationId xmlns:a16="http://schemas.microsoft.com/office/drawing/2014/main" id="{07111D4C-25A3-BD81-47BC-7C6428447E35}"/>
              </a:ext>
            </a:extLst>
          </p:cNvPr>
          <p:cNvSpPr txBox="1">
            <a:spLocks noChangeArrowheads="1"/>
          </p:cNvSpPr>
          <p:nvPr/>
        </p:nvSpPr>
        <p:spPr bwMode="auto">
          <a:xfrm>
            <a:off x="658813" y="2133600"/>
            <a:ext cx="9628188"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lnSpc>
                <a:spcPct val="150000"/>
              </a:lnSpc>
              <a:spcBef>
                <a:spcPct val="0"/>
              </a:spcBef>
              <a:buFontTx/>
              <a:buNone/>
            </a:pPr>
            <a:r>
              <a:rPr lang="en-US" altLang="en-US" sz="1800"/>
              <a:t>User and Enable mode (Privileged Exec Mode)</a:t>
            </a:r>
          </a:p>
        </p:txBody>
      </p:sp>
      <p:sp>
        <p:nvSpPr>
          <p:cNvPr id="25610" name="TextBox 2">
            <a:extLst>
              <a:ext uri="{FF2B5EF4-FFF2-40B4-BE49-F238E27FC236}">
                <a16:creationId xmlns:a16="http://schemas.microsoft.com/office/drawing/2014/main" id="{B6CAC0DA-BCB2-D782-C349-0152A7760632}"/>
              </a:ext>
            </a:extLst>
          </p:cNvPr>
          <p:cNvSpPr txBox="1">
            <a:spLocks noChangeArrowheads="1"/>
          </p:cNvSpPr>
          <p:nvPr/>
        </p:nvSpPr>
        <p:spPr bwMode="auto">
          <a:xfrm>
            <a:off x="685801" y="2895601"/>
            <a:ext cx="85344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lnSpc>
                <a:spcPct val="150000"/>
              </a:lnSpc>
              <a:spcBef>
                <a:spcPct val="0"/>
              </a:spcBef>
              <a:buFontTx/>
              <a:buNone/>
            </a:pPr>
            <a:r>
              <a:rPr lang="en-US" altLang="en-US" sz="1600"/>
              <a:t>Right now, the command line will show you this:</a:t>
            </a:r>
          </a:p>
          <a:p>
            <a:pPr eaLnBrk="1" hangingPunct="1">
              <a:lnSpc>
                <a:spcPct val="150000"/>
              </a:lnSpc>
              <a:spcBef>
                <a:spcPct val="0"/>
              </a:spcBef>
              <a:buFontTx/>
              <a:buNone/>
            </a:pPr>
            <a:endParaRPr lang="en-US" altLang="en-US" sz="1600"/>
          </a:p>
          <a:p>
            <a:pPr eaLnBrk="1" hangingPunct="1">
              <a:lnSpc>
                <a:spcPct val="150000"/>
              </a:lnSpc>
              <a:spcBef>
                <a:spcPct val="0"/>
              </a:spcBef>
              <a:buFontTx/>
              <a:buNone/>
            </a:pPr>
            <a:endParaRPr lang="en-US" altLang="en-US" sz="1600"/>
          </a:p>
          <a:p>
            <a:pPr eaLnBrk="1" hangingPunct="1">
              <a:lnSpc>
                <a:spcPct val="150000"/>
              </a:lnSpc>
              <a:spcBef>
                <a:spcPct val="0"/>
              </a:spcBef>
              <a:buFontTx/>
              <a:buNone/>
            </a:pPr>
            <a:r>
              <a:rPr lang="en-US" altLang="en-US" sz="1600"/>
              <a:t>The &gt; symbol tells us that we are currently in user mode. To get full access to the switch, we have to enter privileged mode, also called enabled mode. Here is how to do this:</a:t>
            </a:r>
          </a:p>
          <a:p>
            <a:pPr eaLnBrk="1" hangingPunct="1">
              <a:lnSpc>
                <a:spcPct val="150000"/>
              </a:lnSpc>
              <a:spcBef>
                <a:spcPct val="0"/>
              </a:spcBef>
              <a:buFontTx/>
              <a:buNone/>
            </a:pPr>
            <a:endParaRPr lang="en-US" altLang="en-US" sz="1600"/>
          </a:p>
        </p:txBody>
      </p:sp>
      <p:sp>
        <p:nvSpPr>
          <p:cNvPr id="4" name="TextBox 3">
            <a:extLst>
              <a:ext uri="{FF2B5EF4-FFF2-40B4-BE49-F238E27FC236}">
                <a16:creationId xmlns:a16="http://schemas.microsoft.com/office/drawing/2014/main" id="{6C5B7BF3-31D7-4C00-2A35-66D982C381AF}"/>
              </a:ext>
            </a:extLst>
          </p:cNvPr>
          <p:cNvSpPr txBox="1"/>
          <p:nvPr/>
        </p:nvSpPr>
        <p:spPr>
          <a:xfrm>
            <a:off x="658813" y="3657600"/>
            <a:ext cx="9296400" cy="36933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eaLnBrk="1" hangingPunct="1">
              <a:defRPr/>
            </a:pPr>
            <a:r>
              <a:rPr lang="en-US" dirty="0"/>
              <a:t>Switch&gt;</a:t>
            </a:r>
          </a:p>
        </p:txBody>
      </p:sp>
      <p:sp>
        <p:nvSpPr>
          <p:cNvPr id="5" name="TextBox 4">
            <a:extLst>
              <a:ext uri="{FF2B5EF4-FFF2-40B4-BE49-F238E27FC236}">
                <a16:creationId xmlns:a16="http://schemas.microsoft.com/office/drawing/2014/main" id="{63474352-930D-83CA-8695-F25F6E2EEE39}"/>
              </a:ext>
            </a:extLst>
          </p:cNvPr>
          <p:cNvSpPr txBox="1"/>
          <p:nvPr/>
        </p:nvSpPr>
        <p:spPr>
          <a:xfrm>
            <a:off x="685801" y="5203826"/>
            <a:ext cx="9269412" cy="883383"/>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eaLnBrk="1" hangingPunct="1">
              <a:lnSpc>
                <a:spcPct val="150000"/>
              </a:lnSpc>
              <a:defRPr/>
            </a:pPr>
            <a:r>
              <a:rPr lang="en-US" dirty="0"/>
              <a:t>Switch&gt;</a:t>
            </a:r>
            <a:r>
              <a:rPr lang="en-US" b="1" dirty="0"/>
              <a:t>enable</a:t>
            </a:r>
            <a:r>
              <a:rPr lang="en-US" dirty="0"/>
              <a:t> </a:t>
            </a:r>
          </a:p>
          <a:p>
            <a:pPr eaLnBrk="1" hangingPunct="1">
              <a:lnSpc>
                <a:spcPct val="150000"/>
              </a:lnSpc>
              <a:defRPr/>
            </a:pPr>
            <a:r>
              <a:rPr lang="en-US" dirty="0"/>
              <a:t>Switch#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Slide Number Placeholder 4">
            <a:extLst>
              <a:ext uri="{FF2B5EF4-FFF2-40B4-BE49-F238E27FC236}">
                <a16:creationId xmlns:a16="http://schemas.microsoft.com/office/drawing/2014/main" id="{9A13CC40-07A6-6D32-02A9-AA1586908B4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endParaRPr lang="en-US" altLang="en-US" sz="1400" dirty="0">
              <a:latin typeface="Times New Roman" panose="02020603050405020304" pitchFamily="18" charset="0"/>
            </a:endParaRPr>
          </a:p>
        </p:txBody>
      </p:sp>
      <p:sp>
        <p:nvSpPr>
          <p:cNvPr id="2055" name="TextBox 3">
            <a:extLst>
              <a:ext uri="{FF2B5EF4-FFF2-40B4-BE49-F238E27FC236}">
                <a16:creationId xmlns:a16="http://schemas.microsoft.com/office/drawing/2014/main" id="{939D5889-4DA7-367B-595E-19ADFAB21553}"/>
              </a:ext>
            </a:extLst>
          </p:cNvPr>
          <p:cNvSpPr txBox="1">
            <a:spLocks noChangeArrowheads="1"/>
          </p:cNvSpPr>
          <p:nvPr/>
        </p:nvSpPr>
        <p:spPr bwMode="auto">
          <a:xfrm>
            <a:off x="685801" y="1519238"/>
            <a:ext cx="9269412"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Now it’s up to us to configure the switch.</a:t>
            </a:r>
          </a:p>
        </p:txBody>
      </p:sp>
      <p:sp>
        <p:nvSpPr>
          <p:cNvPr id="27657" name="TextBox 3">
            <a:extLst>
              <a:ext uri="{FF2B5EF4-FFF2-40B4-BE49-F238E27FC236}">
                <a16:creationId xmlns:a16="http://schemas.microsoft.com/office/drawing/2014/main" id="{881AAF19-4B4D-5FBD-C32C-D5EE485A9650}"/>
              </a:ext>
            </a:extLst>
          </p:cNvPr>
          <p:cNvSpPr txBox="1">
            <a:spLocks noChangeArrowheads="1"/>
          </p:cNvSpPr>
          <p:nvPr/>
        </p:nvSpPr>
        <p:spPr bwMode="auto">
          <a:xfrm>
            <a:off x="658813" y="2057400"/>
            <a:ext cx="9628188"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lnSpc>
                <a:spcPct val="150000"/>
              </a:lnSpc>
              <a:spcBef>
                <a:spcPct val="0"/>
              </a:spcBef>
              <a:buFontTx/>
              <a:buNone/>
            </a:pPr>
            <a:r>
              <a:rPr lang="en-US" altLang="en-US" sz="1600" b="1"/>
              <a:t>Show commands</a:t>
            </a:r>
          </a:p>
          <a:p>
            <a:pPr>
              <a:lnSpc>
                <a:spcPct val="150000"/>
              </a:lnSpc>
              <a:spcBef>
                <a:spcPct val="0"/>
              </a:spcBef>
              <a:buFontTx/>
              <a:buNone/>
            </a:pPr>
            <a:r>
              <a:rPr lang="en-US" altLang="en-US" sz="1600"/>
              <a:t>The show command is probably the most used command for Cisco IOS. We can use it to fetch any information from the switch.</a:t>
            </a:r>
            <a:endParaRPr lang="en-US" altLang="en-US" sz="1600" b="1"/>
          </a:p>
        </p:txBody>
      </p:sp>
      <p:sp>
        <p:nvSpPr>
          <p:cNvPr id="4" name="TextBox 3">
            <a:extLst>
              <a:ext uri="{FF2B5EF4-FFF2-40B4-BE49-F238E27FC236}">
                <a16:creationId xmlns:a16="http://schemas.microsoft.com/office/drawing/2014/main" id="{AAB37F35-B0B4-9526-77BA-2F5558CB1504}"/>
              </a:ext>
            </a:extLst>
          </p:cNvPr>
          <p:cNvSpPr txBox="1"/>
          <p:nvPr/>
        </p:nvSpPr>
        <p:spPr>
          <a:xfrm>
            <a:off x="658813" y="3200401"/>
            <a:ext cx="9296400" cy="2960875"/>
          </a:xfrm>
          <a:prstGeom prst="rect">
            <a:avLst/>
          </a:prstGeom>
          <a:noFill/>
          <a:ln>
            <a:noFill/>
          </a:ln>
        </p:spPr>
        <p:style>
          <a:lnRef idx="2">
            <a:schemeClr val="accent3"/>
          </a:lnRef>
          <a:fillRef idx="1">
            <a:schemeClr val="lt1"/>
          </a:fillRef>
          <a:effectRef idx="0">
            <a:schemeClr val="accent3"/>
          </a:effectRef>
          <a:fontRef idx="minor">
            <a:schemeClr val="dk1"/>
          </a:fontRef>
        </p:style>
        <p:txBody>
          <a:bodyPr>
            <a:spAutoFit/>
          </a:bodyPr>
          <a:lstStyle/>
          <a:p>
            <a:pPr eaLnBrk="1" hangingPunct="1">
              <a:lnSpc>
                <a:spcPct val="150000"/>
              </a:lnSpc>
              <a:defRPr/>
            </a:pPr>
            <a:r>
              <a:rPr lang="en-US" dirty="0"/>
              <a:t>Privileged Mode Command :</a:t>
            </a:r>
          </a:p>
          <a:p>
            <a:pPr eaLnBrk="1" hangingPunct="1">
              <a:lnSpc>
                <a:spcPct val="150000"/>
              </a:lnSpc>
              <a:defRPr/>
            </a:pPr>
            <a:r>
              <a:rPr lang="en-US" dirty="0"/>
              <a:t>  show startup-</a:t>
            </a:r>
            <a:r>
              <a:rPr lang="en-US" dirty="0" err="1"/>
              <a:t>config</a:t>
            </a:r>
            <a:endParaRPr lang="en-US" dirty="0"/>
          </a:p>
          <a:p>
            <a:pPr eaLnBrk="1" hangingPunct="1">
              <a:lnSpc>
                <a:spcPct val="150000"/>
              </a:lnSpc>
              <a:defRPr/>
            </a:pPr>
            <a:r>
              <a:rPr lang="en-US" dirty="0"/>
              <a:t>  show running-</a:t>
            </a:r>
            <a:r>
              <a:rPr lang="en-US" dirty="0" err="1"/>
              <a:t>config</a:t>
            </a:r>
            <a:endParaRPr lang="en-US" dirty="0"/>
          </a:p>
          <a:p>
            <a:pPr eaLnBrk="1" hangingPunct="1">
              <a:lnSpc>
                <a:spcPct val="150000"/>
              </a:lnSpc>
              <a:defRPr/>
            </a:pPr>
            <a:r>
              <a:rPr lang="en-US" dirty="0"/>
              <a:t>  show version</a:t>
            </a:r>
          </a:p>
          <a:p>
            <a:pPr eaLnBrk="1" hangingPunct="1">
              <a:lnSpc>
                <a:spcPct val="150000"/>
              </a:lnSpc>
              <a:defRPr/>
            </a:pPr>
            <a:r>
              <a:rPr lang="en-US" dirty="0"/>
              <a:t>  show interfaces</a:t>
            </a:r>
          </a:p>
          <a:p>
            <a:pPr eaLnBrk="1" hangingPunct="1">
              <a:lnSpc>
                <a:spcPct val="150000"/>
              </a:lnSpc>
              <a:defRPr/>
            </a:pPr>
            <a:r>
              <a:rPr lang="en-US" dirty="0"/>
              <a:t>  show interfaces </a:t>
            </a:r>
            <a:r>
              <a:rPr lang="en-US" dirty="0" err="1"/>
              <a:t>FastEthernet</a:t>
            </a:r>
            <a:r>
              <a:rPr lang="en-US" dirty="0"/>
              <a:t> 0/1</a:t>
            </a:r>
          </a:p>
          <a:p>
            <a:pPr eaLnBrk="1" hangingPunct="1">
              <a:lnSpc>
                <a:spcPct val="150000"/>
              </a:lnSpc>
              <a:defRPr/>
            </a:pPr>
            <a:r>
              <a:rPr lang="en-US" dirty="0"/>
              <a:t>  show </a:t>
            </a:r>
            <a:r>
              <a:rPr lang="en-US" dirty="0" err="1"/>
              <a:t>ip</a:t>
            </a:r>
            <a:r>
              <a:rPr lang="en-US" dirty="0"/>
              <a:t> interface brief</a:t>
            </a:r>
          </a:p>
        </p:txBody>
      </p:sp>
      <p:sp>
        <p:nvSpPr>
          <p:cNvPr id="5" name="TextBox 4">
            <a:extLst>
              <a:ext uri="{FF2B5EF4-FFF2-40B4-BE49-F238E27FC236}">
                <a16:creationId xmlns:a16="http://schemas.microsoft.com/office/drawing/2014/main" id="{7A97795C-7031-9DF7-66CB-4DFF1A25B0A4}"/>
              </a:ext>
            </a:extLst>
          </p:cNvPr>
          <p:cNvSpPr txBox="1"/>
          <p:nvPr/>
        </p:nvSpPr>
        <p:spPr>
          <a:xfrm>
            <a:off x="685801" y="5867401"/>
            <a:ext cx="9269412" cy="467885"/>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eaLnBrk="1" hangingPunct="1">
              <a:lnSpc>
                <a:spcPct val="150000"/>
              </a:lnSpc>
              <a:defRPr/>
            </a:pPr>
            <a:r>
              <a:rPr lang="en-US" dirty="0" err="1"/>
              <a:t>Switch#show</a:t>
            </a:r>
            <a:r>
              <a:rPr lang="en-US" dirty="0"/>
              <a:t> version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33FB199E-BD88-122C-5BFC-C910662E8B17}"/>
              </a:ext>
            </a:extLst>
          </p:cNvPr>
          <p:cNvSpPr txBox="1">
            <a:spLocks noChangeArrowheads="1"/>
          </p:cNvSpPr>
          <p:nvPr/>
        </p:nvSpPr>
        <p:spPr bwMode="auto">
          <a:xfrm>
            <a:off x="685801" y="1519238"/>
            <a:ext cx="10850562"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Now it’s up to us to configure the switch.</a:t>
            </a:r>
          </a:p>
        </p:txBody>
      </p:sp>
      <p:sp>
        <p:nvSpPr>
          <p:cNvPr id="29705" name="TextBox 3">
            <a:extLst>
              <a:ext uri="{FF2B5EF4-FFF2-40B4-BE49-F238E27FC236}">
                <a16:creationId xmlns:a16="http://schemas.microsoft.com/office/drawing/2014/main" id="{ABB222AE-E4F7-D01F-02F0-1BC3A3A5A5D2}"/>
              </a:ext>
            </a:extLst>
          </p:cNvPr>
          <p:cNvSpPr txBox="1">
            <a:spLocks noChangeArrowheads="1"/>
          </p:cNvSpPr>
          <p:nvPr/>
        </p:nvSpPr>
        <p:spPr bwMode="auto">
          <a:xfrm>
            <a:off x="658813" y="2133600"/>
            <a:ext cx="9628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r>
              <a:rPr lang="en-US" altLang="en-US" sz="1800"/>
              <a:t>Configuration</a:t>
            </a:r>
          </a:p>
        </p:txBody>
      </p:sp>
      <p:sp>
        <p:nvSpPr>
          <p:cNvPr id="29706" name="TextBox 2">
            <a:extLst>
              <a:ext uri="{FF2B5EF4-FFF2-40B4-BE49-F238E27FC236}">
                <a16:creationId xmlns:a16="http://schemas.microsoft.com/office/drawing/2014/main" id="{7EA5756E-47D6-CDA5-DBD7-5C3B5FDE5361}"/>
              </a:ext>
            </a:extLst>
          </p:cNvPr>
          <p:cNvSpPr txBox="1">
            <a:spLocks noChangeArrowheads="1"/>
          </p:cNvSpPr>
          <p:nvPr/>
        </p:nvSpPr>
        <p:spPr bwMode="auto">
          <a:xfrm>
            <a:off x="685801" y="2743201"/>
            <a:ext cx="85344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lnSpc>
                <a:spcPct val="150000"/>
              </a:lnSpc>
              <a:spcBef>
                <a:spcPct val="0"/>
              </a:spcBef>
              <a:buFontTx/>
              <a:buNone/>
            </a:pPr>
            <a:r>
              <a:rPr lang="en-US" altLang="en-US" sz="1600"/>
              <a:t>Right now, the command line will show you this:</a:t>
            </a:r>
          </a:p>
          <a:p>
            <a:pPr eaLnBrk="1" hangingPunct="1">
              <a:lnSpc>
                <a:spcPct val="150000"/>
              </a:lnSpc>
              <a:spcBef>
                <a:spcPct val="0"/>
              </a:spcBef>
              <a:buFontTx/>
              <a:buNone/>
            </a:pPr>
            <a:endParaRPr lang="en-US" altLang="en-US" sz="1600"/>
          </a:p>
          <a:p>
            <a:pPr eaLnBrk="1" hangingPunct="1">
              <a:lnSpc>
                <a:spcPct val="150000"/>
              </a:lnSpc>
              <a:spcBef>
                <a:spcPct val="0"/>
              </a:spcBef>
              <a:buFontTx/>
              <a:buNone/>
            </a:pPr>
            <a:endParaRPr lang="en-US" altLang="en-US" sz="1600"/>
          </a:p>
          <a:p>
            <a:pPr eaLnBrk="1" hangingPunct="1">
              <a:lnSpc>
                <a:spcPct val="150000"/>
              </a:lnSpc>
              <a:spcBef>
                <a:spcPct val="0"/>
              </a:spcBef>
              <a:buFontTx/>
              <a:buNone/>
            </a:pPr>
            <a:r>
              <a:rPr lang="en-US" altLang="en-US" sz="1600"/>
              <a:t>The &gt; symbol tells us that we are currently in user mode. To get full access to the switch, we have to enter privileged mode, also called enabled mode. Here is how to do this:</a:t>
            </a:r>
          </a:p>
          <a:p>
            <a:pPr eaLnBrk="1" hangingPunct="1">
              <a:lnSpc>
                <a:spcPct val="150000"/>
              </a:lnSpc>
              <a:spcBef>
                <a:spcPct val="0"/>
              </a:spcBef>
              <a:buFontTx/>
              <a:buNone/>
            </a:pPr>
            <a:endParaRPr lang="en-US" altLang="en-US" sz="1600"/>
          </a:p>
        </p:txBody>
      </p:sp>
      <p:sp>
        <p:nvSpPr>
          <p:cNvPr id="4" name="TextBox 3">
            <a:extLst>
              <a:ext uri="{FF2B5EF4-FFF2-40B4-BE49-F238E27FC236}">
                <a16:creationId xmlns:a16="http://schemas.microsoft.com/office/drawing/2014/main" id="{9E217B7C-9D0E-8BE4-764B-9220D41CCDDF}"/>
              </a:ext>
            </a:extLst>
          </p:cNvPr>
          <p:cNvSpPr txBox="1"/>
          <p:nvPr/>
        </p:nvSpPr>
        <p:spPr>
          <a:xfrm>
            <a:off x="658813" y="3352800"/>
            <a:ext cx="9296400" cy="1892826"/>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eaLnBrk="1" hangingPunct="1">
              <a:defRPr/>
            </a:pPr>
            <a:r>
              <a:rPr lang="en-US" dirty="0"/>
              <a:t>Switch&gt;</a:t>
            </a:r>
          </a:p>
          <a:p>
            <a:pPr eaLnBrk="1" hangingPunct="1">
              <a:lnSpc>
                <a:spcPct val="150000"/>
              </a:lnSpc>
              <a:defRPr/>
            </a:pPr>
            <a:r>
              <a:rPr lang="en-US" dirty="0"/>
              <a:t>Switch&gt;</a:t>
            </a:r>
            <a:r>
              <a:rPr lang="en-US" b="1" dirty="0"/>
              <a:t>enable</a:t>
            </a:r>
            <a:r>
              <a:rPr lang="en-US" dirty="0"/>
              <a:t> </a:t>
            </a:r>
          </a:p>
          <a:p>
            <a:pPr eaLnBrk="1" hangingPunct="1">
              <a:lnSpc>
                <a:spcPct val="150000"/>
              </a:lnSpc>
              <a:defRPr/>
            </a:pPr>
            <a:r>
              <a:rPr lang="en-US" dirty="0" err="1"/>
              <a:t>Switch#</a:t>
            </a:r>
            <a:r>
              <a:rPr lang="en-US" b="1" dirty="0" err="1"/>
              <a:t>configure</a:t>
            </a:r>
            <a:r>
              <a:rPr lang="en-US" b="1" dirty="0"/>
              <a:t> terminal</a:t>
            </a:r>
          </a:p>
          <a:p>
            <a:pPr eaLnBrk="1" hangingPunct="1">
              <a:lnSpc>
                <a:spcPct val="150000"/>
              </a:lnSpc>
              <a:defRPr/>
            </a:pPr>
            <a:r>
              <a:rPr lang="en-US" dirty="0"/>
              <a:t>Switch(</a:t>
            </a:r>
            <a:r>
              <a:rPr lang="en-US" dirty="0" err="1"/>
              <a:t>config</a:t>
            </a:r>
            <a:r>
              <a:rPr lang="en-US" dirty="0"/>
              <a:t>)#</a:t>
            </a:r>
          </a:p>
          <a:p>
            <a:pPr eaLnBrk="1" hangingPunct="1">
              <a:defRPr/>
            </a:pPr>
            <a:endParaRPr lang="en-US" dirty="0"/>
          </a:p>
        </p:txBody>
      </p:sp>
      <p:sp>
        <p:nvSpPr>
          <p:cNvPr id="5" name="TextBox 4">
            <a:extLst>
              <a:ext uri="{FF2B5EF4-FFF2-40B4-BE49-F238E27FC236}">
                <a16:creationId xmlns:a16="http://schemas.microsoft.com/office/drawing/2014/main" id="{CE93CA07-093C-4BCD-6565-261744807818}"/>
              </a:ext>
            </a:extLst>
          </p:cNvPr>
          <p:cNvSpPr txBox="1"/>
          <p:nvPr/>
        </p:nvSpPr>
        <p:spPr>
          <a:xfrm>
            <a:off x="685801" y="5203826"/>
            <a:ext cx="9269412" cy="883383"/>
          </a:xfrm>
          <a:prstGeom prst="rect">
            <a:avLst/>
          </a:prstGeom>
          <a:noFill/>
          <a:ln>
            <a:noFill/>
          </a:ln>
        </p:spPr>
        <p:style>
          <a:lnRef idx="2">
            <a:schemeClr val="accent3"/>
          </a:lnRef>
          <a:fillRef idx="1">
            <a:schemeClr val="lt1"/>
          </a:fillRef>
          <a:effectRef idx="0">
            <a:schemeClr val="accent3"/>
          </a:effectRef>
          <a:fontRef idx="minor">
            <a:schemeClr val="dk1"/>
          </a:fontRef>
        </p:style>
        <p:txBody>
          <a:bodyPr>
            <a:spAutoFit/>
          </a:bodyPr>
          <a:lstStyle/>
          <a:p>
            <a:pPr eaLnBrk="1" hangingPunct="1">
              <a:lnSpc>
                <a:spcPct val="150000"/>
              </a:lnSpc>
              <a:defRPr/>
            </a:pPr>
            <a:r>
              <a:rPr lang="en-US" dirty="0"/>
              <a:t>With the </a:t>
            </a:r>
            <a:r>
              <a:rPr lang="en-US" b="1" dirty="0"/>
              <a:t>configure terminal</a:t>
            </a:r>
            <a:r>
              <a:rPr lang="en-US" dirty="0"/>
              <a:t> command, we enter configuration mode. Now we can make changes to the switch.</a:t>
            </a:r>
          </a:p>
        </p:txBody>
      </p:sp>
      <p:sp>
        <p:nvSpPr>
          <p:cNvPr id="2" name="Title 1">
            <a:extLst>
              <a:ext uri="{FF2B5EF4-FFF2-40B4-BE49-F238E27FC236}">
                <a16:creationId xmlns:a16="http://schemas.microsoft.com/office/drawing/2014/main" id="{A2DCBBEA-B9A1-00CC-F0A4-2B4874E4356F}"/>
              </a:ext>
            </a:extLst>
          </p:cNvPr>
          <p:cNvSpPr>
            <a:spLocks noGrp="1"/>
          </p:cNvSpPr>
          <p:nvPr>
            <p:ph type="title"/>
          </p:nvPr>
        </p:nvSpPr>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23FAC054-00DF-783C-409C-74D7E638B628}"/>
              </a:ext>
            </a:extLst>
          </p:cNvPr>
          <p:cNvSpPr txBox="1">
            <a:spLocks noChangeArrowheads="1"/>
          </p:cNvSpPr>
          <p:nvPr/>
        </p:nvSpPr>
        <p:spPr bwMode="auto">
          <a:xfrm>
            <a:off x="685801" y="1519238"/>
            <a:ext cx="10850562"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Now it’s up to us to configure the switch.</a:t>
            </a:r>
          </a:p>
        </p:txBody>
      </p:sp>
      <p:sp>
        <p:nvSpPr>
          <p:cNvPr id="31753" name="TextBox 3">
            <a:extLst>
              <a:ext uri="{FF2B5EF4-FFF2-40B4-BE49-F238E27FC236}">
                <a16:creationId xmlns:a16="http://schemas.microsoft.com/office/drawing/2014/main" id="{09D240E8-D298-5C23-E8F8-EFAF11EFB1B9}"/>
              </a:ext>
            </a:extLst>
          </p:cNvPr>
          <p:cNvSpPr txBox="1">
            <a:spLocks noChangeArrowheads="1"/>
          </p:cNvSpPr>
          <p:nvPr/>
        </p:nvSpPr>
        <p:spPr bwMode="auto">
          <a:xfrm>
            <a:off x="658813" y="2133600"/>
            <a:ext cx="9628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r>
              <a:rPr lang="en-US" altLang="en-US" sz="1800"/>
              <a:t>Configuration</a:t>
            </a:r>
          </a:p>
        </p:txBody>
      </p:sp>
      <p:sp>
        <p:nvSpPr>
          <p:cNvPr id="31754" name="TextBox 2">
            <a:extLst>
              <a:ext uri="{FF2B5EF4-FFF2-40B4-BE49-F238E27FC236}">
                <a16:creationId xmlns:a16="http://schemas.microsoft.com/office/drawing/2014/main" id="{1E2B3A29-DFD3-0CBD-C001-542DFB84C998}"/>
              </a:ext>
            </a:extLst>
          </p:cNvPr>
          <p:cNvSpPr txBox="1">
            <a:spLocks noChangeArrowheads="1"/>
          </p:cNvSpPr>
          <p:nvPr/>
        </p:nvSpPr>
        <p:spPr bwMode="auto">
          <a:xfrm>
            <a:off x="685801" y="2743201"/>
            <a:ext cx="10363200" cy="411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lnSpc>
                <a:spcPct val="150000"/>
              </a:lnSpc>
              <a:spcBef>
                <a:spcPct val="0"/>
              </a:spcBef>
              <a:buFontTx/>
              <a:buNone/>
            </a:pPr>
            <a:r>
              <a:rPr lang="en-US" altLang="en-US" sz="1600"/>
              <a:t>Let’s start with something simple, let’s change the name of our switch with the </a:t>
            </a:r>
            <a:r>
              <a:rPr lang="en-US" altLang="en-US" sz="1600" b="1"/>
              <a:t>hostname </a:t>
            </a:r>
            <a:r>
              <a:rPr lang="en-US" altLang="en-US" sz="1600"/>
              <a:t>command:</a:t>
            </a:r>
          </a:p>
        </p:txBody>
      </p:sp>
      <p:sp>
        <p:nvSpPr>
          <p:cNvPr id="4" name="TextBox 3">
            <a:extLst>
              <a:ext uri="{FF2B5EF4-FFF2-40B4-BE49-F238E27FC236}">
                <a16:creationId xmlns:a16="http://schemas.microsoft.com/office/drawing/2014/main" id="{C1FADF7C-DBAE-5C21-6C35-5F3FE40C316C}"/>
              </a:ext>
            </a:extLst>
          </p:cNvPr>
          <p:cNvSpPr txBox="1"/>
          <p:nvPr/>
        </p:nvSpPr>
        <p:spPr>
          <a:xfrm>
            <a:off x="658813" y="3352801"/>
            <a:ext cx="9296400" cy="1575175"/>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eaLnBrk="1" hangingPunct="1">
              <a:defRPr/>
            </a:pPr>
            <a:r>
              <a:rPr lang="en-US" dirty="0"/>
              <a:t>Switch&gt;</a:t>
            </a:r>
          </a:p>
          <a:p>
            <a:pPr eaLnBrk="1" hangingPunct="1">
              <a:lnSpc>
                <a:spcPct val="150000"/>
              </a:lnSpc>
              <a:defRPr/>
            </a:pPr>
            <a:r>
              <a:rPr lang="en-US" dirty="0"/>
              <a:t>Switch&gt;</a:t>
            </a:r>
            <a:r>
              <a:rPr lang="en-US" b="1" dirty="0"/>
              <a:t>enable</a:t>
            </a:r>
            <a:r>
              <a:rPr lang="en-US" dirty="0"/>
              <a:t> </a:t>
            </a:r>
          </a:p>
          <a:p>
            <a:pPr eaLnBrk="1" hangingPunct="1">
              <a:lnSpc>
                <a:spcPct val="150000"/>
              </a:lnSpc>
              <a:defRPr/>
            </a:pPr>
            <a:r>
              <a:rPr lang="en-US" dirty="0" err="1"/>
              <a:t>Switch#</a:t>
            </a:r>
            <a:r>
              <a:rPr lang="en-US" b="1" dirty="0" err="1"/>
              <a:t>configure</a:t>
            </a:r>
            <a:r>
              <a:rPr lang="en-US" b="1" dirty="0"/>
              <a:t> terminal</a:t>
            </a:r>
          </a:p>
          <a:p>
            <a:pPr eaLnBrk="1" hangingPunct="1">
              <a:lnSpc>
                <a:spcPct val="150000"/>
              </a:lnSpc>
              <a:defRPr/>
            </a:pPr>
            <a:r>
              <a:rPr lang="en-US" dirty="0"/>
              <a:t>Switch(</a:t>
            </a:r>
            <a:r>
              <a:rPr lang="en-US" dirty="0" err="1"/>
              <a:t>config</a:t>
            </a:r>
            <a:r>
              <a:rPr lang="en-US" dirty="0"/>
              <a:t>)#</a:t>
            </a:r>
            <a:r>
              <a:rPr lang="en-US" b="1" dirty="0"/>
              <a:t>hostname SW1</a:t>
            </a:r>
            <a:endParaRPr lang="en-US" dirty="0"/>
          </a:p>
        </p:txBody>
      </p:sp>
      <p:sp>
        <p:nvSpPr>
          <p:cNvPr id="5" name="TextBox 4">
            <a:extLst>
              <a:ext uri="{FF2B5EF4-FFF2-40B4-BE49-F238E27FC236}">
                <a16:creationId xmlns:a16="http://schemas.microsoft.com/office/drawing/2014/main" id="{F016D820-B418-7B1D-F3A4-3CBB414049C1}"/>
              </a:ext>
            </a:extLst>
          </p:cNvPr>
          <p:cNvSpPr txBox="1"/>
          <p:nvPr/>
        </p:nvSpPr>
        <p:spPr>
          <a:xfrm>
            <a:off x="685801" y="5203826"/>
            <a:ext cx="9269412" cy="467885"/>
          </a:xfrm>
          <a:prstGeom prst="rect">
            <a:avLst/>
          </a:prstGeom>
          <a:noFill/>
          <a:ln>
            <a:noFill/>
          </a:ln>
        </p:spPr>
        <p:style>
          <a:lnRef idx="2">
            <a:schemeClr val="accent3"/>
          </a:lnRef>
          <a:fillRef idx="1">
            <a:schemeClr val="lt1"/>
          </a:fillRef>
          <a:effectRef idx="0">
            <a:schemeClr val="accent3"/>
          </a:effectRef>
          <a:fontRef idx="minor">
            <a:schemeClr val="dk1"/>
          </a:fontRef>
        </p:style>
        <p:txBody>
          <a:bodyPr>
            <a:spAutoFit/>
          </a:bodyPr>
          <a:lstStyle/>
          <a:p>
            <a:pPr eaLnBrk="1" hangingPunct="1">
              <a:lnSpc>
                <a:spcPct val="150000"/>
              </a:lnSpc>
              <a:defRPr/>
            </a:pPr>
            <a:r>
              <a:rPr lang="en-US" dirty="0"/>
              <a:t>You can see this is applied immediately. Our switch is now called SW1.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Slide Number Placeholder 4">
            <a:extLst>
              <a:ext uri="{FF2B5EF4-FFF2-40B4-BE49-F238E27FC236}">
                <a16:creationId xmlns:a16="http://schemas.microsoft.com/office/drawing/2014/main" id="{DFD9DE21-6673-673D-C2D9-3BCC3C7D1D1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E0FBCB6B-5F1B-4F46-9D15-904F20BA0137}" type="slidenum">
              <a:rPr lang="en-US" altLang="en-US" sz="1400">
                <a:latin typeface="Times New Roman" panose="02020603050405020304" pitchFamily="18" charset="0"/>
              </a:rPr>
              <a:pPr>
                <a:spcBef>
                  <a:spcPct val="0"/>
                </a:spcBef>
                <a:buFontTx/>
                <a:buNone/>
              </a:pPr>
              <a:t>29</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A068CA68-160A-8E88-6128-11D8D7DCFE27}"/>
              </a:ext>
            </a:extLst>
          </p:cNvPr>
          <p:cNvSpPr txBox="1">
            <a:spLocks noChangeArrowheads="1"/>
          </p:cNvSpPr>
          <p:nvPr/>
        </p:nvSpPr>
        <p:spPr bwMode="auto">
          <a:xfrm>
            <a:off x="685801" y="1519238"/>
            <a:ext cx="10850562"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Now it’s up to us to configure the switch.</a:t>
            </a:r>
          </a:p>
        </p:txBody>
      </p:sp>
      <p:sp>
        <p:nvSpPr>
          <p:cNvPr id="33801" name="TextBox 3">
            <a:extLst>
              <a:ext uri="{FF2B5EF4-FFF2-40B4-BE49-F238E27FC236}">
                <a16:creationId xmlns:a16="http://schemas.microsoft.com/office/drawing/2014/main" id="{1E84A5D4-29A8-BFD1-70D5-10DCD4C95FBD}"/>
              </a:ext>
            </a:extLst>
          </p:cNvPr>
          <p:cNvSpPr txBox="1">
            <a:spLocks noChangeArrowheads="1"/>
          </p:cNvSpPr>
          <p:nvPr/>
        </p:nvSpPr>
        <p:spPr bwMode="auto">
          <a:xfrm>
            <a:off x="658813" y="2133600"/>
            <a:ext cx="9628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r>
              <a:rPr lang="en-US" altLang="en-US" sz="1800"/>
              <a:t>Configuration</a:t>
            </a:r>
          </a:p>
        </p:txBody>
      </p:sp>
      <p:sp>
        <p:nvSpPr>
          <p:cNvPr id="33802" name="TextBox 2">
            <a:extLst>
              <a:ext uri="{FF2B5EF4-FFF2-40B4-BE49-F238E27FC236}">
                <a16:creationId xmlns:a16="http://schemas.microsoft.com/office/drawing/2014/main" id="{C74B5259-5E2B-7F67-073F-8FF473B7B993}"/>
              </a:ext>
            </a:extLst>
          </p:cNvPr>
          <p:cNvSpPr txBox="1">
            <a:spLocks noChangeArrowheads="1"/>
          </p:cNvSpPr>
          <p:nvPr/>
        </p:nvSpPr>
        <p:spPr bwMode="auto">
          <a:xfrm>
            <a:off x="685801" y="2743201"/>
            <a:ext cx="10363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spcBef>
                <a:spcPct val="0"/>
              </a:spcBef>
              <a:buFontTx/>
              <a:buNone/>
            </a:pPr>
            <a:r>
              <a:rPr lang="en-US" altLang="en-US" sz="1600">
                <a:solidFill>
                  <a:srgbClr val="000000"/>
                </a:solidFill>
              </a:rPr>
              <a:t>A message-of-the-day (MOTD) banner can be displayed on all connected terminals. </a:t>
            </a:r>
          </a:p>
          <a:p>
            <a:pPr eaLnBrk="1" hangingPunct="1">
              <a:spcBef>
                <a:spcPct val="0"/>
              </a:spcBef>
              <a:buFontTx/>
              <a:buNone/>
            </a:pPr>
            <a:endParaRPr lang="en-US" altLang="en-US" sz="1600">
              <a:solidFill>
                <a:srgbClr val="000000"/>
              </a:solidFill>
            </a:endParaRPr>
          </a:p>
          <a:p>
            <a:pPr eaLnBrk="1" hangingPunct="1">
              <a:spcBef>
                <a:spcPct val="0"/>
              </a:spcBef>
              <a:buFontTx/>
              <a:buNone/>
            </a:pPr>
            <a:r>
              <a:rPr lang="en-US" altLang="en-US" sz="1600">
                <a:solidFill>
                  <a:srgbClr val="000000"/>
                </a:solidFill>
              </a:rPr>
              <a:t>Enter global configuration mode by using the command </a:t>
            </a:r>
            <a:r>
              <a:rPr lang="en-US" altLang="en-US" sz="1600" b="1">
                <a:solidFill>
                  <a:srgbClr val="000000"/>
                </a:solidFill>
              </a:rPr>
              <a:t>config t</a:t>
            </a:r>
            <a:r>
              <a:rPr lang="en-US" altLang="en-US" sz="1600">
                <a:solidFill>
                  <a:srgbClr val="000000"/>
                </a:solidFill>
              </a:rPr>
              <a:t> </a:t>
            </a:r>
          </a:p>
        </p:txBody>
      </p:sp>
      <p:sp>
        <p:nvSpPr>
          <p:cNvPr id="4" name="TextBox 3">
            <a:extLst>
              <a:ext uri="{FF2B5EF4-FFF2-40B4-BE49-F238E27FC236}">
                <a16:creationId xmlns:a16="http://schemas.microsoft.com/office/drawing/2014/main" id="{49B20A4B-D278-7972-421B-9378574D7428}"/>
              </a:ext>
            </a:extLst>
          </p:cNvPr>
          <p:cNvSpPr txBox="1"/>
          <p:nvPr/>
        </p:nvSpPr>
        <p:spPr>
          <a:xfrm>
            <a:off x="658813" y="3811589"/>
            <a:ext cx="9296400" cy="1575175"/>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eaLnBrk="1" hangingPunct="1">
              <a:defRPr/>
            </a:pPr>
            <a:r>
              <a:rPr lang="en-US" dirty="0"/>
              <a:t>Switch&gt;</a:t>
            </a:r>
          </a:p>
          <a:p>
            <a:pPr eaLnBrk="1" hangingPunct="1">
              <a:lnSpc>
                <a:spcPct val="150000"/>
              </a:lnSpc>
              <a:defRPr/>
            </a:pPr>
            <a:r>
              <a:rPr lang="en-US" dirty="0"/>
              <a:t>Switch&gt;</a:t>
            </a:r>
            <a:r>
              <a:rPr lang="en-US" b="1" dirty="0"/>
              <a:t>enable</a:t>
            </a:r>
            <a:r>
              <a:rPr lang="en-US" dirty="0"/>
              <a:t> </a:t>
            </a:r>
          </a:p>
          <a:p>
            <a:pPr eaLnBrk="1" hangingPunct="1">
              <a:lnSpc>
                <a:spcPct val="150000"/>
              </a:lnSpc>
              <a:defRPr/>
            </a:pPr>
            <a:r>
              <a:rPr lang="en-US" dirty="0" err="1"/>
              <a:t>Switch#</a:t>
            </a:r>
            <a:r>
              <a:rPr lang="en-US" b="1" dirty="0" err="1"/>
              <a:t>configure</a:t>
            </a:r>
            <a:r>
              <a:rPr lang="en-US" b="1" dirty="0"/>
              <a:t> terminal</a:t>
            </a:r>
          </a:p>
          <a:p>
            <a:pPr eaLnBrk="1" hangingPunct="1">
              <a:lnSpc>
                <a:spcPct val="150000"/>
              </a:lnSpc>
              <a:defRPr/>
            </a:pPr>
            <a:r>
              <a:rPr lang="en-US" dirty="0"/>
              <a:t>Switch(</a:t>
            </a:r>
            <a:r>
              <a:rPr lang="en-US" dirty="0" err="1"/>
              <a:t>config</a:t>
            </a:r>
            <a:r>
              <a:rPr lang="en-US" dirty="0"/>
              <a:t>)#</a:t>
            </a:r>
            <a:r>
              <a:rPr lang="en-US" b="1" dirty="0"/>
              <a:t>banner </a:t>
            </a:r>
            <a:r>
              <a:rPr lang="en-US" b="1" dirty="0" err="1"/>
              <a:t>motd</a:t>
            </a:r>
            <a:r>
              <a:rPr lang="en-US" b="1" dirty="0"/>
              <a:t> </a:t>
            </a:r>
            <a:r>
              <a:rPr lang="en-US" dirty="0"/>
              <a:t># Welcome to a2z Initiative #</a:t>
            </a:r>
          </a:p>
        </p:txBody>
      </p:sp>
      <p:sp>
        <p:nvSpPr>
          <p:cNvPr id="2" name="Title 1">
            <a:extLst>
              <a:ext uri="{FF2B5EF4-FFF2-40B4-BE49-F238E27FC236}">
                <a16:creationId xmlns:a16="http://schemas.microsoft.com/office/drawing/2014/main" id="{194F3A02-E690-9B89-E84D-F73F79A4A41A}"/>
              </a:ext>
            </a:extLst>
          </p:cNvPr>
          <p:cNvSpPr>
            <a:spLocks noGrp="1"/>
          </p:cNvSpPr>
          <p:nvPr>
            <p:ph type="title"/>
          </p:nvPr>
        </p:nvSpPr>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4">
            <a:extLst>
              <a:ext uri="{FF2B5EF4-FFF2-40B4-BE49-F238E27FC236}">
                <a16:creationId xmlns:a16="http://schemas.microsoft.com/office/drawing/2014/main" id="{E53E8DDB-F813-3848-9B1E-7536B7BD2B1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fld id="{20613247-EC73-44ED-8B4A-F05FC4C1FCDF}" type="slidenum">
              <a:rPr lang="en-US" altLang="en-US" sz="1400">
                <a:latin typeface="Times New Roman" panose="02020603050405020304" pitchFamily="18" charset="0"/>
              </a:rPr>
              <a:pPr>
                <a:spcBef>
                  <a:spcPct val="0"/>
                </a:spcBef>
                <a:buFontTx/>
                <a:buNone/>
              </a:pPr>
              <a:t>30</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ED390C16-1C3E-B15D-0AB3-F22EC579D68F}"/>
              </a:ext>
            </a:extLst>
          </p:cNvPr>
          <p:cNvSpPr txBox="1">
            <a:spLocks noChangeArrowheads="1"/>
          </p:cNvSpPr>
          <p:nvPr/>
        </p:nvSpPr>
        <p:spPr bwMode="auto">
          <a:xfrm>
            <a:off x="685801" y="1519238"/>
            <a:ext cx="10850562"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Now it’s up to us to configure the switch.</a:t>
            </a:r>
          </a:p>
        </p:txBody>
      </p:sp>
      <p:sp>
        <p:nvSpPr>
          <p:cNvPr id="35849" name="TextBox 3">
            <a:extLst>
              <a:ext uri="{FF2B5EF4-FFF2-40B4-BE49-F238E27FC236}">
                <a16:creationId xmlns:a16="http://schemas.microsoft.com/office/drawing/2014/main" id="{BB1B6791-8449-F871-8450-97107965F6F6}"/>
              </a:ext>
            </a:extLst>
          </p:cNvPr>
          <p:cNvSpPr txBox="1">
            <a:spLocks noChangeArrowheads="1"/>
          </p:cNvSpPr>
          <p:nvPr/>
        </p:nvSpPr>
        <p:spPr bwMode="auto">
          <a:xfrm>
            <a:off x="658813" y="2133600"/>
            <a:ext cx="9628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r>
              <a:rPr lang="en-US" altLang="en-US" sz="1800"/>
              <a:t>Configuration</a:t>
            </a:r>
          </a:p>
        </p:txBody>
      </p:sp>
      <p:sp>
        <p:nvSpPr>
          <p:cNvPr id="35850" name="TextBox 2">
            <a:extLst>
              <a:ext uri="{FF2B5EF4-FFF2-40B4-BE49-F238E27FC236}">
                <a16:creationId xmlns:a16="http://schemas.microsoft.com/office/drawing/2014/main" id="{2DFE610D-C8C5-67E5-4D4B-0DE85BDC9224}"/>
              </a:ext>
            </a:extLst>
          </p:cNvPr>
          <p:cNvSpPr txBox="1">
            <a:spLocks noChangeArrowheads="1"/>
          </p:cNvSpPr>
          <p:nvPr/>
        </p:nvSpPr>
        <p:spPr bwMode="auto">
          <a:xfrm>
            <a:off x="685801" y="2743200"/>
            <a:ext cx="103632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eaLnBrk="1" hangingPunct="1">
              <a:lnSpc>
                <a:spcPct val="150000"/>
              </a:lnSpc>
              <a:spcBef>
                <a:spcPct val="0"/>
              </a:spcBef>
              <a:buFontTx/>
              <a:buNone/>
            </a:pPr>
            <a:r>
              <a:rPr lang="en-US" altLang="en-US" sz="1600"/>
              <a:t>Let’s start with soTyping </a:t>
            </a:r>
            <a:r>
              <a:rPr lang="en-US" altLang="en-US" sz="1600" b="1"/>
              <a:t>exit</a:t>
            </a:r>
            <a:r>
              <a:rPr lang="en-US" altLang="en-US" sz="1600"/>
              <a:t> from one of these specific configuration modes will return the router to global configuration mode. Pressing </a:t>
            </a:r>
            <a:r>
              <a:rPr lang="en-US" altLang="en-US" sz="1600" b="1"/>
              <a:t>Ctrl-Z </a:t>
            </a:r>
            <a:r>
              <a:rPr lang="en-US" altLang="en-US" sz="1600"/>
              <a:t>returns the router to all the way back privileged EXEC mode.</a:t>
            </a:r>
          </a:p>
        </p:txBody>
      </p:sp>
      <p:sp>
        <p:nvSpPr>
          <p:cNvPr id="13" name="TextBox 12">
            <a:extLst>
              <a:ext uri="{FF2B5EF4-FFF2-40B4-BE49-F238E27FC236}">
                <a16:creationId xmlns:a16="http://schemas.microsoft.com/office/drawing/2014/main" id="{25D162B4-C1CB-8E4F-CF04-2789B05F8B18}"/>
              </a:ext>
            </a:extLst>
          </p:cNvPr>
          <p:cNvSpPr txBox="1"/>
          <p:nvPr/>
        </p:nvSpPr>
        <p:spPr>
          <a:xfrm>
            <a:off x="730251" y="3962401"/>
            <a:ext cx="9296400" cy="2406877"/>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eaLnBrk="1" hangingPunct="1">
              <a:defRPr/>
            </a:pPr>
            <a:r>
              <a:rPr lang="en-US" dirty="0"/>
              <a:t>Switch&gt;</a:t>
            </a:r>
          </a:p>
          <a:p>
            <a:pPr eaLnBrk="1" hangingPunct="1">
              <a:lnSpc>
                <a:spcPct val="150000"/>
              </a:lnSpc>
              <a:defRPr/>
            </a:pPr>
            <a:r>
              <a:rPr lang="en-US" dirty="0"/>
              <a:t>Switch&gt;</a:t>
            </a:r>
            <a:r>
              <a:rPr lang="en-US" b="1" dirty="0"/>
              <a:t>enable</a:t>
            </a:r>
            <a:r>
              <a:rPr lang="en-US" dirty="0"/>
              <a:t> </a:t>
            </a:r>
          </a:p>
          <a:p>
            <a:pPr eaLnBrk="1" hangingPunct="1">
              <a:lnSpc>
                <a:spcPct val="150000"/>
              </a:lnSpc>
              <a:defRPr/>
            </a:pPr>
            <a:r>
              <a:rPr lang="en-US" dirty="0" err="1"/>
              <a:t>Switch#</a:t>
            </a:r>
            <a:r>
              <a:rPr lang="en-US" b="1" dirty="0" err="1"/>
              <a:t>configure</a:t>
            </a:r>
            <a:r>
              <a:rPr lang="en-US" b="1" dirty="0"/>
              <a:t> terminal</a:t>
            </a:r>
          </a:p>
          <a:p>
            <a:pPr eaLnBrk="1" hangingPunct="1">
              <a:lnSpc>
                <a:spcPct val="150000"/>
              </a:lnSpc>
              <a:defRPr/>
            </a:pPr>
            <a:r>
              <a:rPr lang="en-US" dirty="0"/>
              <a:t>Switch(</a:t>
            </a:r>
            <a:r>
              <a:rPr lang="en-US" dirty="0" err="1"/>
              <a:t>config</a:t>
            </a:r>
            <a:r>
              <a:rPr lang="en-US" dirty="0"/>
              <a:t>)#</a:t>
            </a:r>
            <a:r>
              <a:rPr lang="en-US" b="1" dirty="0"/>
              <a:t>exit</a:t>
            </a:r>
          </a:p>
          <a:p>
            <a:pPr eaLnBrk="1" hangingPunct="1">
              <a:lnSpc>
                <a:spcPct val="150000"/>
              </a:lnSpc>
              <a:defRPr/>
            </a:pPr>
            <a:r>
              <a:rPr lang="en-US" dirty="0" err="1"/>
              <a:t>Switch#</a:t>
            </a:r>
            <a:r>
              <a:rPr lang="en-US" b="1" dirty="0" err="1"/>
              <a:t>exit</a:t>
            </a:r>
            <a:endParaRPr lang="en-US" b="1" dirty="0"/>
          </a:p>
          <a:p>
            <a:pPr eaLnBrk="1" hangingPunct="1">
              <a:lnSpc>
                <a:spcPct val="150000"/>
              </a:lnSpc>
              <a:defRPr/>
            </a:pPr>
            <a:r>
              <a:rPr lang="en-US" dirty="0"/>
              <a:t>Switch&gt;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1EEBC80D-A2AD-239B-2E04-E71DA0F47D33}"/>
              </a:ext>
            </a:extLst>
          </p:cNvPr>
          <p:cNvSpPr txBox="1">
            <a:spLocks noChangeArrowheads="1"/>
          </p:cNvSpPr>
          <p:nvPr/>
        </p:nvSpPr>
        <p:spPr bwMode="auto">
          <a:xfrm>
            <a:off x="685801" y="1519238"/>
            <a:ext cx="10850562"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Now it’s up to us to configure the switch.</a:t>
            </a:r>
          </a:p>
        </p:txBody>
      </p:sp>
      <p:sp>
        <p:nvSpPr>
          <p:cNvPr id="37897" name="TextBox 3">
            <a:extLst>
              <a:ext uri="{FF2B5EF4-FFF2-40B4-BE49-F238E27FC236}">
                <a16:creationId xmlns:a16="http://schemas.microsoft.com/office/drawing/2014/main" id="{D63455F0-2AE3-DA24-0C5B-16EE02C4AC5F}"/>
              </a:ext>
            </a:extLst>
          </p:cNvPr>
          <p:cNvSpPr txBox="1">
            <a:spLocks noChangeArrowheads="1"/>
          </p:cNvSpPr>
          <p:nvPr/>
        </p:nvSpPr>
        <p:spPr bwMode="auto">
          <a:xfrm>
            <a:off x="658813" y="2133600"/>
            <a:ext cx="9628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spcBef>
                <a:spcPct val="0"/>
              </a:spcBef>
              <a:buFontTx/>
              <a:buNone/>
            </a:pPr>
            <a:r>
              <a:rPr lang="en-US" altLang="en-US" sz="1800" b="1">
                <a:solidFill>
                  <a:schemeClr val="tx2"/>
                </a:solidFill>
              </a:rPr>
              <a:t>Saving Configurations</a:t>
            </a:r>
            <a:endParaRPr lang="en-US" altLang="en-US" sz="1800"/>
          </a:p>
        </p:txBody>
      </p:sp>
      <p:sp>
        <p:nvSpPr>
          <p:cNvPr id="37898" name="TextBox 2">
            <a:extLst>
              <a:ext uri="{FF2B5EF4-FFF2-40B4-BE49-F238E27FC236}">
                <a16:creationId xmlns:a16="http://schemas.microsoft.com/office/drawing/2014/main" id="{2D4E9B08-9D24-79C7-7B38-66865253E324}"/>
              </a:ext>
            </a:extLst>
          </p:cNvPr>
          <p:cNvSpPr txBox="1">
            <a:spLocks noChangeArrowheads="1"/>
          </p:cNvSpPr>
          <p:nvPr/>
        </p:nvSpPr>
        <p:spPr bwMode="auto">
          <a:xfrm>
            <a:off x="685801" y="2743200"/>
            <a:ext cx="103632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ahoma" panose="020B0604030504040204" pitchFamily="34" charset="0"/>
              </a:defRPr>
            </a:lvl1pPr>
            <a:lvl2pPr marL="742950" indent="-285750">
              <a:spcBef>
                <a:spcPct val="20000"/>
              </a:spcBef>
              <a:buChar char="–"/>
              <a:defRPr sz="2800">
                <a:solidFill>
                  <a:schemeClr val="tx1"/>
                </a:solidFill>
                <a:latin typeface="Tahoma" panose="020B0604030504040204" pitchFamily="34" charset="0"/>
              </a:defRPr>
            </a:lvl2pPr>
            <a:lvl3pPr marL="1143000" indent="-228600">
              <a:spcBef>
                <a:spcPct val="20000"/>
              </a:spcBef>
              <a:buChar char="•"/>
              <a:defRPr sz="2400">
                <a:solidFill>
                  <a:schemeClr val="tx1"/>
                </a:solidFill>
                <a:latin typeface="Tahoma" panose="020B0604030504040204" pitchFamily="34" charset="0"/>
              </a:defRPr>
            </a:lvl3pPr>
            <a:lvl4pPr marL="1600200" indent="-228600">
              <a:spcBef>
                <a:spcPct val="20000"/>
              </a:spcBef>
              <a:buChar char="–"/>
              <a:defRPr sz="2000">
                <a:solidFill>
                  <a:schemeClr val="tx1"/>
                </a:solidFill>
                <a:latin typeface="Tahoma" panose="020B0604030504040204" pitchFamily="34" charset="0"/>
              </a:defRPr>
            </a:lvl4pPr>
            <a:lvl5pPr marL="2057400" indent="-228600">
              <a:spcBef>
                <a:spcPct val="20000"/>
              </a:spcBef>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har char="»"/>
              <a:defRPr sz="2000">
                <a:solidFill>
                  <a:schemeClr val="tx1"/>
                </a:solidFill>
                <a:latin typeface="Tahoma" panose="020B0604030504040204" pitchFamily="34" charset="0"/>
              </a:defRPr>
            </a:lvl9pPr>
          </a:lstStyle>
          <a:p>
            <a:pPr algn="just" eaLnBrk="1" hangingPunct="1">
              <a:spcBef>
                <a:spcPct val="0"/>
              </a:spcBef>
              <a:buFontTx/>
              <a:buNone/>
            </a:pPr>
            <a:r>
              <a:rPr lang="en-US" altLang="en-US" sz="2000">
                <a:cs typeface="Times New Roman" panose="02020603050405020304" pitchFamily="18" charset="0"/>
              </a:rPr>
              <a:t>Configurations in two locations - </a:t>
            </a:r>
            <a:r>
              <a:rPr lang="en-US" altLang="en-US" sz="2000" b="1">
                <a:cs typeface="Times New Roman" panose="02020603050405020304" pitchFamily="18" charset="0"/>
              </a:rPr>
              <a:t>RAM</a:t>
            </a:r>
            <a:r>
              <a:rPr lang="en-US" altLang="en-US" sz="2000">
                <a:cs typeface="Times New Roman" panose="02020603050405020304" pitchFamily="18" charset="0"/>
              </a:rPr>
              <a:t> and </a:t>
            </a:r>
            <a:r>
              <a:rPr lang="en-US" altLang="en-US" sz="2000" b="1">
                <a:cs typeface="Times New Roman" panose="02020603050405020304" pitchFamily="18" charset="0"/>
              </a:rPr>
              <a:t>NVRAM</a:t>
            </a:r>
            <a:r>
              <a:rPr lang="en-US" altLang="en-US" sz="2000">
                <a:cs typeface="Times New Roman" panose="02020603050405020304" pitchFamily="18" charset="0"/>
              </a:rPr>
              <a:t>. </a:t>
            </a:r>
          </a:p>
          <a:p>
            <a:pPr algn="just" eaLnBrk="1" hangingPunct="1">
              <a:spcBef>
                <a:spcPct val="0"/>
              </a:spcBef>
              <a:buFontTx/>
              <a:buNone/>
            </a:pPr>
            <a:endParaRPr lang="en-US" altLang="en-US" sz="2000">
              <a:cs typeface="Times New Roman" panose="02020603050405020304" pitchFamily="18" charset="0"/>
            </a:endParaRPr>
          </a:p>
          <a:p>
            <a:pPr algn="just">
              <a:spcBef>
                <a:spcPct val="0"/>
              </a:spcBef>
            </a:pPr>
            <a:r>
              <a:rPr lang="en-US" altLang="en-US" sz="2000">
                <a:cs typeface="Times New Roman" panose="02020603050405020304" pitchFamily="18" charset="0"/>
              </a:rPr>
              <a:t>The running configuration is stored in RAM. </a:t>
            </a:r>
          </a:p>
          <a:p>
            <a:pPr algn="just">
              <a:spcBef>
                <a:spcPct val="0"/>
              </a:spcBef>
            </a:pPr>
            <a:r>
              <a:rPr lang="en-US" altLang="en-US" sz="2000">
                <a:cs typeface="Times New Roman" panose="02020603050405020304" pitchFamily="18" charset="0"/>
              </a:rPr>
              <a:t>Any configuration changes to the router are made to the running-configuration and take effect immediately after the command is entered. </a:t>
            </a:r>
          </a:p>
          <a:p>
            <a:pPr algn="just">
              <a:spcBef>
                <a:spcPct val="0"/>
              </a:spcBef>
            </a:pPr>
            <a:r>
              <a:rPr lang="en-US" altLang="en-US" sz="2000">
                <a:cs typeface="Times New Roman" panose="02020603050405020304" pitchFamily="18" charset="0"/>
              </a:rPr>
              <a:t>The startup-configuration is saved in NVRAM and is loaded into the router's running-configuration when the router boots up. </a:t>
            </a:r>
          </a:p>
          <a:p>
            <a:pPr algn="just">
              <a:spcBef>
                <a:spcPct val="0"/>
              </a:spcBef>
            </a:pPr>
            <a:r>
              <a:rPr lang="en-US" altLang="en-US" sz="2000">
                <a:cs typeface="Times New Roman" panose="02020603050405020304" pitchFamily="18" charset="0"/>
              </a:rPr>
              <a:t> To save the </a:t>
            </a:r>
            <a:r>
              <a:rPr lang="en-US" altLang="en-US" sz="2000" b="1">
                <a:cs typeface="Times New Roman" panose="02020603050405020304" pitchFamily="18" charset="0"/>
              </a:rPr>
              <a:t>running-configuration</a:t>
            </a:r>
            <a:r>
              <a:rPr lang="en-US" altLang="en-US" sz="2000">
                <a:cs typeface="Times New Roman" panose="02020603050405020304" pitchFamily="18" charset="0"/>
              </a:rPr>
              <a:t> to the </a:t>
            </a:r>
            <a:r>
              <a:rPr lang="en-US" altLang="en-US" sz="2000" b="1">
                <a:cs typeface="Times New Roman" panose="02020603050405020304" pitchFamily="18" charset="0"/>
              </a:rPr>
              <a:t>startup configuration</a:t>
            </a:r>
            <a:r>
              <a:rPr lang="en-US" altLang="en-US" sz="2000">
                <a:cs typeface="Times New Roman" panose="02020603050405020304" pitchFamily="18" charset="0"/>
              </a:rPr>
              <a:t>, type the following from privileged EXEC mode (i.e. at the "Router#" prompt.)</a:t>
            </a:r>
            <a:endParaRPr lang="en-US" altLang="en-US" sz="2000" b="1">
              <a:cs typeface="Courier New" panose="02070309020205020404" pitchFamily="49" charset="0"/>
            </a:endParaRPr>
          </a:p>
          <a:p>
            <a:pPr eaLnBrk="1" hangingPunct="1">
              <a:spcBef>
                <a:spcPct val="0"/>
              </a:spcBef>
              <a:buFontTx/>
              <a:buNone/>
            </a:pPr>
            <a:endParaRPr lang="en-US" altLang="en-US" sz="2000"/>
          </a:p>
        </p:txBody>
      </p:sp>
      <p:sp>
        <p:nvSpPr>
          <p:cNvPr id="13" name="TextBox 12">
            <a:extLst>
              <a:ext uri="{FF2B5EF4-FFF2-40B4-BE49-F238E27FC236}">
                <a16:creationId xmlns:a16="http://schemas.microsoft.com/office/drawing/2014/main" id="{937F360C-EDA5-05A7-1089-9217AEFA7380}"/>
              </a:ext>
            </a:extLst>
          </p:cNvPr>
          <p:cNvSpPr txBox="1"/>
          <p:nvPr/>
        </p:nvSpPr>
        <p:spPr>
          <a:xfrm>
            <a:off x="730251" y="5834063"/>
            <a:ext cx="9296400" cy="36933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eaLnBrk="1" hangingPunct="1">
              <a:defRPr/>
            </a:pPr>
            <a:r>
              <a:rPr lang="en-US" dirty="0" err="1"/>
              <a:t>Switch#copy</a:t>
            </a:r>
            <a:r>
              <a:rPr lang="en-US" dirty="0"/>
              <a:t> running-</a:t>
            </a:r>
            <a:r>
              <a:rPr lang="en-US" dirty="0" err="1"/>
              <a:t>config</a:t>
            </a:r>
            <a:r>
              <a:rPr lang="en-US" dirty="0"/>
              <a:t> startup-</a:t>
            </a:r>
            <a:r>
              <a:rPr lang="en-US" dirty="0" err="1"/>
              <a:t>config</a:t>
            </a:r>
            <a:endParaRPr lang="en-US" dirty="0"/>
          </a:p>
        </p:txBody>
      </p:sp>
      <p:sp>
        <p:nvSpPr>
          <p:cNvPr id="2" name="Title 1">
            <a:extLst>
              <a:ext uri="{FF2B5EF4-FFF2-40B4-BE49-F238E27FC236}">
                <a16:creationId xmlns:a16="http://schemas.microsoft.com/office/drawing/2014/main" id="{49662B69-F4BB-8CD3-D1CC-FE1966495876}"/>
              </a:ext>
            </a:extLst>
          </p:cNvPr>
          <p:cNvSpPr>
            <a:spLocks noGrp="1"/>
          </p:cNvSpPr>
          <p:nvPr>
            <p:ph type="title"/>
          </p:nvPr>
        </p:nvSpPr>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91B24B29-7B35-544C-574B-99CAA924E9FF}"/>
              </a:ext>
            </a:extLst>
          </p:cNvPr>
          <p:cNvSpPr>
            <a:spLocks noGrp="1"/>
          </p:cNvSpPr>
          <p:nvPr>
            <p:ph type="title"/>
          </p:nvPr>
        </p:nvSpPr>
        <p:spPr>
          <a:xfrm>
            <a:off x="1589" y="533400"/>
            <a:ext cx="12188825" cy="762000"/>
          </a:xfrm>
        </p:spPr>
        <p:txBody>
          <a:bodyPr/>
          <a:lstStyle/>
          <a:p>
            <a:pPr eaLnBrk="1" hangingPunct="1"/>
            <a:r>
              <a:rPr lang="en-US" altLang="en-US" dirty="0"/>
              <a:t> </a:t>
            </a:r>
            <a:r>
              <a:rPr lang="en-US" altLang="en-US" dirty="0">
                <a:cs typeface="Arial" panose="020B0604020202020204" pitchFamily="34" charset="0"/>
              </a:rPr>
              <a:t>Basic Switch Configuration</a:t>
            </a:r>
          </a:p>
        </p:txBody>
      </p:sp>
      <p:sp>
        <p:nvSpPr>
          <p:cNvPr id="2056" name="TextBox 3">
            <a:extLst>
              <a:ext uri="{FF2B5EF4-FFF2-40B4-BE49-F238E27FC236}">
                <a16:creationId xmlns:a16="http://schemas.microsoft.com/office/drawing/2014/main" id="{DB84DD8A-2E15-765F-3A0D-5E2FD76E5E61}"/>
              </a:ext>
            </a:extLst>
          </p:cNvPr>
          <p:cNvSpPr txBox="1">
            <a:spLocks noChangeArrowheads="1"/>
          </p:cNvSpPr>
          <p:nvPr/>
        </p:nvSpPr>
        <p:spPr bwMode="auto">
          <a:xfrm>
            <a:off x="368302" y="1447800"/>
            <a:ext cx="47196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r>
              <a:rPr lang="en-US" altLang="en-US" b="1"/>
              <a:t>User Mode and Privileged Mode Security:</a:t>
            </a:r>
          </a:p>
        </p:txBody>
      </p:sp>
      <p:sp>
        <p:nvSpPr>
          <p:cNvPr id="3" name="TextBox 2">
            <a:extLst>
              <a:ext uri="{FF2B5EF4-FFF2-40B4-BE49-F238E27FC236}">
                <a16:creationId xmlns:a16="http://schemas.microsoft.com/office/drawing/2014/main" id="{EBCEE81B-9470-C2EE-F7F1-D4E901122073}"/>
              </a:ext>
            </a:extLst>
          </p:cNvPr>
          <p:cNvSpPr txBox="1"/>
          <p:nvPr/>
        </p:nvSpPr>
        <p:spPr>
          <a:xfrm>
            <a:off x="569913" y="3395663"/>
            <a:ext cx="9031288" cy="2129878"/>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a:t>Switch con0 is now available </a:t>
            </a:r>
          </a:p>
          <a:p>
            <a:pPr>
              <a:lnSpc>
                <a:spcPct val="150000"/>
              </a:lnSpc>
              <a:defRPr/>
            </a:pPr>
            <a:r>
              <a:rPr lang="en-US" dirty="0"/>
              <a:t>Press RETURN to get started.</a:t>
            </a:r>
          </a:p>
          <a:p>
            <a:pPr>
              <a:lnSpc>
                <a:spcPct val="150000"/>
              </a:lnSpc>
              <a:defRPr/>
            </a:pPr>
            <a:r>
              <a:rPr lang="en-US" dirty="0"/>
              <a:t> Switch&gt;</a:t>
            </a:r>
          </a:p>
          <a:p>
            <a:pPr>
              <a:lnSpc>
                <a:spcPct val="150000"/>
              </a:lnSpc>
              <a:defRPr/>
            </a:pPr>
            <a:r>
              <a:rPr lang="en-US" dirty="0"/>
              <a:t>Switch&gt;</a:t>
            </a:r>
            <a:r>
              <a:rPr lang="en-US" b="1" dirty="0"/>
              <a:t>enable</a:t>
            </a:r>
            <a:r>
              <a:rPr lang="en-US" dirty="0"/>
              <a:t> </a:t>
            </a:r>
          </a:p>
          <a:p>
            <a:pPr>
              <a:lnSpc>
                <a:spcPct val="150000"/>
              </a:lnSpc>
              <a:defRPr/>
            </a:pPr>
            <a:r>
              <a:rPr lang="en-US" dirty="0"/>
              <a:t>Switch#</a:t>
            </a:r>
          </a:p>
        </p:txBody>
      </p:sp>
      <p:sp>
        <p:nvSpPr>
          <p:cNvPr id="2058" name="TextBox 3">
            <a:extLst>
              <a:ext uri="{FF2B5EF4-FFF2-40B4-BE49-F238E27FC236}">
                <a16:creationId xmlns:a16="http://schemas.microsoft.com/office/drawing/2014/main" id="{8E8A1AEC-989D-06CB-1EA9-02304E698909}"/>
              </a:ext>
            </a:extLst>
          </p:cNvPr>
          <p:cNvSpPr txBox="1">
            <a:spLocks noChangeArrowheads="1"/>
          </p:cNvSpPr>
          <p:nvPr/>
        </p:nvSpPr>
        <p:spPr bwMode="auto">
          <a:xfrm>
            <a:off x="615951" y="2005014"/>
            <a:ext cx="9525000" cy="1150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In this lesson, we’ll take a look at how you can secure user mode and privileged (enable) mode. By default, there is no authentication required. If you connect a Cisco console cable to your switch or router, here’s what happens:</a:t>
            </a:r>
          </a:p>
        </p:txBody>
      </p:sp>
      <p:sp>
        <p:nvSpPr>
          <p:cNvPr id="2059" name="TextBox 4">
            <a:extLst>
              <a:ext uri="{FF2B5EF4-FFF2-40B4-BE49-F238E27FC236}">
                <a16:creationId xmlns:a16="http://schemas.microsoft.com/office/drawing/2014/main" id="{6D7B5C62-1E9B-4492-C32A-123CAE45D493}"/>
              </a:ext>
            </a:extLst>
          </p:cNvPr>
          <p:cNvSpPr txBox="1">
            <a:spLocks noChangeArrowheads="1"/>
          </p:cNvSpPr>
          <p:nvPr/>
        </p:nvSpPr>
        <p:spPr bwMode="auto">
          <a:xfrm>
            <a:off x="615951" y="5715000"/>
            <a:ext cx="10674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We have full access right away. This is something you might want to change, which is what I’ll explain in this lesson.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A82292A4-93DB-F0CA-6454-1DE78F74A196}"/>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endParaRPr lang="en-US" altLang="en-US" sz="1400" dirty="0">
              <a:latin typeface="Times New Roman" panose="02020603050405020304" pitchFamily="18" charset="0"/>
            </a:endParaRPr>
          </a:p>
        </p:txBody>
      </p:sp>
      <p:sp>
        <p:nvSpPr>
          <p:cNvPr id="3" name="TextBox 2">
            <a:extLst>
              <a:ext uri="{FF2B5EF4-FFF2-40B4-BE49-F238E27FC236}">
                <a16:creationId xmlns:a16="http://schemas.microsoft.com/office/drawing/2014/main" id="{3D831F6C-B10C-580F-70B5-8C3D31C3AFA3}"/>
              </a:ext>
            </a:extLst>
          </p:cNvPr>
          <p:cNvSpPr txBox="1"/>
          <p:nvPr/>
        </p:nvSpPr>
        <p:spPr>
          <a:xfrm>
            <a:off x="584202" y="1549400"/>
            <a:ext cx="8953861" cy="1714380"/>
          </a:xfrm>
          <a:prstGeom prst="rect">
            <a:avLst/>
          </a:prstGeom>
          <a:noFill/>
        </p:spPr>
        <p:txBody>
          <a:bodyPr wrap="none">
            <a:spAutoFit/>
          </a:bodyPr>
          <a:lstStyle/>
          <a:p>
            <a:pPr>
              <a:lnSpc>
                <a:spcPct val="150000"/>
              </a:lnSpc>
              <a:defRPr/>
            </a:pPr>
            <a:r>
              <a:rPr lang="en-US" b="1" dirty="0">
                <a:cs typeface="Arial" charset="0"/>
              </a:rPr>
              <a:t>User Mode Security:</a:t>
            </a:r>
          </a:p>
          <a:p>
            <a:pPr marL="285750" indent="-285750">
              <a:lnSpc>
                <a:spcPct val="150000"/>
              </a:lnSpc>
              <a:buFont typeface="Arial" pitchFamily="34" charset="0"/>
              <a:buChar char="•"/>
              <a:defRPr/>
            </a:pPr>
            <a:r>
              <a:rPr lang="en-US" dirty="0">
                <a:cs typeface="Arial" charset="0"/>
              </a:rPr>
              <a:t>Simple Password</a:t>
            </a:r>
          </a:p>
          <a:p>
            <a:pPr>
              <a:lnSpc>
                <a:spcPct val="150000"/>
              </a:lnSpc>
              <a:defRPr/>
            </a:pPr>
            <a:r>
              <a:rPr lang="en-US" dirty="0">
                <a:cs typeface="Arial" charset="0"/>
              </a:rPr>
              <a:t>The most simple option to protect user mode is to add a password. Here’s how to do this:</a:t>
            </a:r>
          </a:p>
          <a:p>
            <a:pPr>
              <a:lnSpc>
                <a:spcPct val="150000"/>
              </a:lnSpc>
              <a:defRPr/>
            </a:pPr>
            <a:endParaRPr lang="en-US" dirty="0">
              <a:cs typeface="Arial" charset="0"/>
            </a:endParaRPr>
          </a:p>
        </p:txBody>
      </p:sp>
      <p:sp>
        <p:nvSpPr>
          <p:cNvPr id="4" name="TextBox 3">
            <a:extLst>
              <a:ext uri="{FF2B5EF4-FFF2-40B4-BE49-F238E27FC236}">
                <a16:creationId xmlns:a16="http://schemas.microsoft.com/office/drawing/2014/main" id="{BD9C74E5-5F14-0C47-33D3-29E7B303B936}"/>
              </a:ext>
            </a:extLst>
          </p:cNvPr>
          <p:cNvSpPr txBox="1"/>
          <p:nvPr/>
        </p:nvSpPr>
        <p:spPr>
          <a:xfrm>
            <a:off x="685801" y="2895600"/>
            <a:ext cx="8991600" cy="36933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defRPr/>
            </a:pPr>
            <a:r>
              <a:rPr lang="en-US" dirty="0"/>
              <a:t>Switch(</a:t>
            </a:r>
            <a:r>
              <a:rPr lang="en-US" dirty="0" err="1"/>
              <a:t>config</a:t>
            </a:r>
            <a:r>
              <a:rPr lang="en-US" dirty="0"/>
              <a:t>)#</a:t>
            </a:r>
            <a:r>
              <a:rPr lang="en-US" b="1" dirty="0"/>
              <a:t>line console 0</a:t>
            </a:r>
            <a:endParaRPr lang="en-US" dirty="0"/>
          </a:p>
        </p:txBody>
      </p:sp>
      <p:sp>
        <p:nvSpPr>
          <p:cNvPr id="3082" name="TextBox 4">
            <a:extLst>
              <a:ext uri="{FF2B5EF4-FFF2-40B4-BE49-F238E27FC236}">
                <a16:creationId xmlns:a16="http://schemas.microsoft.com/office/drawing/2014/main" id="{DC6B88FF-55AA-1B34-85BB-90989CE40FD6}"/>
              </a:ext>
            </a:extLst>
          </p:cNvPr>
          <p:cNvSpPr txBox="1">
            <a:spLocks noChangeArrowheads="1"/>
          </p:cNvSpPr>
          <p:nvPr/>
        </p:nvSpPr>
        <p:spPr bwMode="auto">
          <a:xfrm>
            <a:off x="628651" y="3352800"/>
            <a:ext cx="83629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First, we need to enter the console settings. Here’s where we have to add two commands:</a:t>
            </a:r>
          </a:p>
        </p:txBody>
      </p:sp>
      <p:sp>
        <p:nvSpPr>
          <p:cNvPr id="6" name="TextBox 5">
            <a:extLst>
              <a:ext uri="{FF2B5EF4-FFF2-40B4-BE49-F238E27FC236}">
                <a16:creationId xmlns:a16="http://schemas.microsoft.com/office/drawing/2014/main" id="{2990933E-F5E6-5008-527E-BC2B912BBFDE}"/>
              </a:ext>
            </a:extLst>
          </p:cNvPr>
          <p:cNvSpPr txBox="1"/>
          <p:nvPr/>
        </p:nvSpPr>
        <p:spPr>
          <a:xfrm>
            <a:off x="685801" y="3733800"/>
            <a:ext cx="8839200" cy="112505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200000"/>
              </a:lnSpc>
              <a:defRPr/>
            </a:pPr>
            <a:r>
              <a:rPr lang="en-US" dirty="0"/>
              <a:t>Switch(</a:t>
            </a:r>
            <a:r>
              <a:rPr lang="en-US" dirty="0" err="1"/>
              <a:t>config</a:t>
            </a:r>
            <a:r>
              <a:rPr lang="en-US" dirty="0"/>
              <a:t>-line)#</a:t>
            </a:r>
            <a:r>
              <a:rPr lang="en-US" b="1" dirty="0"/>
              <a:t>password cisco</a:t>
            </a:r>
          </a:p>
          <a:p>
            <a:pPr>
              <a:lnSpc>
                <a:spcPct val="200000"/>
              </a:lnSpc>
              <a:defRPr/>
            </a:pPr>
            <a:r>
              <a:rPr lang="en-US" dirty="0"/>
              <a:t> Switch(</a:t>
            </a:r>
            <a:r>
              <a:rPr lang="en-US" dirty="0" err="1"/>
              <a:t>config</a:t>
            </a:r>
            <a:r>
              <a:rPr lang="en-US" dirty="0"/>
              <a:t>-line)#</a:t>
            </a:r>
            <a:r>
              <a:rPr lang="en-US" b="1" dirty="0"/>
              <a:t>login</a:t>
            </a:r>
            <a:endParaRPr lang="en-US" dirty="0"/>
          </a:p>
        </p:txBody>
      </p:sp>
      <p:sp>
        <p:nvSpPr>
          <p:cNvPr id="3084" name="TextBox 6">
            <a:extLst>
              <a:ext uri="{FF2B5EF4-FFF2-40B4-BE49-F238E27FC236}">
                <a16:creationId xmlns:a16="http://schemas.microsoft.com/office/drawing/2014/main" id="{B59A3895-805D-C175-D88D-BB3EF0E2E1FC}"/>
              </a:ext>
            </a:extLst>
          </p:cNvPr>
          <p:cNvSpPr txBox="1">
            <a:spLocks noChangeArrowheads="1"/>
          </p:cNvSpPr>
          <p:nvPr/>
        </p:nvSpPr>
        <p:spPr bwMode="auto">
          <a:xfrm>
            <a:off x="609601" y="5151438"/>
            <a:ext cx="100584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We configure a password (cisco) and use the login command to tell Cisco IOS to prompt for this password. </a:t>
            </a:r>
          </a:p>
        </p:txBody>
      </p:sp>
      <p:sp>
        <p:nvSpPr>
          <p:cNvPr id="2" name="Title 1">
            <a:extLst>
              <a:ext uri="{FF2B5EF4-FFF2-40B4-BE49-F238E27FC236}">
                <a16:creationId xmlns:a16="http://schemas.microsoft.com/office/drawing/2014/main" id="{BD3D52FD-AB03-8BA6-5A11-3872B4366780}"/>
              </a:ext>
            </a:extLst>
          </p:cNvPr>
          <p:cNvSpPr>
            <a:spLocks noGrp="1"/>
          </p:cNvSpPr>
          <p:nvPr>
            <p:ph type="title"/>
          </p:nvPr>
        </p:nvSpPr>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7BC243-7D56-3F15-EB19-637D9FFB5BBD}"/>
              </a:ext>
            </a:extLst>
          </p:cNvPr>
          <p:cNvSpPr txBox="1"/>
          <p:nvPr/>
        </p:nvSpPr>
        <p:spPr>
          <a:xfrm>
            <a:off x="584202" y="1549400"/>
            <a:ext cx="5037085" cy="1298882"/>
          </a:xfrm>
          <a:prstGeom prst="rect">
            <a:avLst/>
          </a:prstGeom>
          <a:noFill/>
        </p:spPr>
        <p:txBody>
          <a:bodyPr wrap="none">
            <a:spAutoFit/>
          </a:bodyPr>
          <a:lstStyle/>
          <a:p>
            <a:pPr>
              <a:lnSpc>
                <a:spcPct val="150000"/>
              </a:lnSpc>
              <a:defRPr/>
            </a:pPr>
            <a:r>
              <a:rPr lang="en-US" b="1" dirty="0">
                <a:cs typeface="Arial" charset="0"/>
              </a:rPr>
              <a:t>User Mode Security:</a:t>
            </a:r>
          </a:p>
          <a:p>
            <a:pPr marL="285750" indent="-285750">
              <a:lnSpc>
                <a:spcPct val="150000"/>
              </a:lnSpc>
              <a:buFont typeface="Arial" pitchFamily="34" charset="0"/>
              <a:buChar char="•"/>
              <a:defRPr/>
            </a:pPr>
            <a:r>
              <a:rPr lang="en-US" dirty="0">
                <a:cs typeface="Arial" charset="0"/>
              </a:rPr>
              <a:t>Simple Password</a:t>
            </a:r>
          </a:p>
          <a:p>
            <a:pPr>
              <a:lnSpc>
                <a:spcPct val="150000"/>
              </a:lnSpc>
              <a:defRPr/>
            </a:pPr>
            <a:r>
              <a:rPr lang="en-US" dirty="0">
                <a:cs typeface="Arial" charset="0"/>
              </a:rPr>
              <a:t>Next time you open the console, this will happen:</a:t>
            </a:r>
          </a:p>
        </p:txBody>
      </p:sp>
      <p:sp>
        <p:nvSpPr>
          <p:cNvPr id="6" name="TextBox 5">
            <a:extLst>
              <a:ext uri="{FF2B5EF4-FFF2-40B4-BE49-F238E27FC236}">
                <a16:creationId xmlns:a16="http://schemas.microsoft.com/office/drawing/2014/main" id="{8B8C2E40-8830-05DA-E07E-2C9CD646881D}"/>
              </a:ext>
            </a:extLst>
          </p:cNvPr>
          <p:cNvSpPr txBox="1"/>
          <p:nvPr/>
        </p:nvSpPr>
        <p:spPr>
          <a:xfrm>
            <a:off x="685801" y="2971801"/>
            <a:ext cx="8839200" cy="2787751"/>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200000"/>
              </a:lnSpc>
              <a:defRPr/>
            </a:pPr>
            <a:r>
              <a:rPr lang="en-US" dirty="0"/>
              <a:t>Switch con0 is now available </a:t>
            </a:r>
          </a:p>
          <a:p>
            <a:pPr>
              <a:lnSpc>
                <a:spcPct val="200000"/>
              </a:lnSpc>
              <a:defRPr/>
            </a:pPr>
            <a:r>
              <a:rPr lang="en-US" dirty="0"/>
              <a:t>Press RETURN to get started.</a:t>
            </a:r>
          </a:p>
          <a:p>
            <a:pPr>
              <a:lnSpc>
                <a:spcPct val="200000"/>
              </a:lnSpc>
              <a:defRPr/>
            </a:pPr>
            <a:r>
              <a:rPr lang="en-US" dirty="0"/>
              <a:t> User Access Verification </a:t>
            </a:r>
          </a:p>
          <a:p>
            <a:pPr>
              <a:lnSpc>
                <a:spcPct val="200000"/>
              </a:lnSpc>
              <a:defRPr/>
            </a:pPr>
            <a:r>
              <a:rPr lang="en-US" dirty="0"/>
              <a:t>Password:</a:t>
            </a:r>
          </a:p>
          <a:p>
            <a:pPr>
              <a:lnSpc>
                <a:spcPct val="200000"/>
              </a:lnSpc>
              <a:defRPr/>
            </a:pPr>
            <a:r>
              <a:rPr lang="en-US" dirty="0"/>
              <a:t> Switch&gt;</a:t>
            </a:r>
          </a:p>
        </p:txBody>
      </p:sp>
      <p:sp>
        <p:nvSpPr>
          <p:cNvPr id="4106" name="TextBox 6">
            <a:extLst>
              <a:ext uri="{FF2B5EF4-FFF2-40B4-BE49-F238E27FC236}">
                <a16:creationId xmlns:a16="http://schemas.microsoft.com/office/drawing/2014/main" id="{C5A3F1D0-4B95-1DC9-2400-9498A1583785}"/>
              </a:ext>
            </a:extLst>
          </p:cNvPr>
          <p:cNvSpPr txBox="1">
            <a:spLocks noChangeArrowheads="1"/>
          </p:cNvSpPr>
          <p:nvPr/>
        </p:nvSpPr>
        <p:spPr bwMode="auto">
          <a:xfrm>
            <a:off x="609601" y="5532438"/>
            <a:ext cx="1005840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The CLI will ask you for the password. At least we have some form of authentication but we can do better…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3E0F70-C814-D4A1-BE7A-389B77E4588F}"/>
              </a:ext>
            </a:extLst>
          </p:cNvPr>
          <p:cNvSpPr txBox="1"/>
          <p:nvPr/>
        </p:nvSpPr>
        <p:spPr>
          <a:xfrm>
            <a:off x="584201" y="1549400"/>
            <a:ext cx="10617200" cy="1714380"/>
          </a:xfrm>
          <a:prstGeom prst="rect">
            <a:avLst/>
          </a:prstGeom>
          <a:noFill/>
        </p:spPr>
        <p:txBody>
          <a:bodyPr>
            <a:spAutoFit/>
          </a:bodyPr>
          <a:lstStyle/>
          <a:p>
            <a:pPr>
              <a:lnSpc>
                <a:spcPct val="150000"/>
              </a:lnSpc>
              <a:defRPr/>
            </a:pPr>
            <a:r>
              <a:rPr lang="en-US" b="1" dirty="0">
                <a:cs typeface="Arial" charset="0"/>
              </a:rPr>
              <a:t>User Mode Security:</a:t>
            </a:r>
          </a:p>
          <a:p>
            <a:pPr marL="285750" indent="-285750">
              <a:lnSpc>
                <a:spcPct val="150000"/>
              </a:lnSpc>
              <a:buFont typeface="Arial" pitchFamily="34" charset="0"/>
              <a:buChar char="•"/>
              <a:defRPr/>
            </a:pPr>
            <a:r>
              <a:rPr lang="en-US" dirty="0">
                <a:cs typeface="Arial" charset="0"/>
              </a:rPr>
              <a:t>Username and Password</a:t>
            </a:r>
          </a:p>
          <a:p>
            <a:pPr>
              <a:lnSpc>
                <a:spcPct val="150000"/>
              </a:lnSpc>
              <a:defRPr/>
            </a:pPr>
            <a:r>
              <a:rPr lang="en-US" dirty="0">
                <a:cs typeface="Arial" charset="0"/>
              </a:rPr>
              <a:t>Instead of a single password, it’s also possible to use usernames and passwords instead. This is a better option if you have multiple people that need to access your router or switch. Here’s how to do this:</a:t>
            </a:r>
          </a:p>
        </p:txBody>
      </p:sp>
      <p:sp>
        <p:nvSpPr>
          <p:cNvPr id="6" name="TextBox 5">
            <a:extLst>
              <a:ext uri="{FF2B5EF4-FFF2-40B4-BE49-F238E27FC236}">
                <a16:creationId xmlns:a16="http://schemas.microsoft.com/office/drawing/2014/main" id="{C4C09D18-2B52-3F4E-8312-5972F0475427}"/>
              </a:ext>
            </a:extLst>
          </p:cNvPr>
          <p:cNvSpPr txBox="1"/>
          <p:nvPr/>
        </p:nvSpPr>
        <p:spPr>
          <a:xfrm>
            <a:off x="685801" y="3276601"/>
            <a:ext cx="8839200" cy="2129173"/>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a:t>Switch(</a:t>
            </a:r>
            <a:r>
              <a:rPr lang="en-US" dirty="0" err="1"/>
              <a:t>config</a:t>
            </a:r>
            <a:r>
              <a:rPr lang="en-US" dirty="0"/>
              <a:t>)#</a:t>
            </a:r>
            <a:r>
              <a:rPr lang="en-US" b="1" dirty="0"/>
              <a:t>line console 0</a:t>
            </a:r>
            <a:r>
              <a:rPr lang="en-US" dirty="0"/>
              <a:t> </a:t>
            </a:r>
          </a:p>
          <a:p>
            <a:pPr>
              <a:lnSpc>
                <a:spcPct val="150000"/>
              </a:lnSpc>
              <a:defRPr/>
            </a:pPr>
            <a:r>
              <a:rPr lang="en-US" dirty="0"/>
              <a:t>Switch(</a:t>
            </a:r>
            <a:r>
              <a:rPr lang="en-US" dirty="0" err="1"/>
              <a:t>config</a:t>
            </a:r>
            <a:r>
              <a:rPr lang="en-US" dirty="0"/>
              <a:t>-line)#</a:t>
            </a:r>
            <a:r>
              <a:rPr lang="en-US" b="1" dirty="0"/>
              <a:t>login local</a:t>
            </a:r>
            <a:r>
              <a:rPr lang="en-US" dirty="0"/>
              <a:t> </a:t>
            </a:r>
          </a:p>
          <a:p>
            <a:pPr>
              <a:lnSpc>
                <a:spcPct val="150000"/>
              </a:lnSpc>
              <a:defRPr/>
            </a:pPr>
            <a:r>
              <a:rPr lang="en-US" dirty="0"/>
              <a:t>Switch(</a:t>
            </a:r>
            <a:r>
              <a:rPr lang="en-US" dirty="0" err="1"/>
              <a:t>config</a:t>
            </a:r>
            <a:r>
              <a:rPr lang="en-US" dirty="0"/>
              <a:t>-line)#</a:t>
            </a:r>
            <a:r>
              <a:rPr lang="en-US" b="1" dirty="0"/>
              <a:t>exit</a:t>
            </a:r>
            <a:r>
              <a:rPr lang="en-US" dirty="0"/>
              <a:t> </a:t>
            </a:r>
          </a:p>
          <a:p>
            <a:pPr>
              <a:lnSpc>
                <a:spcPct val="150000"/>
              </a:lnSpc>
              <a:defRPr/>
            </a:pPr>
            <a:endParaRPr lang="en-US" dirty="0"/>
          </a:p>
          <a:p>
            <a:pPr>
              <a:lnSpc>
                <a:spcPct val="150000"/>
              </a:lnSpc>
              <a:defRPr/>
            </a:pPr>
            <a:r>
              <a:rPr lang="en-US" dirty="0"/>
              <a:t>Switch(</a:t>
            </a:r>
            <a:r>
              <a:rPr lang="en-US" dirty="0" err="1"/>
              <a:t>config</a:t>
            </a:r>
            <a:r>
              <a:rPr lang="en-US" dirty="0"/>
              <a:t>)#</a:t>
            </a:r>
            <a:r>
              <a:rPr lang="en-US" b="1" dirty="0"/>
              <a:t>username admin password cisco</a:t>
            </a:r>
            <a:endParaRPr lang="en-US" dirty="0"/>
          </a:p>
        </p:txBody>
      </p:sp>
      <p:sp>
        <p:nvSpPr>
          <p:cNvPr id="5130" name="TextBox 6">
            <a:extLst>
              <a:ext uri="{FF2B5EF4-FFF2-40B4-BE49-F238E27FC236}">
                <a16:creationId xmlns:a16="http://schemas.microsoft.com/office/drawing/2014/main" id="{33D6C46A-82AA-32A6-E90A-7760BCC96DED}"/>
              </a:ext>
            </a:extLst>
          </p:cNvPr>
          <p:cNvSpPr txBox="1">
            <a:spLocks noChangeArrowheads="1"/>
          </p:cNvSpPr>
          <p:nvPr/>
        </p:nvSpPr>
        <p:spPr bwMode="auto">
          <a:xfrm>
            <a:off x="595313" y="5257801"/>
            <a:ext cx="10058400" cy="115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Under the console settings, we use the </a:t>
            </a:r>
            <a:r>
              <a:rPr lang="en-US" altLang="en-US" b="1"/>
              <a:t>login local</a:t>
            </a:r>
            <a:r>
              <a:rPr lang="en-US" altLang="en-US"/>
              <a:t> command to tell the switch to refer to a local database of usernames and passwords for authentication. In the global config, we create a username “admin” with password “cisco”.</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84D369-BA9F-D1AF-F018-F12D9A30B59F}"/>
              </a:ext>
            </a:extLst>
          </p:cNvPr>
          <p:cNvSpPr txBox="1"/>
          <p:nvPr/>
        </p:nvSpPr>
        <p:spPr>
          <a:xfrm>
            <a:off x="584201" y="1549400"/>
            <a:ext cx="10617200" cy="1298882"/>
          </a:xfrm>
          <a:prstGeom prst="rect">
            <a:avLst/>
          </a:prstGeom>
          <a:noFill/>
        </p:spPr>
        <p:txBody>
          <a:bodyPr>
            <a:spAutoFit/>
          </a:bodyPr>
          <a:lstStyle/>
          <a:p>
            <a:pPr>
              <a:lnSpc>
                <a:spcPct val="150000"/>
              </a:lnSpc>
              <a:defRPr/>
            </a:pPr>
            <a:r>
              <a:rPr lang="en-US" b="1" dirty="0">
                <a:cs typeface="Arial" charset="0"/>
              </a:rPr>
              <a:t>User Mode Security:</a:t>
            </a:r>
          </a:p>
          <a:p>
            <a:pPr marL="285750" indent="-285750">
              <a:lnSpc>
                <a:spcPct val="150000"/>
              </a:lnSpc>
              <a:buFont typeface="Arial" pitchFamily="34" charset="0"/>
              <a:buChar char="•"/>
              <a:defRPr/>
            </a:pPr>
            <a:r>
              <a:rPr lang="en-US" dirty="0">
                <a:cs typeface="Arial" charset="0"/>
              </a:rPr>
              <a:t>Username and Password</a:t>
            </a:r>
          </a:p>
          <a:p>
            <a:pPr>
              <a:lnSpc>
                <a:spcPct val="150000"/>
              </a:lnSpc>
              <a:defRPr/>
            </a:pPr>
            <a:r>
              <a:rPr lang="en-US" dirty="0">
                <a:cs typeface="Arial" charset="0"/>
              </a:rPr>
              <a:t>Next time you open the console, here’s what you see:</a:t>
            </a:r>
          </a:p>
        </p:txBody>
      </p:sp>
      <p:sp>
        <p:nvSpPr>
          <p:cNvPr id="6" name="TextBox 5">
            <a:extLst>
              <a:ext uri="{FF2B5EF4-FFF2-40B4-BE49-F238E27FC236}">
                <a16:creationId xmlns:a16="http://schemas.microsoft.com/office/drawing/2014/main" id="{00EBBCE6-6DA5-95C5-8FC2-ECF68082FE9C}"/>
              </a:ext>
            </a:extLst>
          </p:cNvPr>
          <p:cNvSpPr txBox="1"/>
          <p:nvPr/>
        </p:nvSpPr>
        <p:spPr>
          <a:xfrm>
            <a:off x="685801" y="2971801"/>
            <a:ext cx="8839200" cy="2545377"/>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a:t>Switch con0 is now available </a:t>
            </a:r>
          </a:p>
          <a:p>
            <a:pPr>
              <a:lnSpc>
                <a:spcPct val="150000"/>
              </a:lnSpc>
              <a:defRPr/>
            </a:pPr>
            <a:r>
              <a:rPr lang="en-US" dirty="0"/>
              <a:t>Press RETURN to get started. </a:t>
            </a:r>
          </a:p>
          <a:p>
            <a:pPr>
              <a:lnSpc>
                <a:spcPct val="150000"/>
              </a:lnSpc>
              <a:defRPr/>
            </a:pPr>
            <a:r>
              <a:rPr lang="en-US" dirty="0"/>
              <a:t>User Access Verification</a:t>
            </a:r>
          </a:p>
          <a:p>
            <a:pPr>
              <a:lnSpc>
                <a:spcPct val="150000"/>
              </a:lnSpc>
              <a:defRPr/>
            </a:pPr>
            <a:r>
              <a:rPr lang="en-US" dirty="0"/>
              <a:t> Username: admin </a:t>
            </a:r>
          </a:p>
          <a:p>
            <a:pPr>
              <a:lnSpc>
                <a:spcPct val="150000"/>
              </a:lnSpc>
              <a:defRPr/>
            </a:pPr>
            <a:r>
              <a:rPr lang="en-US" dirty="0"/>
              <a:t>Password:</a:t>
            </a:r>
          </a:p>
          <a:p>
            <a:pPr>
              <a:lnSpc>
                <a:spcPct val="150000"/>
              </a:lnSpc>
              <a:defRPr/>
            </a:pPr>
            <a:r>
              <a:rPr lang="en-US" dirty="0"/>
              <a:t> Switch&gt;</a:t>
            </a:r>
          </a:p>
        </p:txBody>
      </p:sp>
      <p:sp>
        <p:nvSpPr>
          <p:cNvPr id="6154" name="TextBox 6">
            <a:extLst>
              <a:ext uri="{FF2B5EF4-FFF2-40B4-BE49-F238E27FC236}">
                <a16:creationId xmlns:a16="http://schemas.microsoft.com/office/drawing/2014/main" id="{E98374B3-1C70-FBD3-6AC8-FE844E31AB7D}"/>
              </a:ext>
            </a:extLst>
          </p:cNvPr>
          <p:cNvSpPr txBox="1">
            <a:spLocks noChangeArrowheads="1"/>
          </p:cNvSpPr>
          <p:nvPr/>
        </p:nvSpPr>
        <p:spPr bwMode="auto">
          <a:xfrm>
            <a:off x="608013" y="5638801"/>
            <a:ext cx="10058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The switch asks for our username and password.</a:t>
            </a:r>
          </a:p>
        </p:txBody>
      </p:sp>
      <p:sp>
        <p:nvSpPr>
          <p:cNvPr id="2" name="Title 1">
            <a:extLst>
              <a:ext uri="{FF2B5EF4-FFF2-40B4-BE49-F238E27FC236}">
                <a16:creationId xmlns:a16="http://schemas.microsoft.com/office/drawing/2014/main" id="{C9584B38-B831-887B-B0AB-B6C98636E3E7}"/>
              </a:ext>
            </a:extLst>
          </p:cNvPr>
          <p:cNvSpPr>
            <a:spLocks noGrp="1"/>
          </p:cNvSpPr>
          <p:nvPr>
            <p:ph type="title"/>
          </p:nvPr>
        </p:nvSpPr>
        <p:spPr/>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3145FF-287A-6608-34BE-DFD9300F188C}"/>
              </a:ext>
            </a:extLst>
          </p:cNvPr>
          <p:cNvSpPr txBox="1"/>
          <p:nvPr/>
        </p:nvSpPr>
        <p:spPr>
          <a:xfrm>
            <a:off x="584201" y="1549401"/>
            <a:ext cx="10617200" cy="1575881"/>
          </a:xfrm>
          <a:prstGeom prst="rect">
            <a:avLst/>
          </a:prstGeom>
          <a:noFill/>
        </p:spPr>
        <p:txBody>
          <a:bodyPr>
            <a:spAutoFit/>
          </a:bodyPr>
          <a:lstStyle/>
          <a:p>
            <a:pPr>
              <a:defRPr/>
            </a:pPr>
            <a:r>
              <a:rPr lang="en-US" b="1" dirty="0">
                <a:cs typeface="Arial" charset="0"/>
              </a:rPr>
              <a:t>Enable Mode Security:</a:t>
            </a:r>
          </a:p>
          <a:p>
            <a:pPr marL="285750" indent="-285750">
              <a:lnSpc>
                <a:spcPct val="150000"/>
              </a:lnSpc>
              <a:buFont typeface="Arial" pitchFamily="34" charset="0"/>
              <a:buChar char="•"/>
              <a:defRPr/>
            </a:pPr>
            <a:r>
              <a:rPr lang="en-US" dirty="0">
                <a:cs typeface="Arial" charset="0"/>
              </a:rPr>
              <a:t>Username and Password</a:t>
            </a:r>
          </a:p>
          <a:p>
            <a:pPr>
              <a:lnSpc>
                <a:spcPct val="150000"/>
              </a:lnSpc>
              <a:defRPr/>
            </a:pPr>
            <a:r>
              <a:rPr lang="en-US" dirty="0">
                <a:cs typeface="Arial" charset="0"/>
              </a:rPr>
              <a:t>What about enable mode / privileged mode? We can also add a password there. You need to do this from the configuration mode:</a:t>
            </a:r>
          </a:p>
        </p:txBody>
      </p:sp>
      <p:sp>
        <p:nvSpPr>
          <p:cNvPr id="6" name="TextBox 5">
            <a:extLst>
              <a:ext uri="{FF2B5EF4-FFF2-40B4-BE49-F238E27FC236}">
                <a16:creationId xmlns:a16="http://schemas.microsoft.com/office/drawing/2014/main" id="{270F481F-0699-938D-5D5A-7F5DA7E35552}"/>
              </a:ext>
            </a:extLst>
          </p:cNvPr>
          <p:cNvSpPr txBox="1"/>
          <p:nvPr/>
        </p:nvSpPr>
        <p:spPr>
          <a:xfrm>
            <a:off x="685801" y="3048000"/>
            <a:ext cx="8839200" cy="882678"/>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err="1"/>
              <a:t>Switch#</a:t>
            </a:r>
            <a:r>
              <a:rPr lang="en-US" b="1" dirty="0" err="1"/>
              <a:t>configure</a:t>
            </a:r>
            <a:r>
              <a:rPr lang="en-US" b="1" dirty="0"/>
              <a:t> terminal</a:t>
            </a:r>
          </a:p>
          <a:p>
            <a:pPr>
              <a:lnSpc>
                <a:spcPct val="150000"/>
              </a:lnSpc>
              <a:defRPr/>
            </a:pPr>
            <a:r>
              <a:rPr lang="en-US" dirty="0"/>
              <a:t>Switch(</a:t>
            </a:r>
            <a:r>
              <a:rPr lang="en-US" dirty="0" err="1"/>
              <a:t>config</a:t>
            </a:r>
            <a:r>
              <a:rPr lang="en-US" dirty="0"/>
              <a:t>)#</a:t>
            </a:r>
            <a:r>
              <a:rPr lang="en-US" b="1" dirty="0"/>
              <a:t>enable password cisco</a:t>
            </a:r>
            <a:endParaRPr lang="en-US" dirty="0"/>
          </a:p>
        </p:txBody>
      </p:sp>
      <p:sp>
        <p:nvSpPr>
          <p:cNvPr id="7178" name="TextBox 6">
            <a:extLst>
              <a:ext uri="{FF2B5EF4-FFF2-40B4-BE49-F238E27FC236}">
                <a16:creationId xmlns:a16="http://schemas.microsoft.com/office/drawing/2014/main" id="{909BAD96-B129-163C-EBA1-227898CD7AA0}"/>
              </a:ext>
            </a:extLst>
          </p:cNvPr>
          <p:cNvSpPr txBox="1">
            <a:spLocks noChangeArrowheads="1"/>
          </p:cNvSpPr>
          <p:nvPr/>
        </p:nvSpPr>
        <p:spPr bwMode="auto">
          <a:xfrm>
            <a:off x="608013" y="3886201"/>
            <a:ext cx="10058400" cy="1150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Let’s see if our password “cisco” works. Let’s get out of enable mode</a:t>
            </a:r>
          </a:p>
          <a:p>
            <a:pPr eaLnBrk="1" hangingPunct="1">
              <a:lnSpc>
                <a:spcPct val="150000"/>
              </a:lnSpc>
            </a:pPr>
            <a:r>
              <a:rPr lang="en-US" altLang="en-US"/>
              <a:t>And jump right back in:</a:t>
            </a:r>
          </a:p>
          <a:p>
            <a:pPr eaLnBrk="1" hangingPunct="1">
              <a:lnSpc>
                <a:spcPct val="150000"/>
              </a:lnSpc>
            </a:pPr>
            <a:r>
              <a:rPr lang="en-US" altLang="en-US"/>
              <a:t>The switch now asks for the password.</a:t>
            </a:r>
          </a:p>
        </p:txBody>
      </p:sp>
      <p:sp>
        <p:nvSpPr>
          <p:cNvPr id="4" name="TextBox 3">
            <a:extLst>
              <a:ext uri="{FF2B5EF4-FFF2-40B4-BE49-F238E27FC236}">
                <a16:creationId xmlns:a16="http://schemas.microsoft.com/office/drawing/2014/main" id="{DFBA955E-E696-AF19-37C6-5DAE92BF1230}"/>
              </a:ext>
            </a:extLst>
          </p:cNvPr>
          <p:cNvSpPr txBox="1"/>
          <p:nvPr/>
        </p:nvSpPr>
        <p:spPr>
          <a:xfrm>
            <a:off x="685801" y="5181600"/>
            <a:ext cx="8839200" cy="129888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err="1"/>
              <a:t>Switch#</a:t>
            </a:r>
            <a:r>
              <a:rPr lang="en-US" b="1" dirty="0" err="1"/>
              <a:t>disable</a:t>
            </a:r>
            <a:endParaRPr lang="en-US" b="1" dirty="0"/>
          </a:p>
          <a:p>
            <a:pPr>
              <a:lnSpc>
                <a:spcPct val="150000"/>
              </a:lnSpc>
              <a:defRPr/>
            </a:pPr>
            <a:r>
              <a:rPr lang="en-US" dirty="0"/>
              <a:t>Switch&gt;</a:t>
            </a:r>
            <a:r>
              <a:rPr lang="en-US" b="1" dirty="0"/>
              <a:t>enable</a:t>
            </a:r>
            <a:r>
              <a:rPr lang="en-US" dirty="0"/>
              <a:t> </a:t>
            </a:r>
          </a:p>
          <a:p>
            <a:pPr>
              <a:lnSpc>
                <a:spcPct val="150000"/>
              </a:lnSpc>
              <a:defRPr/>
            </a:pPr>
            <a:r>
              <a:rPr lang="en-US" dirty="0"/>
              <a:t>Password: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15B28D-7D1B-EA09-6D01-DCF784B402AB}"/>
              </a:ext>
            </a:extLst>
          </p:cNvPr>
          <p:cNvSpPr txBox="1"/>
          <p:nvPr/>
        </p:nvSpPr>
        <p:spPr>
          <a:xfrm>
            <a:off x="584201" y="1549400"/>
            <a:ext cx="10617200" cy="1160382"/>
          </a:xfrm>
          <a:prstGeom prst="rect">
            <a:avLst/>
          </a:prstGeom>
          <a:noFill/>
        </p:spPr>
        <p:txBody>
          <a:bodyPr>
            <a:spAutoFit/>
          </a:bodyPr>
          <a:lstStyle/>
          <a:p>
            <a:pPr>
              <a:defRPr/>
            </a:pPr>
            <a:r>
              <a:rPr lang="en-US" b="1" dirty="0">
                <a:cs typeface="Arial" charset="0"/>
              </a:rPr>
              <a:t>Password Encryption:</a:t>
            </a:r>
          </a:p>
          <a:p>
            <a:pPr marL="285750" indent="-285750">
              <a:lnSpc>
                <a:spcPct val="150000"/>
              </a:lnSpc>
              <a:buFont typeface="Arial" pitchFamily="34" charset="0"/>
              <a:buChar char="•"/>
              <a:defRPr/>
            </a:pPr>
            <a:r>
              <a:rPr lang="en-US" dirty="0">
                <a:cs typeface="Arial" charset="0"/>
              </a:rPr>
              <a:t>In the examples above, we used passwords but there is one problem…they all show up in clear text in our configuration. Take a look below:</a:t>
            </a:r>
          </a:p>
        </p:txBody>
      </p:sp>
      <p:sp>
        <p:nvSpPr>
          <p:cNvPr id="6" name="TextBox 5">
            <a:extLst>
              <a:ext uri="{FF2B5EF4-FFF2-40B4-BE49-F238E27FC236}">
                <a16:creationId xmlns:a16="http://schemas.microsoft.com/office/drawing/2014/main" id="{63473E92-0627-9DBD-18E4-60649F290D7E}"/>
              </a:ext>
            </a:extLst>
          </p:cNvPr>
          <p:cNvSpPr txBox="1"/>
          <p:nvPr/>
        </p:nvSpPr>
        <p:spPr>
          <a:xfrm>
            <a:off x="685801" y="3048000"/>
            <a:ext cx="8839200" cy="1714380"/>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err="1"/>
              <a:t>Switch#</a:t>
            </a:r>
            <a:r>
              <a:rPr lang="en-US" b="1" dirty="0" err="1"/>
              <a:t>show</a:t>
            </a:r>
            <a:r>
              <a:rPr lang="en-US" b="1" dirty="0"/>
              <a:t> running-</a:t>
            </a:r>
            <a:r>
              <a:rPr lang="en-US" b="1" dirty="0" err="1"/>
              <a:t>config</a:t>
            </a:r>
            <a:r>
              <a:rPr lang="en-US" b="1" dirty="0"/>
              <a:t> | include password</a:t>
            </a:r>
          </a:p>
          <a:p>
            <a:pPr>
              <a:lnSpc>
                <a:spcPct val="150000"/>
              </a:lnSpc>
              <a:defRPr/>
            </a:pPr>
            <a:r>
              <a:rPr lang="en-US" dirty="0"/>
              <a:t> no service password-encryption </a:t>
            </a:r>
          </a:p>
          <a:p>
            <a:pPr>
              <a:lnSpc>
                <a:spcPct val="150000"/>
              </a:lnSpc>
              <a:defRPr/>
            </a:pPr>
            <a:r>
              <a:rPr lang="en-US" dirty="0">
                <a:solidFill>
                  <a:srgbClr val="DE0000"/>
                </a:solidFill>
              </a:rPr>
              <a:t>enable password cisco</a:t>
            </a:r>
          </a:p>
          <a:p>
            <a:pPr>
              <a:lnSpc>
                <a:spcPct val="150000"/>
              </a:lnSpc>
              <a:defRPr/>
            </a:pPr>
            <a:r>
              <a:rPr lang="en-US" dirty="0">
                <a:solidFill>
                  <a:srgbClr val="DE0000"/>
                </a:solidFill>
              </a:rPr>
              <a:t> username admin password 0 cisco</a:t>
            </a:r>
          </a:p>
        </p:txBody>
      </p:sp>
      <p:sp>
        <p:nvSpPr>
          <p:cNvPr id="8202" name="TextBox 6">
            <a:extLst>
              <a:ext uri="{FF2B5EF4-FFF2-40B4-BE49-F238E27FC236}">
                <a16:creationId xmlns:a16="http://schemas.microsoft.com/office/drawing/2014/main" id="{B52E21CE-0F3F-10FB-EE14-99F1E12F1843}"/>
              </a:ext>
            </a:extLst>
          </p:cNvPr>
          <p:cNvSpPr txBox="1">
            <a:spLocks noChangeArrowheads="1"/>
          </p:cNvSpPr>
          <p:nvPr/>
        </p:nvSpPr>
        <p:spPr bwMode="auto">
          <a:xfrm>
            <a:off x="584201" y="4800601"/>
            <a:ext cx="10058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Cisco IOS has a command that lets you encrypt all clear text passwords in your configuration. Here’s how:</a:t>
            </a:r>
          </a:p>
        </p:txBody>
      </p:sp>
      <p:sp>
        <p:nvSpPr>
          <p:cNvPr id="5" name="TextBox 4">
            <a:extLst>
              <a:ext uri="{FF2B5EF4-FFF2-40B4-BE49-F238E27FC236}">
                <a16:creationId xmlns:a16="http://schemas.microsoft.com/office/drawing/2014/main" id="{304A8BE9-C57F-6122-56A5-BF5D9C510E63}"/>
              </a:ext>
            </a:extLst>
          </p:cNvPr>
          <p:cNvSpPr txBox="1"/>
          <p:nvPr/>
        </p:nvSpPr>
        <p:spPr>
          <a:xfrm>
            <a:off x="762001" y="5410200"/>
            <a:ext cx="8763000" cy="36933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p>
            <a:pPr>
              <a:defRPr/>
            </a:pPr>
            <a:r>
              <a:rPr lang="en-US" dirty="0"/>
              <a:t>Switch(</a:t>
            </a:r>
            <a:r>
              <a:rPr lang="en-US" dirty="0" err="1"/>
              <a:t>config</a:t>
            </a:r>
            <a:r>
              <a:rPr lang="en-US" dirty="0"/>
              <a:t>)#</a:t>
            </a:r>
            <a:r>
              <a:rPr lang="en-US" b="1" dirty="0"/>
              <a:t>service password-encryption</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FA79922C-849F-D722-2ACB-BC9DE8FF284C}"/>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7E1EC3E4-BA7E-4564-BE03-3C40A0ADA16B}" type="slidenum">
              <a:rPr lang="en-US" altLang="en-US" sz="1400">
                <a:latin typeface="Times New Roman" panose="02020603050405020304" pitchFamily="18" charset="0"/>
              </a:rPr>
              <a:pPr eaLnBrk="1" hangingPunct="1"/>
              <a:t>39</a:t>
            </a:fld>
            <a:endParaRPr lang="en-US" altLang="en-US" sz="1400">
              <a:latin typeface="Times New Roman" panose="02020603050405020304" pitchFamily="18" charset="0"/>
            </a:endParaRPr>
          </a:p>
        </p:txBody>
      </p:sp>
      <p:sp>
        <p:nvSpPr>
          <p:cNvPr id="3" name="TextBox 2">
            <a:extLst>
              <a:ext uri="{FF2B5EF4-FFF2-40B4-BE49-F238E27FC236}">
                <a16:creationId xmlns:a16="http://schemas.microsoft.com/office/drawing/2014/main" id="{B109D1E4-E054-0C27-6EFB-A825A4C08325}"/>
              </a:ext>
            </a:extLst>
          </p:cNvPr>
          <p:cNvSpPr txBox="1"/>
          <p:nvPr/>
        </p:nvSpPr>
        <p:spPr>
          <a:xfrm>
            <a:off x="584201" y="1549400"/>
            <a:ext cx="10617200" cy="1160382"/>
          </a:xfrm>
          <a:prstGeom prst="rect">
            <a:avLst/>
          </a:prstGeom>
          <a:noFill/>
        </p:spPr>
        <p:txBody>
          <a:bodyPr>
            <a:spAutoFit/>
          </a:bodyPr>
          <a:lstStyle/>
          <a:p>
            <a:pPr>
              <a:defRPr/>
            </a:pPr>
            <a:r>
              <a:rPr lang="en-US" b="1" dirty="0">
                <a:cs typeface="Arial" charset="0"/>
              </a:rPr>
              <a:t>Password Encryption:</a:t>
            </a:r>
          </a:p>
          <a:p>
            <a:pPr marL="285750" indent="-285750">
              <a:lnSpc>
                <a:spcPct val="150000"/>
              </a:lnSpc>
              <a:buFont typeface="Arial" pitchFamily="34" charset="0"/>
              <a:buChar char="•"/>
              <a:defRPr/>
            </a:pPr>
            <a:r>
              <a:rPr lang="en-US" dirty="0">
                <a:cs typeface="Arial" charset="0"/>
              </a:rPr>
              <a:t>The </a:t>
            </a:r>
            <a:r>
              <a:rPr lang="en-US" b="1" dirty="0">
                <a:cs typeface="Arial" charset="0"/>
              </a:rPr>
              <a:t>service password-encryption</a:t>
            </a:r>
            <a:r>
              <a:rPr lang="en-US" dirty="0">
                <a:cs typeface="Arial" charset="0"/>
              </a:rPr>
              <a:t> command will encrypt every password that is plain text. Here you can see the result:</a:t>
            </a:r>
          </a:p>
        </p:txBody>
      </p:sp>
      <p:sp>
        <p:nvSpPr>
          <p:cNvPr id="6" name="TextBox 5">
            <a:extLst>
              <a:ext uri="{FF2B5EF4-FFF2-40B4-BE49-F238E27FC236}">
                <a16:creationId xmlns:a16="http://schemas.microsoft.com/office/drawing/2014/main" id="{31064117-C485-2191-350D-1E5A2AC27E72}"/>
              </a:ext>
            </a:extLst>
          </p:cNvPr>
          <p:cNvSpPr txBox="1"/>
          <p:nvPr/>
        </p:nvSpPr>
        <p:spPr>
          <a:xfrm>
            <a:off x="685801" y="3048000"/>
            <a:ext cx="8839200" cy="1714380"/>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err="1"/>
              <a:t>Switch#</a:t>
            </a:r>
            <a:r>
              <a:rPr lang="en-US" b="1" dirty="0" err="1"/>
              <a:t>show</a:t>
            </a:r>
            <a:r>
              <a:rPr lang="en-US" b="1" dirty="0"/>
              <a:t> running-</a:t>
            </a:r>
            <a:r>
              <a:rPr lang="en-US" b="1" dirty="0" err="1"/>
              <a:t>config</a:t>
            </a:r>
            <a:r>
              <a:rPr lang="en-US" b="1" dirty="0"/>
              <a:t> | include password</a:t>
            </a:r>
          </a:p>
          <a:p>
            <a:pPr>
              <a:lnSpc>
                <a:spcPct val="150000"/>
              </a:lnSpc>
              <a:defRPr/>
            </a:pPr>
            <a:r>
              <a:rPr lang="en-US" dirty="0"/>
              <a:t> service password-encryption</a:t>
            </a:r>
          </a:p>
          <a:p>
            <a:pPr>
              <a:lnSpc>
                <a:spcPct val="150000"/>
              </a:lnSpc>
              <a:defRPr/>
            </a:pPr>
            <a:r>
              <a:rPr lang="en-US" dirty="0"/>
              <a:t> </a:t>
            </a:r>
            <a:r>
              <a:rPr lang="en-US" dirty="0">
                <a:solidFill>
                  <a:srgbClr val="DE0000"/>
                </a:solidFill>
              </a:rPr>
              <a:t>enable password 7 13061E010803 </a:t>
            </a:r>
          </a:p>
          <a:p>
            <a:pPr>
              <a:lnSpc>
                <a:spcPct val="150000"/>
              </a:lnSpc>
              <a:defRPr/>
            </a:pPr>
            <a:r>
              <a:rPr lang="en-US" dirty="0">
                <a:solidFill>
                  <a:srgbClr val="DE0000"/>
                </a:solidFill>
              </a:rPr>
              <a:t>username admin password 7 110A1016141D</a:t>
            </a:r>
          </a:p>
        </p:txBody>
      </p:sp>
      <p:sp>
        <p:nvSpPr>
          <p:cNvPr id="9226" name="TextBox 6">
            <a:extLst>
              <a:ext uri="{FF2B5EF4-FFF2-40B4-BE49-F238E27FC236}">
                <a16:creationId xmlns:a16="http://schemas.microsoft.com/office/drawing/2014/main" id="{8C2CBC3F-C60C-C6BC-5D8C-20EAB3C868A1}"/>
              </a:ext>
            </a:extLst>
          </p:cNvPr>
          <p:cNvSpPr txBox="1">
            <a:spLocks noChangeArrowheads="1"/>
          </p:cNvSpPr>
          <p:nvPr/>
        </p:nvSpPr>
        <p:spPr bwMode="auto">
          <a:xfrm>
            <a:off x="584201" y="4800601"/>
            <a:ext cx="10058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Cisco IOS has a command that lets you encrypt all clear text passwords in your configuration. Here’s how:</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0B16BC-E7F1-46D2-7D97-184F410EB5CF}"/>
              </a:ext>
            </a:extLst>
          </p:cNvPr>
          <p:cNvSpPr txBox="1"/>
          <p:nvPr/>
        </p:nvSpPr>
        <p:spPr>
          <a:xfrm>
            <a:off x="584201" y="1549400"/>
            <a:ext cx="10617200" cy="1160382"/>
          </a:xfrm>
          <a:prstGeom prst="rect">
            <a:avLst/>
          </a:prstGeom>
          <a:noFill/>
        </p:spPr>
        <p:txBody>
          <a:bodyPr>
            <a:spAutoFit/>
          </a:bodyPr>
          <a:lstStyle/>
          <a:p>
            <a:pPr>
              <a:defRPr/>
            </a:pPr>
            <a:r>
              <a:rPr lang="en-US" b="1" dirty="0">
                <a:cs typeface="Arial" charset="0"/>
              </a:rPr>
              <a:t>Password Encryption:</a:t>
            </a:r>
          </a:p>
          <a:p>
            <a:pPr marL="285750" indent="-285750">
              <a:lnSpc>
                <a:spcPct val="150000"/>
              </a:lnSpc>
              <a:buFont typeface="Arial" pitchFamily="34" charset="0"/>
              <a:buChar char="•"/>
              <a:defRPr/>
            </a:pPr>
            <a:r>
              <a:rPr lang="en-US" dirty="0">
                <a:cs typeface="Arial" charset="0"/>
              </a:rPr>
              <a:t>The </a:t>
            </a:r>
            <a:r>
              <a:rPr lang="en-US" b="1" dirty="0">
                <a:cs typeface="Arial" charset="0"/>
              </a:rPr>
              <a:t>service password-encryption</a:t>
            </a:r>
            <a:r>
              <a:rPr lang="en-US" dirty="0">
                <a:cs typeface="Arial" charset="0"/>
              </a:rPr>
              <a:t> command will encrypt every password that is plain text. Here you can see the result:</a:t>
            </a:r>
          </a:p>
        </p:txBody>
      </p:sp>
      <p:sp>
        <p:nvSpPr>
          <p:cNvPr id="10249" name="TextBox 6">
            <a:extLst>
              <a:ext uri="{FF2B5EF4-FFF2-40B4-BE49-F238E27FC236}">
                <a16:creationId xmlns:a16="http://schemas.microsoft.com/office/drawing/2014/main" id="{99F7D70A-DBE4-CD78-DCFE-B66F93AB5E2A}"/>
              </a:ext>
            </a:extLst>
          </p:cNvPr>
          <p:cNvSpPr txBox="1">
            <a:spLocks noChangeArrowheads="1"/>
          </p:cNvSpPr>
          <p:nvPr/>
        </p:nvSpPr>
        <p:spPr bwMode="auto">
          <a:xfrm>
            <a:off x="584201" y="2971800"/>
            <a:ext cx="10058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Now you might get a warm fuzzy feeling that everything is encrypted but in reality, this is a very poor (broken) encryption algorithm. There are websites that let you decrypt these encrypted strings on the fly. If you want to try this, here’s </a:t>
            </a:r>
            <a:r>
              <a:rPr lang="en-US" altLang="en-US">
                <a:hlinkClick r:id="rId3"/>
              </a:rPr>
              <a:t>one of those websites</a:t>
            </a:r>
            <a:r>
              <a:rPr lang="en-US" altLang="en-US"/>
              <a:t>.</a:t>
            </a:r>
          </a:p>
          <a:p>
            <a:pPr eaLnBrk="1" hangingPunct="1">
              <a:lnSpc>
                <a:spcPct val="150000"/>
              </a:lnSpc>
            </a:pPr>
            <a:endParaRPr lang="en-US" altLang="en-US"/>
          </a:p>
          <a:p>
            <a:pPr eaLnBrk="1" hangingPunct="1">
              <a:lnSpc>
                <a:spcPct val="150000"/>
              </a:lnSpc>
            </a:pPr>
            <a:r>
              <a:rPr lang="en-US" altLang="en-US"/>
              <a:t>We need something stronger…</a:t>
            </a:r>
          </a:p>
        </p:txBody>
      </p:sp>
      <p:sp>
        <p:nvSpPr>
          <p:cNvPr id="2" name="Title 1">
            <a:extLst>
              <a:ext uri="{FF2B5EF4-FFF2-40B4-BE49-F238E27FC236}">
                <a16:creationId xmlns:a16="http://schemas.microsoft.com/office/drawing/2014/main" id="{6F337CA0-9D84-E330-2FF8-6728C29CD0AB}"/>
              </a:ext>
            </a:extLst>
          </p:cNvPr>
          <p:cNvSpPr>
            <a:spLocks noGrp="1"/>
          </p:cNvSpPr>
          <p:nvPr>
            <p:ph type="title"/>
          </p:nvPr>
        </p:nvSpPr>
        <p:spPr/>
        <p:txBody>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A01431-64EA-B019-A4C6-3699B8131F69}"/>
              </a:ext>
            </a:extLst>
          </p:cNvPr>
          <p:cNvSpPr txBox="1"/>
          <p:nvPr/>
        </p:nvSpPr>
        <p:spPr>
          <a:xfrm>
            <a:off x="584201" y="1549400"/>
            <a:ext cx="10617200" cy="1160382"/>
          </a:xfrm>
          <a:prstGeom prst="rect">
            <a:avLst/>
          </a:prstGeom>
          <a:noFill/>
        </p:spPr>
        <p:txBody>
          <a:bodyPr>
            <a:spAutoFit/>
          </a:bodyPr>
          <a:lstStyle/>
          <a:p>
            <a:pPr>
              <a:defRPr/>
            </a:pPr>
            <a:r>
              <a:rPr lang="en-US" dirty="0">
                <a:cs typeface="Arial" charset="0"/>
              </a:rPr>
              <a:t>Secret:</a:t>
            </a:r>
          </a:p>
          <a:p>
            <a:pPr marL="285750" indent="-285750">
              <a:lnSpc>
                <a:spcPct val="150000"/>
              </a:lnSpc>
              <a:buFont typeface="Arial" pitchFamily="34" charset="0"/>
              <a:buChar char="•"/>
              <a:defRPr/>
            </a:pPr>
            <a:r>
              <a:rPr lang="en-US" dirty="0">
                <a:cs typeface="Arial" charset="0"/>
              </a:rPr>
              <a:t>Cisco IOS supports something called a </a:t>
            </a:r>
            <a:r>
              <a:rPr lang="en-US" b="1" dirty="0">
                <a:cs typeface="Arial" charset="0"/>
              </a:rPr>
              <a:t>secret</a:t>
            </a:r>
            <a:r>
              <a:rPr lang="en-US" dirty="0">
                <a:cs typeface="Arial" charset="0"/>
              </a:rPr>
              <a:t> as an alternative to the password. Let’s try this for the enable mode:</a:t>
            </a:r>
          </a:p>
        </p:txBody>
      </p:sp>
      <p:sp>
        <p:nvSpPr>
          <p:cNvPr id="6" name="TextBox 5">
            <a:extLst>
              <a:ext uri="{FF2B5EF4-FFF2-40B4-BE49-F238E27FC236}">
                <a16:creationId xmlns:a16="http://schemas.microsoft.com/office/drawing/2014/main" id="{4BC91827-DCB4-DCEE-B04A-6D98D757A1E5}"/>
              </a:ext>
            </a:extLst>
          </p:cNvPr>
          <p:cNvSpPr txBox="1"/>
          <p:nvPr/>
        </p:nvSpPr>
        <p:spPr>
          <a:xfrm>
            <a:off x="685801" y="2667001"/>
            <a:ext cx="8839200" cy="2960875"/>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a:t>Switch(</a:t>
            </a:r>
            <a:r>
              <a:rPr lang="en-US" dirty="0" err="1"/>
              <a:t>config</a:t>
            </a:r>
            <a:r>
              <a:rPr lang="en-US" dirty="0"/>
              <a:t>)#</a:t>
            </a:r>
            <a:r>
              <a:rPr lang="en-US" b="1" dirty="0"/>
              <a:t>enable secret ?</a:t>
            </a:r>
            <a:r>
              <a:rPr lang="en-US" dirty="0"/>
              <a:t> </a:t>
            </a:r>
          </a:p>
          <a:p>
            <a:pPr>
              <a:lnSpc>
                <a:spcPct val="150000"/>
              </a:lnSpc>
              <a:defRPr/>
            </a:pPr>
            <a:r>
              <a:rPr lang="en-US" dirty="0"/>
              <a:t>0 Specifies an UNENCRYPTED password will follow </a:t>
            </a:r>
          </a:p>
          <a:p>
            <a:pPr>
              <a:lnSpc>
                <a:spcPct val="150000"/>
              </a:lnSpc>
              <a:defRPr/>
            </a:pPr>
            <a:r>
              <a:rPr lang="en-US" dirty="0"/>
              <a:t>5 Specifies a MD5 HASHED secret will follow </a:t>
            </a:r>
          </a:p>
          <a:p>
            <a:pPr>
              <a:lnSpc>
                <a:spcPct val="150000"/>
              </a:lnSpc>
              <a:defRPr/>
            </a:pPr>
            <a:r>
              <a:rPr lang="en-US" dirty="0"/>
              <a:t>8 Specifies a PBKDF2 HASHED secret will follow</a:t>
            </a:r>
          </a:p>
          <a:p>
            <a:pPr>
              <a:lnSpc>
                <a:spcPct val="150000"/>
              </a:lnSpc>
              <a:defRPr/>
            </a:pPr>
            <a:r>
              <a:rPr lang="en-US" dirty="0"/>
              <a:t>9 Specifies a SCRYPT HASHED secret will follow </a:t>
            </a:r>
          </a:p>
          <a:p>
            <a:pPr>
              <a:lnSpc>
                <a:spcPct val="150000"/>
              </a:lnSpc>
              <a:defRPr/>
            </a:pPr>
            <a:r>
              <a:rPr lang="en-US" dirty="0"/>
              <a:t>LINE The UNENCRYPTED (</a:t>
            </a:r>
            <a:r>
              <a:rPr lang="en-US" dirty="0" err="1"/>
              <a:t>cleartext</a:t>
            </a:r>
            <a:r>
              <a:rPr lang="en-US" dirty="0"/>
              <a:t>) 'enable' secret </a:t>
            </a:r>
          </a:p>
          <a:p>
            <a:pPr>
              <a:lnSpc>
                <a:spcPct val="150000"/>
              </a:lnSpc>
              <a:defRPr/>
            </a:pPr>
            <a:r>
              <a:rPr lang="en-US" dirty="0"/>
              <a:t>level Set exec level password</a:t>
            </a:r>
          </a:p>
        </p:txBody>
      </p:sp>
      <p:sp>
        <p:nvSpPr>
          <p:cNvPr id="11274" name="TextBox 6">
            <a:extLst>
              <a:ext uri="{FF2B5EF4-FFF2-40B4-BE49-F238E27FC236}">
                <a16:creationId xmlns:a16="http://schemas.microsoft.com/office/drawing/2014/main" id="{BC6C39AD-2878-9243-4539-ECBF965F3AA3}"/>
              </a:ext>
            </a:extLst>
          </p:cNvPr>
          <p:cNvSpPr txBox="1">
            <a:spLocks noChangeArrowheads="1"/>
          </p:cNvSpPr>
          <p:nvPr/>
        </p:nvSpPr>
        <p:spPr bwMode="auto">
          <a:xfrm>
            <a:off x="584201" y="5486401"/>
            <a:ext cx="100584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Above you can see this switch supports MD5, PBKDF2 and SCRYPT hashes. Older IOS devices only support MD5 authentication.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50F577-E2CD-17A8-9981-C511EC22512B}"/>
              </a:ext>
            </a:extLst>
          </p:cNvPr>
          <p:cNvSpPr txBox="1"/>
          <p:nvPr/>
        </p:nvSpPr>
        <p:spPr>
          <a:xfrm>
            <a:off x="584201" y="1549400"/>
            <a:ext cx="10617200" cy="1160382"/>
          </a:xfrm>
          <a:prstGeom prst="rect">
            <a:avLst/>
          </a:prstGeom>
          <a:noFill/>
        </p:spPr>
        <p:txBody>
          <a:bodyPr>
            <a:spAutoFit/>
          </a:bodyPr>
          <a:lstStyle/>
          <a:p>
            <a:pPr>
              <a:defRPr/>
            </a:pPr>
            <a:r>
              <a:rPr lang="en-US" dirty="0">
                <a:cs typeface="Arial" charset="0"/>
              </a:rPr>
              <a:t>Secret:</a:t>
            </a:r>
          </a:p>
          <a:p>
            <a:pPr marL="285750" indent="-285750">
              <a:lnSpc>
                <a:spcPct val="150000"/>
              </a:lnSpc>
              <a:buFont typeface="Arial" pitchFamily="34" charset="0"/>
              <a:buChar char="•"/>
              <a:defRPr/>
            </a:pPr>
            <a:r>
              <a:rPr lang="en-US" dirty="0">
                <a:cs typeface="Arial" charset="0"/>
              </a:rPr>
              <a:t>Cisco IOS supports something called a </a:t>
            </a:r>
            <a:r>
              <a:rPr lang="en-US" b="1" dirty="0">
                <a:cs typeface="Arial" charset="0"/>
              </a:rPr>
              <a:t>secret</a:t>
            </a:r>
            <a:r>
              <a:rPr lang="en-US" dirty="0">
                <a:cs typeface="Arial" charset="0"/>
              </a:rPr>
              <a:t> as an alternative to the password. Let’s try this for the enable mode:</a:t>
            </a:r>
          </a:p>
        </p:txBody>
      </p:sp>
      <p:sp>
        <p:nvSpPr>
          <p:cNvPr id="6" name="TextBox 5">
            <a:extLst>
              <a:ext uri="{FF2B5EF4-FFF2-40B4-BE49-F238E27FC236}">
                <a16:creationId xmlns:a16="http://schemas.microsoft.com/office/drawing/2014/main" id="{1DE0A1A9-A315-9D6F-18A2-D6891CB09408}"/>
              </a:ext>
            </a:extLst>
          </p:cNvPr>
          <p:cNvSpPr txBox="1"/>
          <p:nvPr/>
        </p:nvSpPr>
        <p:spPr>
          <a:xfrm>
            <a:off x="685801" y="2667000"/>
            <a:ext cx="8839200" cy="1714380"/>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a:t>Switch(</a:t>
            </a:r>
            <a:r>
              <a:rPr lang="en-US" dirty="0" err="1"/>
              <a:t>config</a:t>
            </a:r>
            <a:r>
              <a:rPr lang="en-US" dirty="0"/>
              <a:t>)#</a:t>
            </a:r>
            <a:r>
              <a:rPr lang="en-US" b="1" dirty="0"/>
              <a:t>enable secret cisco</a:t>
            </a:r>
          </a:p>
          <a:p>
            <a:pPr>
              <a:lnSpc>
                <a:spcPct val="150000"/>
              </a:lnSpc>
              <a:defRPr/>
            </a:pPr>
            <a:endParaRPr lang="en-US" b="1" dirty="0"/>
          </a:p>
          <a:p>
            <a:pPr>
              <a:lnSpc>
                <a:spcPct val="150000"/>
              </a:lnSpc>
              <a:defRPr/>
            </a:pPr>
            <a:r>
              <a:rPr lang="en-US" dirty="0" err="1"/>
              <a:t>Switch#</a:t>
            </a:r>
            <a:r>
              <a:rPr lang="en-US" b="1" dirty="0" err="1"/>
              <a:t>show</a:t>
            </a:r>
            <a:r>
              <a:rPr lang="en-US" b="1" dirty="0"/>
              <a:t> running-</a:t>
            </a:r>
            <a:r>
              <a:rPr lang="en-US" b="1" dirty="0" err="1"/>
              <a:t>config</a:t>
            </a:r>
            <a:r>
              <a:rPr lang="en-US" b="1" dirty="0"/>
              <a:t> | include secret</a:t>
            </a:r>
            <a:r>
              <a:rPr lang="en-US" dirty="0"/>
              <a:t> </a:t>
            </a:r>
          </a:p>
          <a:p>
            <a:pPr>
              <a:lnSpc>
                <a:spcPct val="150000"/>
              </a:lnSpc>
              <a:defRPr/>
            </a:pPr>
            <a:r>
              <a:rPr lang="en-US" dirty="0">
                <a:solidFill>
                  <a:srgbClr val="DE0000"/>
                </a:solidFill>
              </a:rPr>
              <a:t>enable secret 5 $1$CANW$U9Y8O6KeFhrFR4l1Qo07h/</a:t>
            </a:r>
          </a:p>
        </p:txBody>
      </p:sp>
      <p:sp>
        <p:nvSpPr>
          <p:cNvPr id="12298" name="TextBox 6">
            <a:extLst>
              <a:ext uri="{FF2B5EF4-FFF2-40B4-BE49-F238E27FC236}">
                <a16:creationId xmlns:a16="http://schemas.microsoft.com/office/drawing/2014/main" id="{2F92E21F-056C-6E08-8746-584CE47D4C06}"/>
              </a:ext>
            </a:extLst>
          </p:cNvPr>
          <p:cNvSpPr txBox="1">
            <a:spLocks noChangeArrowheads="1"/>
          </p:cNvSpPr>
          <p:nvPr/>
        </p:nvSpPr>
        <p:spPr bwMode="auto">
          <a:xfrm>
            <a:off x="582613" y="4386264"/>
            <a:ext cx="1016158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buFont typeface="Arial" panose="020B0604020202020204" pitchFamily="34" charset="0"/>
              <a:buChar char="•"/>
            </a:pPr>
            <a:r>
              <a:rPr lang="en-US" altLang="en-US"/>
              <a:t>You now find an MD5 hash in the configuration. The “5” that you see behind “enable secret” is the algorithm that we use, 5 means MD5.</a:t>
            </a:r>
          </a:p>
          <a:p>
            <a:pPr eaLnBrk="1" hangingPunct="1">
              <a:lnSpc>
                <a:spcPct val="150000"/>
              </a:lnSpc>
              <a:buFont typeface="Arial" panose="020B0604020202020204" pitchFamily="34" charset="0"/>
              <a:buChar char="•"/>
            </a:pPr>
            <a:r>
              <a:rPr lang="en-US" altLang="en-US"/>
              <a:t>MD5 is not considered secure nowadays. It’s very easy to </a:t>
            </a:r>
            <a:r>
              <a:rPr lang="en-US" altLang="en-US" b="1"/>
              <a:t>brute force </a:t>
            </a:r>
            <a:r>
              <a:rPr lang="en-US" altLang="en-US"/>
              <a:t>simple passwords. For example, try </a:t>
            </a:r>
            <a:r>
              <a:rPr lang="en-US" altLang="en-US">
                <a:hlinkClick r:id="rId3"/>
              </a:rPr>
              <a:t>this website</a:t>
            </a:r>
            <a:r>
              <a:rPr lang="en-US" altLang="en-US"/>
              <a:t> for the MD5 hash that was created for my secret “cisco”. It will only take a few seconds to recover.</a:t>
            </a:r>
          </a:p>
        </p:txBody>
      </p:sp>
      <p:sp>
        <p:nvSpPr>
          <p:cNvPr id="2" name="Title 1">
            <a:extLst>
              <a:ext uri="{FF2B5EF4-FFF2-40B4-BE49-F238E27FC236}">
                <a16:creationId xmlns:a16="http://schemas.microsoft.com/office/drawing/2014/main" id="{1C7FFE7E-15D2-712A-7B6A-0D0B7AEB0804}"/>
              </a:ext>
            </a:extLst>
          </p:cNvPr>
          <p:cNvSpPr>
            <a:spLocks noGrp="1"/>
          </p:cNvSpPr>
          <p:nvPr>
            <p:ph type="title"/>
          </p:nvPr>
        </p:nvSpPr>
        <p:spPr/>
        <p:txBody>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09FF68-B4A0-9947-0EB1-49AF1D5D3951}"/>
              </a:ext>
            </a:extLst>
          </p:cNvPr>
          <p:cNvSpPr txBox="1"/>
          <p:nvPr/>
        </p:nvSpPr>
        <p:spPr>
          <a:xfrm>
            <a:off x="584201" y="1549400"/>
            <a:ext cx="10617200" cy="1160382"/>
          </a:xfrm>
          <a:prstGeom prst="rect">
            <a:avLst/>
          </a:prstGeom>
          <a:noFill/>
        </p:spPr>
        <p:txBody>
          <a:bodyPr>
            <a:spAutoFit/>
          </a:bodyPr>
          <a:lstStyle/>
          <a:p>
            <a:pPr>
              <a:defRPr/>
            </a:pPr>
            <a:r>
              <a:rPr lang="en-US" dirty="0">
                <a:cs typeface="Arial" charset="0"/>
              </a:rPr>
              <a:t>Secret:</a:t>
            </a:r>
          </a:p>
          <a:p>
            <a:pPr marL="285750" indent="-285750">
              <a:lnSpc>
                <a:spcPct val="150000"/>
              </a:lnSpc>
              <a:buFont typeface="Arial" pitchFamily="34" charset="0"/>
              <a:buChar char="•"/>
              <a:defRPr/>
            </a:pPr>
            <a:r>
              <a:rPr lang="en-US" dirty="0">
                <a:cs typeface="Arial" charset="0"/>
              </a:rPr>
              <a:t>Let’s try one of the other algorithms that are considered secure nowadays. Here’s how you can select the algorithm for the enable mode:</a:t>
            </a:r>
          </a:p>
        </p:txBody>
      </p:sp>
      <p:sp>
        <p:nvSpPr>
          <p:cNvPr id="6" name="TextBox 5">
            <a:extLst>
              <a:ext uri="{FF2B5EF4-FFF2-40B4-BE49-F238E27FC236}">
                <a16:creationId xmlns:a16="http://schemas.microsoft.com/office/drawing/2014/main" id="{C4D626C6-299D-EEBF-65F1-980753BF5473}"/>
              </a:ext>
            </a:extLst>
          </p:cNvPr>
          <p:cNvSpPr txBox="1"/>
          <p:nvPr/>
        </p:nvSpPr>
        <p:spPr>
          <a:xfrm>
            <a:off x="685801" y="2667001"/>
            <a:ext cx="8839200" cy="2233753"/>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200000"/>
              </a:lnSpc>
              <a:defRPr/>
            </a:pPr>
            <a:r>
              <a:rPr lang="en-US" dirty="0"/>
              <a:t>Switch(</a:t>
            </a:r>
            <a:r>
              <a:rPr lang="en-US" dirty="0" err="1"/>
              <a:t>config</a:t>
            </a:r>
            <a:r>
              <a:rPr lang="en-US" dirty="0"/>
              <a:t>)#</a:t>
            </a:r>
            <a:r>
              <a:rPr lang="en-US" b="1" dirty="0"/>
              <a:t>enable algorithm-type ?</a:t>
            </a:r>
            <a:r>
              <a:rPr lang="en-US" dirty="0"/>
              <a:t> </a:t>
            </a:r>
          </a:p>
          <a:p>
            <a:pPr>
              <a:lnSpc>
                <a:spcPct val="200000"/>
              </a:lnSpc>
              <a:defRPr/>
            </a:pPr>
            <a:r>
              <a:rPr lang="en-US" dirty="0"/>
              <a:t>md5 Encode the password using the MD5 algorithm </a:t>
            </a:r>
          </a:p>
          <a:p>
            <a:pPr>
              <a:lnSpc>
                <a:spcPct val="200000"/>
              </a:lnSpc>
              <a:defRPr/>
            </a:pPr>
            <a:r>
              <a:rPr lang="en-US" dirty="0" err="1"/>
              <a:t>scrypt</a:t>
            </a:r>
            <a:r>
              <a:rPr lang="en-US" dirty="0"/>
              <a:t> Encode the password using the SCRYPT hashing algorithm </a:t>
            </a:r>
          </a:p>
          <a:p>
            <a:pPr>
              <a:lnSpc>
                <a:spcPct val="200000"/>
              </a:lnSpc>
              <a:defRPr/>
            </a:pPr>
            <a:r>
              <a:rPr lang="en-US" dirty="0"/>
              <a:t>sha256 Encode the password using the PBKDF2 hashing algorithm</a:t>
            </a:r>
          </a:p>
        </p:txBody>
      </p:sp>
      <p:sp>
        <p:nvSpPr>
          <p:cNvPr id="13322" name="TextBox 6">
            <a:extLst>
              <a:ext uri="{FF2B5EF4-FFF2-40B4-BE49-F238E27FC236}">
                <a16:creationId xmlns:a16="http://schemas.microsoft.com/office/drawing/2014/main" id="{D4C726D6-2580-7885-B371-B5953D5BFDDF}"/>
              </a:ext>
            </a:extLst>
          </p:cNvPr>
          <p:cNvSpPr txBox="1">
            <a:spLocks noChangeArrowheads="1"/>
          </p:cNvSpPr>
          <p:nvPr/>
        </p:nvSpPr>
        <p:spPr bwMode="auto">
          <a:xfrm>
            <a:off x="582613" y="5070476"/>
            <a:ext cx="101615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buFont typeface="Arial" panose="020B0604020202020204" pitchFamily="34" charset="0"/>
              <a:buChar char="•"/>
            </a:pPr>
            <a:r>
              <a:rPr lang="en-US" altLang="en-US"/>
              <a:t>Let’s try the PBKDF2 (SHA256) hashing algorithm: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58E2DB-39E6-D7A9-F548-D3D04847DF14}"/>
              </a:ext>
            </a:extLst>
          </p:cNvPr>
          <p:cNvSpPr txBox="1"/>
          <p:nvPr/>
        </p:nvSpPr>
        <p:spPr>
          <a:xfrm>
            <a:off x="584201" y="1549400"/>
            <a:ext cx="10617200" cy="738188"/>
          </a:xfrm>
          <a:prstGeom prst="rect">
            <a:avLst/>
          </a:prstGeom>
          <a:noFill/>
        </p:spPr>
        <p:txBody>
          <a:bodyPr>
            <a:spAutoFit/>
          </a:bodyPr>
          <a:lstStyle/>
          <a:p>
            <a:pPr>
              <a:defRPr/>
            </a:pPr>
            <a:r>
              <a:rPr lang="en-US" dirty="0">
                <a:cs typeface="Arial" charset="0"/>
              </a:rPr>
              <a:t>Secret:</a:t>
            </a:r>
          </a:p>
          <a:p>
            <a:pPr marL="285750" indent="-285750">
              <a:lnSpc>
                <a:spcPct val="150000"/>
              </a:lnSpc>
              <a:buFont typeface="Arial" pitchFamily="34" charset="0"/>
              <a:buChar char="•"/>
              <a:defRPr/>
            </a:pPr>
            <a:r>
              <a:rPr lang="en-US" dirty="0">
                <a:cs typeface="Arial" charset="0"/>
              </a:rPr>
              <a:t>Let’s try the PBKDF2 (SHA256) hashing algorithm:</a:t>
            </a:r>
          </a:p>
        </p:txBody>
      </p:sp>
      <p:sp>
        <p:nvSpPr>
          <p:cNvPr id="6" name="TextBox 5">
            <a:extLst>
              <a:ext uri="{FF2B5EF4-FFF2-40B4-BE49-F238E27FC236}">
                <a16:creationId xmlns:a16="http://schemas.microsoft.com/office/drawing/2014/main" id="{C0709E05-A814-F8C6-6C33-914BDFCD6E57}"/>
              </a:ext>
            </a:extLst>
          </p:cNvPr>
          <p:cNvSpPr txBox="1"/>
          <p:nvPr/>
        </p:nvSpPr>
        <p:spPr>
          <a:xfrm>
            <a:off x="685801" y="2667000"/>
            <a:ext cx="8839200" cy="571054"/>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200000"/>
              </a:lnSpc>
              <a:defRPr/>
            </a:pPr>
            <a:r>
              <a:rPr lang="en-US" dirty="0"/>
              <a:t>Switch(</a:t>
            </a:r>
            <a:r>
              <a:rPr lang="en-US" dirty="0" err="1"/>
              <a:t>config</a:t>
            </a:r>
            <a:r>
              <a:rPr lang="en-US" dirty="0"/>
              <a:t>)#</a:t>
            </a:r>
            <a:r>
              <a:rPr lang="en-US" b="1" dirty="0"/>
              <a:t>enable algorithm-type sha256 secret cisco</a:t>
            </a:r>
            <a:endParaRPr lang="en-US" dirty="0"/>
          </a:p>
        </p:txBody>
      </p:sp>
      <p:sp>
        <p:nvSpPr>
          <p:cNvPr id="14346" name="TextBox 6">
            <a:extLst>
              <a:ext uri="{FF2B5EF4-FFF2-40B4-BE49-F238E27FC236}">
                <a16:creationId xmlns:a16="http://schemas.microsoft.com/office/drawing/2014/main" id="{A5E323BE-6C98-68E5-23F7-45B19DF57AA2}"/>
              </a:ext>
            </a:extLst>
          </p:cNvPr>
          <p:cNvSpPr txBox="1">
            <a:spLocks noChangeArrowheads="1"/>
          </p:cNvSpPr>
          <p:nvPr/>
        </p:nvSpPr>
        <p:spPr bwMode="auto">
          <a:xfrm>
            <a:off x="582613" y="3429001"/>
            <a:ext cx="101615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buFont typeface="Arial" panose="020B0604020202020204" pitchFamily="34" charset="0"/>
              <a:buChar char="•"/>
            </a:pPr>
            <a:r>
              <a:rPr lang="en-US" altLang="en-US"/>
              <a:t>When we look at our configuration, we’ll see the new hash:</a:t>
            </a:r>
          </a:p>
        </p:txBody>
      </p:sp>
      <p:sp>
        <p:nvSpPr>
          <p:cNvPr id="4" name="TextBox 3">
            <a:extLst>
              <a:ext uri="{FF2B5EF4-FFF2-40B4-BE49-F238E27FC236}">
                <a16:creationId xmlns:a16="http://schemas.microsoft.com/office/drawing/2014/main" id="{59240E0B-2B7D-016A-E61D-11DCBE8DF564}"/>
              </a:ext>
            </a:extLst>
          </p:cNvPr>
          <p:cNvSpPr txBox="1"/>
          <p:nvPr/>
        </p:nvSpPr>
        <p:spPr>
          <a:xfrm>
            <a:off x="685801" y="4038600"/>
            <a:ext cx="8170862" cy="129888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err="1"/>
              <a:t>Switch#</a:t>
            </a:r>
            <a:r>
              <a:rPr lang="en-US" b="1" dirty="0" err="1"/>
              <a:t>show</a:t>
            </a:r>
            <a:r>
              <a:rPr lang="en-US" b="1" dirty="0"/>
              <a:t> running-</a:t>
            </a:r>
            <a:r>
              <a:rPr lang="en-US" b="1" dirty="0" err="1"/>
              <a:t>config</a:t>
            </a:r>
            <a:r>
              <a:rPr lang="en-US" b="1" dirty="0"/>
              <a:t> | include secret</a:t>
            </a:r>
            <a:r>
              <a:rPr lang="en-US" dirty="0"/>
              <a:t> </a:t>
            </a:r>
          </a:p>
          <a:p>
            <a:pPr>
              <a:lnSpc>
                <a:spcPct val="150000"/>
              </a:lnSpc>
              <a:defRPr/>
            </a:pPr>
            <a:r>
              <a:rPr lang="en-US" dirty="0">
                <a:solidFill>
                  <a:srgbClr val="DE0000"/>
                </a:solidFill>
              </a:rPr>
              <a:t>enable secret 8 $8$dvX/</a:t>
            </a:r>
            <a:r>
              <a:rPr lang="en-US" dirty="0" err="1">
                <a:solidFill>
                  <a:srgbClr val="DE0000"/>
                </a:solidFill>
              </a:rPr>
              <a:t>fx</a:t>
            </a:r>
            <a:r>
              <a:rPr lang="en-US" dirty="0">
                <a:solidFill>
                  <a:srgbClr val="DE0000"/>
                </a:solidFill>
              </a:rPr>
              <a:t>/FJ0Snk2$HhqrOUaEtBgk4zJvG2IQuAJNUicZmmELelC/L6.Fcl2</a:t>
            </a:r>
          </a:p>
        </p:txBody>
      </p:sp>
      <p:sp>
        <p:nvSpPr>
          <p:cNvPr id="14348" name="TextBox 4">
            <a:extLst>
              <a:ext uri="{FF2B5EF4-FFF2-40B4-BE49-F238E27FC236}">
                <a16:creationId xmlns:a16="http://schemas.microsoft.com/office/drawing/2014/main" id="{DC388782-F3D5-A300-B79A-7F529BDEBE81}"/>
              </a:ext>
            </a:extLst>
          </p:cNvPr>
          <p:cNvSpPr txBox="1">
            <a:spLocks noChangeArrowheads="1"/>
          </p:cNvSpPr>
          <p:nvPr/>
        </p:nvSpPr>
        <p:spPr bwMode="auto">
          <a:xfrm>
            <a:off x="762002" y="5181600"/>
            <a:ext cx="79073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The “8” behind “enable secret” refers to the PBKDF2 hashing algorithm that we used.</a:t>
            </a:r>
          </a:p>
        </p:txBody>
      </p:sp>
      <p:sp>
        <p:nvSpPr>
          <p:cNvPr id="2" name="Title 1">
            <a:extLst>
              <a:ext uri="{FF2B5EF4-FFF2-40B4-BE49-F238E27FC236}">
                <a16:creationId xmlns:a16="http://schemas.microsoft.com/office/drawing/2014/main" id="{E3DEAC8B-B018-11B6-2303-3462EA011F8C}"/>
              </a:ext>
            </a:extLst>
          </p:cNvPr>
          <p:cNvSpPr>
            <a:spLocks noGrp="1"/>
          </p:cNvSpPr>
          <p:nvPr>
            <p:ph type="title"/>
          </p:nvPr>
        </p:nvSpPr>
        <p:spPr/>
        <p:txBody>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B80696-E668-A6E2-3629-765CA9BF9A05}"/>
              </a:ext>
            </a:extLst>
          </p:cNvPr>
          <p:cNvSpPr txBox="1"/>
          <p:nvPr/>
        </p:nvSpPr>
        <p:spPr>
          <a:xfrm>
            <a:off x="584201" y="1549401"/>
            <a:ext cx="10617200" cy="1575881"/>
          </a:xfrm>
          <a:prstGeom prst="rect">
            <a:avLst/>
          </a:prstGeom>
          <a:noFill/>
        </p:spPr>
        <p:txBody>
          <a:bodyPr>
            <a:spAutoFit/>
          </a:bodyPr>
          <a:lstStyle/>
          <a:p>
            <a:pPr>
              <a:defRPr/>
            </a:pPr>
            <a:r>
              <a:rPr lang="en-US" dirty="0">
                <a:cs typeface="Arial" charset="0"/>
              </a:rPr>
              <a:t>Secret:</a:t>
            </a:r>
          </a:p>
          <a:p>
            <a:pPr marL="285750" indent="-285750">
              <a:lnSpc>
                <a:spcPct val="150000"/>
              </a:lnSpc>
              <a:buFont typeface="Arial" pitchFamily="34" charset="0"/>
              <a:buChar char="•"/>
              <a:defRPr/>
            </a:pPr>
            <a:r>
              <a:rPr lang="en-US" dirty="0">
                <a:cs typeface="Arial" charset="0"/>
              </a:rPr>
              <a:t>Let’s try the PBKDF2 (SHA256) hashing algorithm:</a:t>
            </a:r>
          </a:p>
          <a:p>
            <a:pPr marL="285750" indent="-285750">
              <a:lnSpc>
                <a:spcPct val="150000"/>
              </a:lnSpc>
              <a:buFont typeface="Arial" pitchFamily="34" charset="0"/>
              <a:buChar char="•"/>
              <a:defRPr/>
            </a:pPr>
            <a:r>
              <a:rPr lang="en-US" dirty="0">
                <a:cs typeface="Arial" charset="0"/>
              </a:rPr>
              <a:t>In the example above I changed the hashing algorithm for the enable mode but we can also do this for usernames. Here’s an example:</a:t>
            </a:r>
          </a:p>
        </p:txBody>
      </p:sp>
      <p:sp>
        <p:nvSpPr>
          <p:cNvPr id="6" name="TextBox 5">
            <a:extLst>
              <a:ext uri="{FF2B5EF4-FFF2-40B4-BE49-F238E27FC236}">
                <a16:creationId xmlns:a16="http://schemas.microsoft.com/office/drawing/2014/main" id="{E8B40445-74B4-8056-5287-3DF0187C310F}"/>
              </a:ext>
            </a:extLst>
          </p:cNvPr>
          <p:cNvSpPr txBox="1"/>
          <p:nvPr/>
        </p:nvSpPr>
        <p:spPr>
          <a:xfrm>
            <a:off x="685801" y="2667001"/>
            <a:ext cx="8839200" cy="467179"/>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a:t>Switch(</a:t>
            </a:r>
            <a:r>
              <a:rPr lang="en-US" dirty="0" err="1"/>
              <a:t>config</a:t>
            </a:r>
            <a:r>
              <a:rPr lang="en-US" dirty="0"/>
              <a:t>)#</a:t>
            </a:r>
            <a:r>
              <a:rPr lang="en-US" b="1" dirty="0"/>
              <a:t>username </a:t>
            </a:r>
            <a:r>
              <a:rPr lang="en-US" b="1" dirty="0" err="1"/>
              <a:t>zain</a:t>
            </a:r>
            <a:r>
              <a:rPr lang="en-US" b="1" dirty="0"/>
              <a:t> algorithm-type sha256 secret cisco</a:t>
            </a:r>
            <a:endParaRPr lang="en-US" dirty="0"/>
          </a:p>
        </p:txBody>
      </p:sp>
      <p:sp>
        <p:nvSpPr>
          <p:cNvPr id="15370" name="TextBox 6">
            <a:extLst>
              <a:ext uri="{FF2B5EF4-FFF2-40B4-BE49-F238E27FC236}">
                <a16:creationId xmlns:a16="http://schemas.microsoft.com/office/drawing/2014/main" id="{F028C681-4C93-07BB-51D3-4D0A225AAC96}"/>
              </a:ext>
            </a:extLst>
          </p:cNvPr>
          <p:cNvSpPr txBox="1">
            <a:spLocks noChangeArrowheads="1"/>
          </p:cNvSpPr>
          <p:nvPr/>
        </p:nvSpPr>
        <p:spPr bwMode="auto">
          <a:xfrm>
            <a:off x="582613" y="3429001"/>
            <a:ext cx="101615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buFont typeface="Arial" panose="020B0604020202020204" pitchFamily="34" charset="0"/>
              <a:buChar char="•"/>
            </a:pPr>
            <a:r>
              <a:rPr lang="en-US" altLang="en-US"/>
              <a:t>My username now uses SHA256 as well for password “cisco”. Here’s what it looks like:</a:t>
            </a:r>
          </a:p>
        </p:txBody>
      </p:sp>
      <p:sp>
        <p:nvSpPr>
          <p:cNvPr id="4" name="TextBox 3">
            <a:extLst>
              <a:ext uri="{FF2B5EF4-FFF2-40B4-BE49-F238E27FC236}">
                <a16:creationId xmlns:a16="http://schemas.microsoft.com/office/drawing/2014/main" id="{E5271359-C930-B700-9AD8-A6205FD3EE5D}"/>
              </a:ext>
            </a:extLst>
          </p:cNvPr>
          <p:cNvSpPr txBox="1"/>
          <p:nvPr/>
        </p:nvSpPr>
        <p:spPr>
          <a:xfrm>
            <a:off x="685801" y="4038600"/>
            <a:ext cx="8839200" cy="1016000"/>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200000"/>
              </a:lnSpc>
              <a:defRPr/>
            </a:pPr>
            <a:r>
              <a:rPr lang="en-US" dirty="0" err="1"/>
              <a:t>Switch#</a:t>
            </a:r>
            <a:r>
              <a:rPr lang="en-US" b="1" dirty="0" err="1"/>
              <a:t>show</a:t>
            </a:r>
            <a:r>
              <a:rPr lang="en-US" b="1" dirty="0"/>
              <a:t> running-</a:t>
            </a:r>
            <a:r>
              <a:rPr lang="en-US" b="1" dirty="0" err="1"/>
              <a:t>config</a:t>
            </a:r>
            <a:r>
              <a:rPr lang="en-US" b="1" dirty="0"/>
              <a:t> | include </a:t>
            </a:r>
            <a:r>
              <a:rPr lang="en-US" b="1" dirty="0" err="1"/>
              <a:t>rene</a:t>
            </a:r>
            <a:r>
              <a:rPr lang="en-US" b="1" dirty="0"/>
              <a:t> </a:t>
            </a:r>
          </a:p>
          <a:p>
            <a:pPr>
              <a:lnSpc>
                <a:spcPct val="200000"/>
              </a:lnSpc>
              <a:defRPr/>
            </a:pPr>
            <a:r>
              <a:rPr lang="en-US" sz="1400" dirty="0">
                <a:solidFill>
                  <a:srgbClr val="DE0000"/>
                </a:solidFill>
              </a:rPr>
              <a:t>username </a:t>
            </a:r>
            <a:r>
              <a:rPr lang="en-US" sz="1400" dirty="0" err="1">
                <a:solidFill>
                  <a:srgbClr val="DE0000"/>
                </a:solidFill>
              </a:rPr>
              <a:t>zain</a:t>
            </a:r>
            <a:r>
              <a:rPr lang="en-US" sz="1400" dirty="0">
                <a:solidFill>
                  <a:srgbClr val="DE0000"/>
                </a:solidFill>
              </a:rPr>
              <a:t> secret 8 $8$dyzsAmZjA3w.aY$YBZn8LBI6CK04ij5ZmqQ/88OrFdc3jzGb6v7SSQI0cw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85052697-DC34-4B7C-7789-834209F76719}"/>
              </a:ext>
            </a:extLst>
          </p:cNvPr>
          <p:cNvSpPr>
            <a:spLocks noGrp="1"/>
          </p:cNvSpPr>
          <p:nvPr>
            <p:ph type="title"/>
          </p:nvPr>
        </p:nvSpPr>
        <p:spPr>
          <a:xfrm>
            <a:off x="1589" y="533400"/>
            <a:ext cx="12188825" cy="762000"/>
          </a:xfrm>
        </p:spPr>
        <p:txBody>
          <a:bodyPr/>
          <a:lstStyle/>
          <a:p>
            <a:pPr eaLnBrk="1" hangingPunct="1"/>
            <a:r>
              <a:rPr lang="en-US" altLang="en-US" dirty="0"/>
              <a:t>Remote Access with SSH &amp; Telnet</a:t>
            </a:r>
          </a:p>
        </p:txBody>
      </p:sp>
      <p:sp>
        <p:nvSpPr>
          <p:cNvPr id="2055" name="TextBox 3">
            <a:extLst>
              <a:ext uri="{FF2B5EF4-FFF2-40B4-BE49-F238E27FC236}">
                <a16:creationId xmlns:a16="http://schemas.microsoft.com/office/drawing/2014/main" id="{AF8986E9-E7BA-1886-CE01-38238C31D952}"/>
              </a:ext>
            </a:extLst>
          </p:cNvPr>
          <p:cNvSpPr txBox="1">
            <a:spLocks noChangeArrowheads="1"/>
          </p:cNvSpPr>
          <p:nvPr/>
        </p:nvSpPr>
        <p:spPr bwMode="auto">
          <a:xfrm>
            <a:off x="685801" y="1519238"/>
            <a:ext cx="10363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Remote Access with Telnet </a:t>
            </a:r>
          </a:p>
        </p:txBody>
      </p:sp>
      <p:sp>
        <p:nvSpPr>
          <p:cNvPr id="2057" name="TextBox 3">
            <a:extLst>
              <a:ext uri="{FF2B5EF4-FFF2-40B4-BE49-F238E27FC236}">
                <a16:creationId xmlns:a16="http://schemas.microsoft.com/office/drawing/2014/main" id="{4CA86522-E47B-FE09-256A-78F633CD415F}"/>
              </a:ext>
            </a:extLst>
          </p:cNvPr>
          <p:cNvSpPr txBox="1">
            <a:spLocks noChangeArrowheads="1"/>
          </p:cNvSpPr>
          <p:nvPr/>
        </p:nvSpPr>
        <p:spPr bwMode="auto">
          <a:xfrm>
            <a:off x="658813" y="2133601"/>
            <a:ext cx="9323388"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buFont typeface="Arial" panose="020B0604020202020204" pitchFamily="34" charset="0"/>
              <a:buChar char="•"/>
            </a:pPr>
            <a:r>
              <a:rPr lang="en-US" altLang="en-US"/>
              <a:t>There are two common protocols for remote management to your Cisco IOS router or switch: telnet and SSH.</a:t>
            </a:r>
          </a:p>
          <a:p>
            <a:pPr eaLnBrk="1" hangingPunct="1">
              <a:lnSpc>
                <a:spcPct val="150000"/>
              </a:lnSpc>
              <a:buFont typeface="Arial" panose="020B0604020202020204" pitchFamily="34" charset="0"/>
              <a:buChar char="•"/>
            </a:pPr>
            <a:r>
              <a:rPr lang="en-US" altLang="en-US"/>
              <a:t>Telnet is easy to configure but not used often anymore since it is insecure, everything you do is sent in </a:t>
            </a:r>
            <a:r>
              <a:rPr lang="en-US" altLang="en-US" u="sng"/>
              <a:t>plaintext</a:t>
            </a:r>
            <a:r>
              <a:rPr lang="en-US" altLang="en-US"/>
              <a:t> while SSH uses </a:t>
            </a:r>
            <a:r>
              <a:rPr lang="en-US" altLang="en-US" u="sng"/>
              <a:t>encryption</a:t>
            </a:r>
            <a:r>
              <a:rPr lang="en-US" altLang="en-US"/>
              <a:t>. However, some older devices might only support telnet, so it’s good to know how to configure it. Besides remote management, the telnet client is also very useful to test access-lists, routing and if certain ports are listening or not.</a:t>
            </a:r>
          </a:p>
          <a:p>
            <a:pPr eaLnBrk="1" hangingPunct="1">
              <a:lnSpc>
                <a:spcPct val="150000"/>
              </a:lnSpc>
              <a:buFont typeface="Arial" panose="020B0604020202020204" pitchFamily="34" charset="0"/>
              <a:buChar char="•"/>
            </a:pPr>
            <a:endParaRPr lang="en-US" altLang="en-US"/>
          </a:p>
          <a:p>
            <a:pPr eaLnBrk="1" hangingPunct="1">
              <a:lnSpc>
                <a:spcPct val="150000"/>
              </a:lnSpc>
              <a:buFont typeface="Arial" panose="020B0604020202020204" pitchFamily="34" charset="0"/>
              <a:buChar char="•"/>
            </a:pPr>
            <a:r>
              <a:rPr lang="en-US" altLang="en-US"/>
              <a:t>In this lesson, I’ll show you everything there is to know about telnet.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E8AAB705-7072-3FA0-C07B-5A32214042F5}"/>
              </a:ext>
            </a:extLst>
          </p:cNvPr>
          <p:cNvSpPr txBox="1">
            <a:spLocks noChangeArrowheads="1"/>
          </p:cNvSpPr>
          <p:nvPr/>
        </p:nvSpPr>
        <p:spPr bwMode="auto">
          <a:xfrm>
            <a:off x="685801" y="1519238"/>
            <a:ext cx="100584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Telnet Configuration</a:t>
            </a:r>
          </a:p>
        </p:txBody>
      </p:sp>
      <p:sp>
        <p:nvSpPr>
          <p:cNvPr id="3081" name="TextBox 3">
            <a:extLst>
              <a:ext uri="{FF2B5EF4-FFF2-40B4-BE49-F238E27FC236}">
                <a16:creationId xmlns:a16="http://schemas.microsoft.com/office/drawing/2014/main" id="{916319A9-3E23-3A4F-1C0F-5C82D7F91E81}"/>
              </a:ext>
            </a:extLst>
          </p:cNvPr>
          <p:cNvSpPr txBox="1">
            <a:spLocks noChangeArrowheads="1"/>
          </p:cNvSpPr>
          <p:nvPr/>
        </p:nvSpPr>
        <p:spPr bwMode="auto">
          <a:xfrm>
            <a:off x="658813" y="2133601"/>
            <a:ext cx="9323388"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buFont typeface="Arial" panose="020B0604020202020204" pitchFamily="34" charset="0"/>
              <a:buChar char="•"/>
            </a:pPr>
            <a:r>
              <a:rPr lang="en-US" altLang="en-US"/>
              <a:t>To access a Cisco device using telnet, you first need to enable remote login. Cisco devices usually supports 16 concurrent virtual terminal sessions, so the first command usually looks like this:</a:t>
            </a:r>
          </a:p>
        </p:txBody>
      </p:sp>
      <p:sp>
        <p:nvSpPr>
          <p:cNvPr id="3" name="TextBox 2">
            <a:extLst>
              <a:ext uri="{FF2B5EF4-FFF2-40B4-BE49-F238E27FC236}">
                <a16:creationId xmlns:a16="http://schemas.microsoft.com/office/drawing/2014/main" id="{A7B6AA5E-7BC9-2807-1671-6D90F5DD1C2E}"/>
              </a:ext>
            </a:extLst>
          </p:cNvPr>
          <p:cNvSpPr txBox="1"/>
          <p:nvPr/>
        </p:nvSpPr>
        <p:spPr>
          <a:xfrm>
            <a:off x="914401" y="3048000"/>
            <a:ext cx="9829800" cy="36933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defRPr/>
            </a:pPr>
            <a:r>
              <a:rPr lang="en-US" dirty="0"/>
              <a:t>SW1(</a:t>
            </a:r>
            <a:r>
              <a:rPr lang="en-US" dirty="0" err="1"/>
              <a:t>config</a:t>
            </a:r>
            <a:r>
              <a:rPr lang="en-US" dirty="0"/>
              <a:t>) </a:t>
            </a:r>
            <a:r>
              <a:rPr lang="en-US" b="1" dirty="0"/>
              <a:t>line </a:t>
            </a:r>
            <a:r>
              <a:rPr lang="en-US" b="1" dirty="0" err="1"/>
              <a:t>vty</a:t>
            </a:r>
            <a:r>
              <a:rPr lang="en-US" b="1" dirty="0"/>
              <a:t> 0 15</a:t>
            </a:r>
          </a:p>
        </p:txBody>
      </p:sp>
      <p:sp>
        <p:nvSpPr>
          <p:cNvPr id="3083" name="TextBox 3">
            <a:extLst>
              <a:ext uri="{FF2B5EF4-FFF2-40B4-BE49-F238E27FC236}">
                <a16:creationId xmlns:a16="http://schemas.microsoft.com/office/drawing/2014/main" id="{78B2AE7E-AACC-4D63-A493-5F7FD8063A90}"/>
              </a:ext>
            </a:extLst>
          </p:cNvPr>
          <p:cNvSpPr txBox="1">
            <a:spLocks noChangeArrowheads="1"/>
          </p:cNvSpPr>
          <p:nvPr/>
        </p:nvSpPr>
        <p:spPr bwMode="auto">
          <a:xfrm>
            <a:off x="914402" y="3581400"/>
            <a:ext cx="8397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To enable remote login, the</a:t>
            </a:r>
            <a:r>
              <a:rPr lang="en-US" altLang="en-US" i="1"/>
              <a:t> login</a:t>
            </a:r>
            <a:r>
              <a:rPr lang="en-US" altLang="en-US"/>
              <a:t> command is used from the virtual terminal session mode:</a:t>
            </a:r>
          </a:p>
        </p:txBody>
      </p:sp>
      <p:sp>
        <p:nvSpPr>
          <p:cNvPr id="5" name="TextBox 4">
            <a:extLst>
              <a:ext uri="{FF2B5EF4-FFF2-40B4-BE49-F238E27FC236}">
                <a16:creationId xmlns:a16="http://schemas.microsoft.com/office/drawing/2014/main" id="{6F690B55-15A4-1AF2-54FC-82B6376234E1}"/>
              </a:ext>
            </a:extLst>
          </p:cNvPr>
          <p:cNvSpPr txBox="1"/>
          <p:nvPr/>
        </p:nvSpPr>
        <p:spPr>
          <a:xfrm>
            <a:off x="914401" y="4038600"/>
            <a:ext cx="9829800" cy="36933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defRPr/>
            </a:pPr>
            <a:r>
              <a:rPr lang="en-US" dirty="0"/>
              <a:t>SW1(</a:t>
            </a:r>
            <a:r>
              <a:rPr lang="en-US" dirty="0" err="1"/>
              <a:t>config-vty</a:t>
            </a:r>
            <a:r>
              <a:rPr lang="en-US" dirty="0"/>
              <a:t>) </a:t>
            </a:r>
            <a:r>
              <a:rPr lang="en-US" b="1" dirty="0"/>
              <a:t>login</a:t>
            </a:r>
          </a:p>
        </p:txBody>
      </p:sp>
      <p:sp>
        <p:nvSpPr>
          <p:cNvPr id="3085" name="TextBox 5">
            <a:extLst>
              <a:ext uri="{FF2B5EF4-FFF2-40B4-BE49-F238E27FC236}">
                <a16:creationId xmlns:a16="http://schemas.microsoft.com/office/drawing/2014/main" id="{02CF59F6-57CC-0251-B2CB-36F4B05DD982}"/>
              </a:ext>
            </a:extLst>
          </p:cNvPr>
          <p:cNvSpPr txBox="1">
            <a:spLocks noChangeArrowheads="1"/>
          </p:cNvSpPr>
          <p:nvPr/>
        </p:nvSpPr>
        <p:spPr bwMode="auto">
          <a:xfrm>
            <a:off x="914401" y="4572000"/>
            <a:ext cx="9829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Next, you need to define a password. This is done using the </a:t>
            </a:r>
            <a:r>
              <a:rPr lang="en-US" altLang="en-US" i="1"/>
              <a:t>password</a:t>
            </a:r>
            <a:r>
              <a:rPr lang="en-US" altLang="en-US"/>
              <a:t> command from the virtual terminal session mode:</a:t>
            </a:r>
          </a:p>
        </p:txBody>
      </p:sp>
      <p:sp>
        <p:nvSpPr>
          <p:cNvPr id="7" name="TextBox 6">
            <a:extLst>
              <a:ext uri="{FF2B5EF4-FFF2-40B4-BE49-F238E27FC236}">
                <a16:creationId xmlns:a16="http://schemas.microsoft.com/office/drawing/2014/main" id="{F1A947BE-6DC8-1F56-BE23-819478D3802B}"/>
              </a:ext>
            </a:extLst>
          </p:cNvPr>
          <p:cNvSpPr txBox="1"/>
          <p:nvPr/>
        </p:nvSpPr>
        <p:spPr>
          <a:xfrm>
            <a:off x="914401" y="5257800"/>
            <a:ext cx="9829800" cy="36933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defRPr/>
            </a:pPr>
            <a:r>
              <a:rPr lang="en-US" dirty="0"/>
              <a:t>SW1(</a:t>
            </a:r>
            <a:r>
              <a:rPr lang="en-US" dirty="0" err="1"/>
              <a:t>config-vty</a:t>
            </a:r>
            <a:r>
              <a:rPr lang="en-US" dirty="0"/>
              <a:t>)password </a:t>
            </a:r>
            <a:r>
              <a:rPr lang="en-US" dirty="0" err="1"/>
              <a:t>PASSWORD</a:t>
            </a:r>
            <a:endParaRPr lang="en-US" dirty="0"/>
          </a:p>
        </p:txBody>
      </p:sp>
      <p:sp>
        <p:nvSpPr>
          <p:cNvPr id="3087" name="TextBox 7">
            <a:extLst>
              <a:ext uri="{FF2B5EF4-FFF2-40B4-BE49-F238E27FC236}">
                <a16:creationId xmlns:a16="http://schemas.microsoft.com/office/drawing/2014/main" id="{5B4487A1-1C6C-77C4-071A-D67B6C6D9C95}"/>
              </a:ext>
            </a:extLst>
          </p:cNvPr>
          <p:cNvSpPr txBox="1">
            <a:spLocks noChangeArrowheads="1"/>
          </p:cNvSpPr>
          <p:nvPr/>
        </p:nvSpPr>
        <p:spPr bwMode="auto">
          <a:xfrm>
            <a:off x="981077" y="5867400"/>
            <a:ext cx="84677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Let’s try First, we will try to access the router or switch without enabling telnet on a device: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FD8DBBEE-8D7F-DE96-C486-2A66981A8D54}"/>
              </a:ext>
            </a:extLst>
          </p:cNvPr>
          <p:cNvSpPr txBox="1">
            <a:spLocks noChangeArrowheads="1"/>
          </p:cNvSpPr>
          <p:nvPr/>
        </p:nvSpPr>
        <p:spPr bwMode="auto">
          <a:xfrm>
            <a:off x="685801" y="1519238"/>
            <a:ext cx="100584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Telnet Configuration</a:t>
            </a:r>
          </a:p>
        </p:txBody>
      </p:sp>
      <p:sp>
        <p:nvSpPr>
          <p:cNvPr id="4105" name="TextBox 3">
            <a:extLst>
              <a:ext uri="{FF2B5EF4-FFF2-40B4-BE49-F238E27FC236}">
                <a16:creationId xmlns:a16="http://schemas.microsoft.com/office/drawing/2014/main" id="{73E17E0E-34B3-FFF9-8D78-96731CB3A3A6}"/>
              </a:ext>
            </a:extLst>
          </p:cNvPr>
          <p:cNvSpPr txBox="1">
            <a:spLocks noChangeArrowheads="1"/>
          </p:cNvSpPr>
          <p:nvPr/>
        </p:nvSpPr>
        <p:spPr bwMode="auto">
          <a:xfrm>
            <a:off x="658813" y="2133601"/>
            <a:ext cx="93233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buFont typeface="Arial" panose="020B0604020202020204" pitchFamily="34" charset="0"/>
              <a:buChar char="•"/>
            </a:pPr>
            <a:r>
              <a:rPr lang="en-US" altLang="en-US"/>
              <a:t>Let’s see if it works:</a:t>
            </a:r>
          </a:p>
        </p:txBody>
      </p:sp>
      <p:sp>
        <p:nvSpPr>
          <p:cNvPr id="3" name="TextBox 2">
            <a:extLst>
              <a:ext uri="{FF2B5EF4-FFF2-40B4-BE49-F238E27FC236}">
                <a16:creationId xmlns:a16="http://schemas.microsoft.com/office/drawing/2014/main" id="{63105865-1021-5248-0230-7944BB881772}"/>
              </a:ext>
            </a:extLst>
          </p:cNvPr>
          <p:cNvSpPr txBox="1"/>
          <p:nvPr/>
        </p:nvSpPr>
        <p:spPr>
          <a:xfrm>
            <a:off x="914401" y="2667001"/>
            <a:ext cx="9829800" cy="2129173"/>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err="1"/>
              <a:t>PC#</a:t>
            </a:r>
            <a:r>
              <a:rPr lang="en-US" b="1" dirty="0" err="1"/>
              <a:t>telnet</a:t>
            </a:r>
            <a:r>
              <a:rPr lang="en-US" b="1" dirty="0"/>
              <a:t> 192.168.12.1</a:t>
            </a:r>
            <a:r>
              <a:rPr lang="en-US" dirty="0"/>
              <a:t> </a:t>
            </a:r>
          </a:p>
          <a:p>
            <a:pPr>
              <a:lnSpc>
                <a:spcPct val="150000"/>
              </a:lnSpc>
              <a:defRPr/>
            </a:pPr>
            <a:r>
              <a:rPr lang="en-US" dirty="0"/>
              <a:t>Trying 192.168.12.1 ... </a:t>
            </a:r>
            <a:r>
              <a:rPr lang="en-US" dirty="0">
                <a:solidFill>
                  <a:srgbClr val="FF0000"/>
                </a:solidFill>
              </a:rPr>
              <a:t>Open</a:t>
            </a:r>
          </a:p>
          <a:p>
            <a:pPr>
              <a:lnSpc>
                <a:spcPct val="150000"/>
              </a:lnSpc>
              <a:defRPr/>
            </a:pPr>
            <a:r>
              <a:rPr lang="en-US" dirty="0">
                <a:solidFill>
                  <a:srgbClr val="FF0000"/>
                </a:solidFill>
              </a:rPr>
              <a:t>User Access Verification </a:t>
            </a:r>
          </a:p>
          <a:p>
            <a:pPr>
              <a:lnSpc>
                <a:spcPct val="150000"/>
              </a:lnSpc>
              <a:defRPr/>
            </a:pPr>
            <a:r>
              <a:rPr lang="en-US" dirty="0">
                <a:solidFill>
                  <a:srgbClr val="FF0000"/>
                </a:solidFill>
              </a:rPr>
              <a:t>Password: </a:t>
            </a:r>
          </a:p>
          <a:p>
            <a:pPr>
              <a:lnSpc>
                <a:spcPct val="150000"/>
              </a:lnSpc>
              <a:defRPr/>
            </a:pPr>
            <a:r>
              <a:rPr lang="en-US" dirty="0"/>
              <a:t>SW1&gt;</a:t>
            </a:r>
            <a:endParaRPr lang="en-US" b="1" dirty="0"/>
          </a:p>
        </p:txBody>
      </p:sp>
      <p:sp>
        <p:nvSpPr>
          <p:cNvPr id="4107" name="TextBox 5">
            <a:extLst>
              <a:ext uri="{FF2B5EF4-FFF2-40B4-BE49-F238E27FC236}">
                <a16:creationId xmlns:a16="http://schemas.microsoft.com/office/drawing/2014/main" id="{DAF823A2-7144-7D01-D078-1FFDBD7D2FD7}"/>
              </a:ext>
            </a:extLst>
          </p:cNvPr>
          <p:cNvSpPr txBox="1">
            <a:spLocks noChangeArrowheads="1"/>
          </p:cNvSpPr>
          <p:nvPr/>
        </p:nvSpPr>
        <p:spPr bwMode="auto">
          <a:xfrm>
            <a:off x="914401" y="4891089"/>
            <a:ext cx="9829800" cy="780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Above you can see that I was able to telnet from R2 to R1. Once you see “open” you know that it has successfully established a TCP connection.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4F69FE68-7FC0-04B0-9E2C-BDB2CBB04C52}"/>
              </a:ext>
            </a:extLst>
          </p:cNvPr>
          <p:cNvSpPr txBox="1">
            <a:spLocks noChangeArrowheads="1"/>
          </p:cNvSpPr>
          <p:nvPr/>
        </p:nvSpPr>
        <p:spPr bwMode="auto">
          <a:xfrm>
            <a:off x="685801" y="1519238"/>
            <a:ext cx="100584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Telnet Configuration</a:t>
            </a:r>
          </a:p>
        </p:txBody>
      </p:sp>
      <p:sp>
        <p:nvSpPr>
          <p:cNvPr id="2057" name="TextBox 3">
            <a:extLst>
              <a:ext uri="{FF2B5EF4-FFF2-40B4-BE49-F238E27FC236}">
                <a16:creationId xmlns:a16="http://schemas.microsoft.com/office/drawing/2014/main" id="{08BD87EE-300A-1BBB-29CB-F6FE047DC535}"/>
              </a:ext>
            </a:extLst>
          </p:cNvPr>
          <p:cNvSpPr txBox="1">
            <a:spLocks noChangeArrowheads="1"/>
          </p:cNvSpPr>
          <p:nvPr/>
        </p:nvSpPr>
        <p:spPr bwMode="auto">
          <a:xfrm>
            <a:off x="658813" y="2133600"/>
            <a:ext cx="9323388"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lnSpc>
                <a:spcPct val="150000"/>
              </a:lnSpc>
              <a:defRPr/>
            </a:pPr>
            <a:r>
              <a:rPr lang="en-US" dirty="0"/>
              <a:t>Local Database:</a:t>
            </a:r>
          </a:p>
          <a:p>
            <a:pPr marL="285750" indent="-285750">
              <a:lnSpc>
                <a:spcPct val="150000"/>
              </a:lnSpc>
              <a:buFont typeface="Arial" pitchFamily="34" charset="0"/>
              <a:buChar char="•"/>
              <a:defRPr/>
            </a:pPr>
            <a:r>
              <a:rPr lang="en-US" dirty="0"/>
              <a:t>Instead of using a single password, it’s also possible to use usernames and passwords that are stored in a local database on the router or switch. Multiple users are able to log in with the same password but it’s easier to see who has accessed your device if you use multiple usernames. Here’s how to do this:</a:t>
            </a:r>
          </a:p>
        </p:txBody>
      </p:sp>
      <p:sp>
        <p:nvSpPr>
          <p:cNvPr id="3" name="TextBox 2">
            <a:extLst>
              <a:ext uri="{FF2B5EF4-FFF2-40B4-BE49-F238E27FC236}">
                <a16:creationId xmlns:a16="http://schemas.microsoft.com/office/drawing/2014/main" id="{67F9C2E7-1760-66B3-C3BB-3F7A2D961144}"/>
              </a:ext>
            </a:extLst>
          </p:cNvPr>
          <p:cNvSpPr txBox="1"/>
          <p:nvPr/>
        </p:nvSpPr>
        <p:spPr>
          <a:xfrm>
            <a:off x="914401" y="4267201"/>
            <a:ext cx="9829800" cy="1679049"/>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200000"/>
              </a:lnSpc>
              <a:defRPr/>
            </a:pPr>
            <a:r>
              <a:rPr lang="en-US" dirty="0"/>
              <a:t>SW1(</a:t>
            </a:r>
            <a:r>
              <a:rPr lang="en-US" dirty="0" err="1"/>
              <a:t>config</a:t>
            </a:r>
            <a:r>
              <a:rPr lang="en-US" dirty="0"/>
              <a:t>)#</a:t>
            </a:r>
            <a:r>
              <a:rPr lang="en-US" b="1" dirty="0"/>
              <a:t>line </a:t>
            </a:r>
            <a:r>
              <a:rPr lang="en-US" b="1" dirty="0" err="1"/>
              <a:t>vty</a:t>
            </a:r>
            <a:r>
              <a:rPr lang="en-US" b="1" dirty="0"/>
              <a:t> 0 4</a:t>
            </a:r>
            <a:r>
              <a:rPr lang="en-US" dirty="0"/>
              <a:t> </a:t>
            </a:r>
          </a:p>
          <a:p>
            <a:pPr>
              <a:lnSpc>
                <a:spcPct val="200000"/>
              </a:lnSpc>
              <a:defRPr/>
            </a:pPr>
            <a:r>
              <a:rPr lang="en-US" dirty="0"/>
              <a:t>SW1(</a:t>
            </a:r>
            <a:r>
              <a:rPr lang="en-US" dirty="0" err="1"/>
              <a:t>config</a:t>
            </a:r>
            <a:r>
              <a:rPr lang="en-US" dirty="0"/>
              <a:t>-line)#</a:t>
            </a:r>
            <a:r>
              <a:rPr lang="en-US" b="1" dirty="0"/>
              <a:t>no password</a:t>
            </a:r>
            <a:r>
              <a:rPr lang="en-US" dirty="0"/>
              <a:t> </a:t>
            </a:r>
          </a:p>
          <a:p>
            <a:pPr>
              <a:lnSpc>
                <a:spcPct val="200000"/>
              </a:lnSpc>
              <a:defRPr/>
            </a:pPr>
            <a:r>
              <a:rPr lang="en-US" dirty="0"/>
              <a:t>SW1(</a:t>
            </a:r>
            <a:r>
              <a:rPr lang="en-US" dirty="0" err="1"/>
              <a:t>config</a:t>
            </a:r>
            <a:r>
              <a:rPr lang="en-US" dirty="0"/>
              <a:t>-line)#</a:t>
            </a:r>
            <a:r>
              <a:rPr lang="en-US" b="1" dirty="0"/>
              <a:t>login local</a:t>
            </a:r>
            <a:endParaRPr lang="en-US" dirty="0"/>
          </a:p>
        </p:txBody>
      </p:sp>
      <p:sp>
        <p:nvSpPr>
          <p:cNvPr id="2" name="Title 1">
            <a:extLst>
              <a:ext uri="{FF2B5EF4-FFF2-40B4-BE49-F238E27FC236}">
                <a16:creationId xmlns:a16="http://schemas.microsoft.com/office/drawing/2014/main" id="{6099ADF2-8574-8EF1-FC7F-CC3DB4854101}"/>
              </a:ext>
            </a:extLst>
          </p:cNvPr>
          <p:cNvSpPr>
            <a:spLocks noGrp="1"/>
          </p:cNvSpPr>
          <p:nvPr>
            <p:ph type="title"/>
          </p:nvPr>
        </p:nvSpPr>
        <p:spPr/>
        <p:txBody>
          <a:bodyP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Slide Number Placeholder 4">
            <a:extLst>
              <a:ext uri="{FF2B5EF4-FFF2-40B4-BE49-F238E27FC236}">
                <a16:creationId xmlns:a16="http://schemas.microsoft.com/office/drawing/2014/main" id="{93CB2FB3-5DC9-4F1F-C19E-A9F535059B38}"/>
              </a:ext>
            </a:extLst>
          </p:cNvPr>
          <p:cNvSpPr>
            <a:spLocks noGrp="1"/>
          </p:cNvSpPr>
          <p:nvPr>
            <p:ph type="sldNum" sz="quarter" idx="11"/>
          </p:nvPr>
        </p:nvSpPr>
        <p:spPr/>
        <p:txBody>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fld id="{9724633B-8D54-42AC-A68F-0059756A6109}" type="slidenum">
              <a:rPr lang="en-US" altLang="en-US" sz="1400">
                <a:latin typeface="Times New Roman" panose="02020603050405020304" pitchFamily="18" charset="0"/>
              </a:rPr>
              <a:pPr eaLnBrk="1" hangingPunct="1"/>
              <a:t>50</a:t>
            </a:fld>
            <a:endParaRPr lang="en-US" altLang="en-US" sz="1400">
              <a:latin typeface="Times New Roman" panose="02020603050405020304" pitchFamily="18" charset="0"/>
            </a:endParaRPr>
          </a:p>
        </p:txBody>
      </p:sp>
      <p:sp>
        <p:nvSpPr>
          <p:cNvPr id="2055" name="TextBox 3">
            <a:extLst>
              <a:ext uri="{FF2B5EF4-FFF2-40B4-BE49-F238E27FC236}">
                <a16:creationId xmlns:a16="http://schemas.microsoft.com/office/drawing/2014/main" id="{B2BC381D-9BAD-E78E-4B8F-2A5CE56D0D74}"/>
              </a:ext>
            </a:extLst>
          </p:cNvPr>
          <p:cNvSpPr txBox="1">
            <a:spLocks noChangeArrowheads="1"/>
          </p:cNvSpPr>
          <p:nvPr/>
        </p:nvSpPr>
        <p:spPr bwMode="auto">
          <a:xfrm>
            <a:off x="685801" y="1519238"/>
            <a:ext cx="100584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Telnet Configuration</a:t>
            </a:r>
          </a:p>
        </p:txBody>
      </p:sp>
      <p:sp>
        <p:nvSpPr>
          <p:cNvPr id="2057" name="TextBox 3">
            <a:extLst>
              <a:ext uri="{FF2B5EF4-FFF2-40B4-BE49-F238E27FC236}">
                <a16:creationId xmlns:a16="http://schemas.microsoft.com/office/drawing/2014/main" id="{1986EE13-5AEC-8A0F-5D30-E683C47E3B09}"/>
              </a:ext>
            </a:extLst>
          </p:cNvPr>
          <p:cNvSpPr txBox="1">
            <a:spLocks noChangeArrowheads="1"/>
          </p:cNvSpPr>
          <p:nvPr/>
        </p:nvSpPr>
        <p:spPr bwMode="auto">
          <a:xfrm>
            <a:off x="658813" y="1981201"/>
            <a:ext cx="9323388" cy="1150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lnSpc>
                <a:spcPct val="150000"/>
              </a:lnSpc>
              <a:defRPr/>
            </a:pPr>
            <a:r>
              <a:rPr lang="en-US" dirty="0"/>
              <a:t>Local Database:</a:t>
            </a:r>
          </a:p>
          <a:p>
            <a:pPr marL="285750" indent="-285750">
              <a:lnSpc>
                <a:spcPct val="150000"/>
              </a:lnSpc>
              <a:buFont typeface="Arial" pitchFamily="34" charset="0"/>
              <a:buChar char="•"/>
              <a:defRPr/>
            </a:pPr>
            <a:r>
              <a:rPr lang="en-US" dirty="0"/>
              <a:t>We need to use the </a:t>
            </a:r>
            <a:r>
              <a:rPr lang="en-US" b="1" dirty="0"/>
              <a:t>login local</a:t>
            </a:r>
            <a:r>
              <a:rPr lang="en-US" dirty="0"/>
              <a:t> command to tell the router/switch to use the local database for authentication. Let’s create a user account:</a:t>
            </a:r>
          </a:p>
        </p:txBody>
      </p:sp>
      <p:sp>
        <p:nvSpPr>
          <p:cNvPr id="3" name="TextBox 2">
            <a:extLst>
              <a:ext uri="{FF2B5EF4-FFF2-40B4-BE49-F238E27FC236}">
                <a16:creationId xmlns:a16="http://schemas.microsoft.com/office/drawing/2014/main" id="{0A443D48-FAE1-FE84-E208-BD2FC096EA7C}"/>
              </a:ext>
            </a:extLst>
          </p:cNvPr>
          <p:cNvSpPr txBox="1"/>
          <p:nvPr/>
        </p:nvSpPr>
        <p:spPr>
          <a:xfrm>
            <a:off x="914401" y="3124201"/>
            <a:ext cx="9829800" cy="467179"/>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a:t>SW1(</a:t>
            </a:r>
            <a:r>
              <a:rPr lang="en-US" dirty="0" err="1"/>
              <a:t>config</a:t>
            </a:r>
            <a:r>
              <a:rPr lang="en-US" dirty="0"/>
              <a:t>)#</a:t>
            </a:r>
            <a:r>
              <a:rPr lang="en-US" b="1" dirty="0"/>
              <a:t>username admin password </a:t>
            </a:r>
            <a:r>
              <a:rPr lang="en-US" b="1" dirty="0" err="1"/>
              <a:t>my_password</a:t>
            </a:r>
            <a:endParaRPr lang="en-US" dirty="0"/>
          </a:p>
        </p:txBody>
      </p:sp>
      <p:sp>
        <p:nvSpPr>
          <p:cNvPr id="6155" name="TextBox 3">
            <a:extLst>
              <a:ext uri="{FF2B5EF4-FFF2-40B4-BE49-F238E27FC236}">
                <a16:creationId xmlns:a16="http://schemas.microsoft.com/office/drawing/2014/main" id="{DD645080-25BA-FC45-55E0-DC582166DD73}"/>
              </a:ext>
            </a:extLst>
          </p:cNvPr>
          <p:cNvSpPr txBox="1">
            <a:spLocks noChangeArrowheads="1"/>
          </p:cNvSpPr>
          <p:nvPr/>
        </p:nvSpPr>
        <p:spPr bwMode="auto">
          <a:xfrm>
            <a:off x="914401" y="3581400"/>
            <a:ext cx="5676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We now have an admin user with a password. Let’s test this:</a:t>
            </a:r>
          </a:p>
        </p:txBody>
      </p:sp>
      <p:sp>
        <p:nvSpPr>
          <p:cNvPr id="12" name="TextBox 11">
            <a:extLst>
              <a:ext uri="{FF2B5EF4-FFF2-40B4-BE49-F238E27FC236}">
                <a16:creationId xmlns:a16="http://schemas.microsoft.com/office/drawing/2014/main" id="{B9B24A81-5450-A9F1-EA68-A1F117ABC9B1}"/>
              </a:ext>
            </a:extLst>
          </p:cNvPr>
          <p:cNvSpPr txBox="1"/>
          <p:nvPr/>
        </p:nvSpPr>
        <p:spPr>
          <a:xfrm>
            <a:off x="914401" y="3962401"/>
            <a:ext cx="9829800" cy="2545377"/>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err="1"/>
              <a:t>PC#</a:t>
            </a:r>
            <a:r>
              <a:rPr lang="en-US" b="1" dirty="0" err="1"/>
              <a:t>telnet</a:t>
            </a:r>
            <a:r>
              <a:rPr lang="en-US" b="1" dirty="0"/>
              <a:t> 192.168.12.1</a:t>
            </a:r>
            <a:r>
              <a:rPr lang="en-US" dirty="0"/>
              <a:t> </a:t>
            </a:r>
          </a:p>
          <a:p>
            <a:pPr>
              <a:lnSpc>
                <a:spcPct val="150000"/>
              </a:lnSpc>
              <a:defRPr/>
            </a:pPr>
            <a:r>
              <a:rPr lang="en-US" dirty="0"/>
              <a:t>Trying 192.168.12.1 ... </a:t>
            </a:r>
            <a:r>
              <a:rPr lang="en-US" dirty="0">
                <a:solidFill>
                  <a:srgbClr val="FF0000"/>
                </a:solidFill>
              </a:rPr>
              <a:t>Open </a:t>
            </a:r>
          </a:p>
          <a:p>
            <a:pPr>
              <a:lnSpc>
                <a:spcPct val="150000"/>
              </a:lnSpc>
              <a:defRPr/>
            </a:pPr>
            <a:r>
              <a:rPr lang="en-US" dirty="0"/>
              <a:t>User Access Verification </a:t>
            </a:r>
          </a:p>
          <a:p>
            <a:pPr>
              <a:lnSpc>
                <a:spcPct val="150000"/>
              </a:lnSpc>
              <a:defRPr/>
            </a:pPr>
            <a:r>
              <a:rPr lang="en-US" dirty="0">
                <a:solidFill>
                  <a:srgbClr val="FF0000"/>
                </a:solidFill>
              </a:rPr>
              <a:t>Username: admin </a:t>
            </a:r>
          </a:p>
          <a:p>
            <a:pPr>
              <a:lnSpc>
                <a:spcPct val="150000"/>
              </a:lnSpc>
              <a:defRPr/>
            </a:pPr>
            <a:r>
              <a:rPr lang="en-US" dirty="0">
                <a:solidFill>
                  <a:srgbClr val="FF0000"/>
                </a:solidFill>
              </a:rPr>
              <a:t>Password: </a:t>
            </a:r>
          </a:p>
          <a:p>
            <a:pPr>
              <a:lnSpc>
                <a:spcPct val="150000"/>
              </a:lnSpc>
              <a:defRPr/>
            </a:pPr>
            <a:r>
              <a:rPr lang="en-US" dirty="0"/>
              <a:t>SW1&gt;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4FA8A31-5C9B-E4A9-9C49-DE4480C1CB34}"/>
              </a:ext>
            </a:extLst>
          </p:cNvPr>
          <p:cNvSpPr>
            <a:spLocks noGrp="1"/>
          </p:cNvSpPr>
          <p:nvPr>
            <p:ph type="title"/>
          </p:nvPr>
        </p:nvSpPr>
        <p:spPr>
          <a:xfrm>
            <a:off x="1589" y="533400"/>
            <a:ext cx="12188825" cy="762000"/>
          </a:xfrm>
        </p:spPr>
        <p:txBody>
          <a:bodyPr/>
          <a:lstStyle/>
          <a:p>
            <a:pPr eaLnBrk="1" hangingPunct="1"/>
            <a:r>
              <a:rPr lang="en-US" altLang="en-US"/>
              <a:t>Lesson 12: Remote Access with SSH &amp; Telnet</a:t>
            </a:r>
          </a:p>
        </p:txBody>
      </p:sp>
      <p:sp>
        <p:nvSpPr>
          <p:cNvPr id="2055" name="TextBox 3">
            <a:extLst>
              <a:ext uri="{FF2B5EF4-FFF2-40B4-BE49-F238E27FC236}">
                <a16:creationId xmlns:a16="http://schemas.microsoft.com/office/drawing/2014/main" id="{3E5E1E77-B4F4-1DB7-E5D7-059D8AFDE741}"/>
              </a:ext>
            </a:extLst>
          </p:cNvPr>
          <p:cNvSpPr txBox="1">
            <a:spLocks noChangeArrowheads="1"/>
          </p:cNvSpPr>
          <p:nvPr/>
        </p:nvSpPr>
        <p:spPr bwMode="auto">
          <a:xfrm>
            <a:off x="685801" y="1519238"/>
            <a:ext cx="100584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Telnet Configuration</a:t>
            </a:r>
          </a:p>
        </p:txBody>
      </p:sp>
      <p:sp>
        <p:nvSpPr>
          <p:cNvPr id="7177" name="TextBox 3">
            <a:extLst>
              <a:ext uri="{FF2B5EF4-FFF2-40B4-BE49-F238E27FC236}">
                <a16:creationId xmlns:a16="http://schemas.microsoft.com/office/drawing/2014/main" id="{F9DED673-43EC-E19A-1AC1-02A41D6DD1B6}"/>
              </a:ext>
            </a:extLst>
          </p:cNvPr>
          <p:cNvSpPr txBox="1">
            <a:spLocks noChangeArrowheads="1"/>
          </p:cNvSpPr>
          <p:nvPr/>
        </p:nvSpPr>
        <p:spPr bwMode="auto">
          <a:xfrm>
            <a:off x="658813" y="2127250"/>
            <a:ext cx="9323388"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a:lnSpc>
                <a:spcPct val="150000"/>
              </a:lnSpc>
            </a:pPr>
            <a:r>
              <a:rPr lang="en-US" altLang="en-US"/>
              <a:t>This router supports multiple protocols. Above you can see that telnet and SSH are two supported protocols. It is possible to support multiple protocols but let’s configure the router or switch so that it will only support telnet:</a:t>
            </a:r>
          </a:p>
        </p:txBody>
      </p:sp>
      <p:sp>
        <p:nvSpPr>
          <p:cNvPr id="3" name="TextBox 2">
            <a:extLst>
              <a:ext uri="{FF2B5EF4-FFF2-40B4-BE49-F238E27FC236}">
                <a16:creationId xmlns:a16="http://schemas.microsoft.com/office/drawing/2014/main" id="{48F1FF5F-E64B-8F73-CC04-C0E16F5299ED}"/>
              </a:ext>
            </a:extLst>
          </p:cNvPr>
          <p:cNvSpPr txBox="1"/>
          <p:nvPr/>
        </p:nvSpPr>
        <p:spPr>
          <a:xfrm>
            <a:off x="735013" y="3424239"/>
            <a:ext cx="9932988" cy="467179"/>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a:t>SW1(</a:t>
            </a:r>
            <a:r>
              <a:rPr lang="en-US" dirty="0" err="1"/>
              <a:t>config</a:t>
            </a:r>
            <a:r>
              <a:rPr lang="en-US" dirty="0"/>
              <a:t>-line)#</a:t>
            </a:r>
            <a:r>
              <a:rPr lang="en-US" b="1" dirty="0"/>
              <a:t>transport input telnet</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ED20AB38-BBCD-2C34-EF5F-B19B2E18A36E}"/>
              </a:ext>
            </a:extLst>
          </p:cNvPr>
          <p:cNvSpPr txBox="1">
            <a:spLocks noChangeArrowheads="1"/>
          </p:cNvSpPr>
          <p:nvPr/>
        </p:nvSpPr>
        <p:spPr bwMode="auto">
          <a:xfrm>
            <a:off x="685801" y="1519238"/>
            <a:ext cx="10363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Remote Access with SSH</a:t>
            </a:r>
          </a:p>
        </p:txBody>
      </p:sp>
      <p:sp>
        <p:nvSpPr>
          <p:cNvPr id="2057" name="TextBox 3">
            <a:extLst>
              <a:ext uri="{FF2B5EF4-FFF2-40B4-BE49-F238E27FC236}">
                <a16:creationId xmlns:a16="http://schemas.microsoft.com/office/drawing/2014/main" id="{86A4322C-5994-66D5-B31C-EE9FD401F4DF}"/>
              </a:ext>
            </a:extLst>
          </p:cNvPr>
          <p:cNvSpPr txBox="1">
            <a:spLocks noChangeArrowheads="1"/>
          </p:cNvSpPr>
          <p:nvPr/>
        </p:nvSpPr>
        <p:spPr bwMode="auto">
          <a:xfrm>
            <a:off x="658813" y="2133600"/>
            <a:ext cx="10161588"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marL="285750" indent="-285750">
              <a:lnSpc>
                <a:spcPct val="150000"/>
              </a:lnSpc>
              <a:buFont typeface="Arial" pitchFamily="34" charset="0"/>
              <a:buChar char="•"/>
              <a:defRPr/>
            </a:pPr>
            <a:r>
              <a:rPr lang="en-US" dirty="0"/>
              <a:t>In a previous lesson, I explained how you can use telnet for remote access to your Cisco IOS devices. The problem with telnet is that everything is sent in plaintext, for that reason you shouldn’t use it.</a:t>
            </a:r>
          </a:p>
          <a:p>
            <a:pPr>
              <a:lnSpc>
                <a:spcPct val="150000"/>
              </a:lnSpc>
              <a:defRPr/>
            </a:pPr>
            <a:endParaRPr lang="en-US" dirty="0"/>
          </a:p>
          <a:p>
            <a:pPr marL="285750" indent="-285750">
              <a:lnSpc>
                <a:spcPct val="150000"/>
              </a:lnSpc>
              <a:buFont typeface="Arial" pitchFamily="34" charset="0"/>
              <a:buChar char="•"/>
              <a:defRPr/>
            </a:pPr>
            <a:r>
              <a:rPr lang="en-US" dirty="0"/>
              <a:t>SSH (Secure Shell) is a secure method for remote access as is includes authentication and encryption. To do this, it uses a RSA public/private </a:t>
            </a:r>
            <a:r>
              <a:rPr lang="en-US" dirty="0" err="1"/>
              <a:t>keypair</a:t>
            </a:r>
            <a:r>
              <a:rPr lang="en-US" dirty="0"/>
              <a:t>.</a:t>
            </a:r>
          </a:p>
          <a:p>
            <a:pPr marL="285750" indent="-285750">
              <a:lnSpc>
                <a:spcPct val="150000"/>
              </a:lnSpc>
              <a:buFont typeface="Arial" pitchFamily="34" charset="0"/>
              <a:buChar char="•"/>
              <a:defRPr/>
            </a:pPr>
            <a:r>
              <a:rPr lang="en-US" dirty="0"/>
              <a:t>To enable secure access to your Cisco device, you can use SSH instead of Telnet. SSH uses encryption to secure data from eavesdropping.</a:t>
            </a:r>
          </a:p>
          <a:p>
            <a:pPr marL="285750" indent="-285750">
              <a:lnSpc>
                <a:spcPct val="150000"/>
              </a:lnSpc>
              <a:buFont typeface="Arial" pitchFamily="34" charset="0"/>
              <a:buChar char="•"/>
              <a:defRPr/>
            </a:pPr>
            <a:endParaRPr lang="en-US" dirty="0"/>
          </a:p>
          <a:p>
            <a:pPr marL="285750" indent="-285750">
              <a:lnSpc>
                <a:spcPct val="150000"/>
              </a:lnSpc>
              <a:buFont typeface="Arial" pitchFamily="34" charset="0"/>
              <a:buChar char="•"/>
              <a:defRPr/>
            </a:pPr>
            <a:r>
              <a:rPr lang="en-US" dirty="0"/>
              <a:t>There are two versions: version 1 and 2. Version 2 is more secure and commonly used.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33E9223D-9A57-D0AB-6808-20AE7ACC2104}"/>
              </a:ext>
            </a:extLst>
          </p:cNvPr>
          <p:cNvSpPr txBox="1">
            <a:spLocks noChangeArrowheads="1"/>
          </p:cNvSpPr>
          <p:nvPr/>
        </p:nvSpPr>
        <p:spPr bwMode="auto">
          <a:xfrm>
            <a:off x="685801" y="1519238"/>
            <a:ext cx="10363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SSH Configuration</a:t>
            </a:r>
          </a:p>
        </p:txBody>
      </p:sp>
      <p:sp>
        <p:nvSpPr>
          <p:cNvPr id="9225" name="TextBox 3">
            <a:extLst>
              <a:ext uri="{FF2B5EF4-FFF2-40B4-BE49-F238E27FC236}">
                <a16:creationId xmlns:a16="http://schemas.microsoft.com/office/drawing/2014/main" id="{2E1B9AAC-7AC9-676B-FC55-D428EF9253EC}"/>
              </a:ext>
            </a:extLst>
          </p:cNvPr>
          <p:cNvSpPr txBox="1">
            <a:spLocks noChangeArrowheads="1"/>
          </p:cNvSpPr>
          <p:nvPr/>
        </p:nvSpPr>
        <p:spPr bwMode="auto">
          <a:xfrm>
            <a:off x="658813" y="2133601"/>
            <a:ext cx="10161588" cy="211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a:lnSpc>
                <a:spcPct val="150000"/>
              </a:lnSpc>
              <a:buFont typeface="Arial" panose="020B0604020202020204" pitchFamily="34" charset="0"/>
              <a:buChar char="•"/>
            </a:pPr>
            <a:r>
              <a:rPr lang="en-US" altLang="en-US" sz="1800"/>
              <a:t>To enable SSH, the following steps are required:</a:t>
            </a:r>
          </a:p>
          <a:p>
            <a:pPr lvl="1">
              <a:lnSpc>
                <a:spcPct val="150000"/>
              </a:lnSpc>
            </a:pPr>
            <a:r>
              <a:rPr lang="en-US" altLang="en-US" sz="1800"/>
              <a:t>    1. set up a hostname and and a domain name.</a:t>
            </a:r>
            <a:br>
              <a:rPr lang="en-US" altLang="en-US" sz="1800"/>
            </a:br>
            <a:r>
              <a:rPr lang="en-US" altLang="en-US" sz="1800"/>
              <a:t>2. configure local username and password.</a:t>
            </a:r>
            <a:br>
              <a:rPr lang="en-US" altLang="en-US" sz="1800"/>
            </a:br>
            <a:r>
              <a:rPr lang="en-US" altLang="en-US" sz="1800"/>
              <a:t>3. generate RSA public and private keys.</a:t>
            </a:r>
            <a:br>
              <a:rPr lang="en-US" altLang="en-US" sz="1800"/>
            </a:br>
            <a:r>
              <a:rPr lang="en-US" altLang="en-US" sz="1800"/>
              <a:t>4. allow only SSH access.</a:t>
            </a:r>
          </a:p>
        </p:txBody>
      </p:sp>
      <p:sp>
        <p:nvSpPr>
          <p:cNvPr id="9226" name="TextBox 2">
            <a:extLst>
              <a:ext uri="{FF2B5EF4-FFF2-40B4-BE49-F238E27FC236}">
                <a16:creationId xmlns:a16="http://schemas.microsoft.com/office/drawing/2014/main" id="{057277DA-DA9E-4675-B2B8-DA7597560D63}"/>
              </a:ext>
            </a:extLst>
          </p:cNvPr>
          <p:cNvSpPr txBox="1">
            <a:spLocks noChangeArrowheads="1"/>
          </p:cNvSpPr>
          <p:nvPr/>
        </p:nvSpPr>
        <p:spPr bwMode="auto">
          <a:xfrm>
            <a:off x="762002" y="4343400"/>
            <a:ext cx="7686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buFont typeface="Arial" panose="020B0604020202020204" pitchFamily="34" charset="0"/>
              <a:buChar char="•"/>
            </a:pPr>
            <a:r>
              <a:rPr lang="en-US" altLang="en-US" sz="1800"/>
              <a:t>The following example shows the configuration of the first three steps: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786F8F0C-E3ED-95B6-4D2B-2499F2B41632}"/>
              </a:ext>
            </a:extLst>
          </p:cNvPr>
          <p:cNvSpPr txBox="1">
            <a:spLocks noChangeArrowheads="1"/>
          </p:cNvSpPr>
          <p:nvPr/>
        </p:nvSpPr>
        <p:spPr bwMode="auto">
          <a:xfrm>
            <a:off x="685801" y="1519238"/>
            <a:ext cx="10363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SSH Configuration</a:t>
            </a:r>
          </a:p>
        </p:txBody>
      </p:sp>
      <p:sp>
        <p:nvSpPr>
          <p:cNvPr id="10249" name="TextBox 3">
            <a:extLst>
              <a:ext uri="{FF2B5EF4-FFF2-40B4-BE49-F238E27FC236}">
                <a16:creationId xmlns:a16="http://schemas.microsoft.com/office/drawing/2014/main" id="{654F7EE5-E715-78EE-A5E6-313E9D514832}"/>
              </a:ext>
            </a:extLst>
          </p:cNvPr>
          <p:cNvSpPr txBox="1">
            <a:spLocks noChangeArrowheads="1"/>
          </p:cNvSpPr>
          <p:nvPr/>
        </p:nvSpPr>
        <p:spPr bwMode="auto">
          <a:xfrm>
            <a:off x="658813" y="1981201"/>
            <a:ext cx="10161588"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a:lnSpc>
                <a:spcPct val="150000"/>
              </a:lnSpc>
              <a:buFont typeface="Arial" panose="020B0604020202020204" pitchFamily="34" charset="0"/>
              <a:buChar char="•"/>
            </a:pPr>
            <a:r>
              <a:rPr lang="en-US" altLang="en-US"/>
              <a:t>the name of the RSA keypair will be the hostname and domain name of the router or switch. Let’s configure a hostname:</a:t>
            </a:r>
          </a:p>
        </p:txBody>
      </p:sp>
      <p:sp>
        <p:nvSpPr>
          <p:cNvPr id="3" name="TextBox 2">
            <a:extLst>
              <a:ext uri="{FF2B5EF4-FFF2-40B4-BE49-F238E27FC236}">
                <a16:creationId xmlns:a16="http://schemas.microsoft.com/office/drawing/2014/main" id="{873CBD0A-4C11-C9B4-2305-BCD77CEA6E65}"/>
              </a:ext>
            </a:extLst>
          </p:cNvPr>
          <p:cNvSpPr txBox="1"/>
          <p:nvPr/>
        </p:nvSpPr>
        <p:spPr>
          <a:xfrm>
            <a:off x="762001" y="2743200"/>
            <a:ext cx="10287000" cy="36933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defRPr/>
            </a:pPr>
            <a:r>
              <a:rPr lang="en-US" dirty="0"/>
              <a:t>SW1(</a:t>
            </a:r>
            <a:r>
              <a:rPr lang="en-US" dirty="0" err="1"/>
              <a:t>config</a:t>
            </a:r>
            <a:r>
              <a:rPr lang="en-US" dirty="0"/>
              <a:t>)#</a:t>
            </a:r>
            <a:r>
              <a:rPr lang="en-US" b="1" dirty="0"/>
              <a:t>hostname SW1</a:t>
            </a:r>
            <a:endParaRPr lang="en-US" dirty="0"/>
          </a:p>
        </p:txBody>
      </p:sp>
      <p:sp>
        <p:nvSpPr>
          <p:cNvPr id="10251" name="TextBox 3">
            <a:extLst>
              <a:ext uri="{FF2B5EF4-FFF2-40B4-BE49-F238E27FC236}">
                <a16:creationId xmlns:a16="http://schemas.microsoft.com/office/drawing/2014/main" id="{371ABA5F-4296-7330-F640-ECB9E183DC28}"/>
              </a:ext>
            </a:extLst>
          </p:cNvPr>
          <p:cNvSpPr txBox="1">
            <a:spLocks noChangeArrowheads="1"/>
          </p:cNvSpPr>
          <p:nvPr/>
        </p:nvSpPr>
        <p:spPr bwMode="auto">
          <a:xfrm>
            <a:off x="762002" y="3167064"/>
            <a:ext cx="20780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And a domain name:</a:t>
            </a:r>
          </a:p>
        </p:txBody>
      </p:sp>
      <p:sp>
        <p:nvSpPr>
          <p:cNvPr id="5" name="TextBox 4">
            <a:extLst>
              <a:ext uri="{FF2B5EF4-FFF2-40B4-BE49-F238E27FC236}">
                <a16:creationId xmlns:a16="http://schemas.microsoft.com/office/drawing/2014/main" id="{86F93846-91C9-8907-573B-47E4E6FF48FC}"/>
              </a:ext>
            </a:extLst>
          </p:cNvPr>
          <p:cNvSpPr txBox="1"/>
          <p:nvPr/>
        </p:nvSpPr>
        <p:spPr>
          <a:xfrm>
            <a:off x="762001" y="3548063"/>
            <a:ext cx="10287000" cy="36933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defRPr/>
            </a:pPr>
            <a:r>
              <a:rPr lang="en-US" dirty="0"/>
              <a:t>SW1(</a:t>
            </a:r>
            <a:r>
              <a:rPr lang="en-US" dirty="0" err="1"/>
              <a:t>config</a:t>
            </a:r>
            <a:r>
              <a:rPr lang="en-US" dirty="0"/>
              <a:t>)#</a:t>
            </a:r>
            <a:r>
              <a:rPr lang="en-US" b="1" dirty="0" err="1"/>
              <a:t>ip</a:t>
            </a:r>
            <a:r>
              <a:rPr lang="en-US" b="1" dirty="0"/>
              <a:t> domain-name A2Z.LOCAL</a:t>
            </a:r>
            <a:endParaRPr lang="en-US" dirty="0"/>
          </a:p>
        </p:txBody>
      </p:sp>
      <p:sp>
        <p:nvSpPr>
          <p:cNvPr id="10253" name="TextBox 5">
            <a:extLst>
              <a:ext uri="{FF2B5EF4-FFF2-40B4-BE49-F238E27FC236}">
                <a16:creationId xmlns:a16="http://schemas.microsoft.com/office/drawing/2014/main" id="{7E67EA0C-9E6A-2B98-51EC-5CE20E4A395F}"/>
              </a:ext>
            </a:extLst>
          </p:cNvPr>
          <p:cNvSpPr txBox="1">
            <a:spLocks noChangeArrowheads="1"/>
          </p:cNvSpPr>
          <p:nvPr/>
        </p:nvSpPr>
        <p:spPr bwMode="auto">
          <a:xfrm>
            <a:off x="762001" y="4081464"/>
            <a:ext cx="37528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Now we can generate the RSA keypair:</a:t>
            </a:r>
          </a:p>
        </p:txBody>
      </p:sp>
      <p:sp>
        <p:nvSpPr>
          <p:cNvPr id="7" name="TextBox 6">
            <a:extLst>
              <a:ext uri="{FF2B5EF4-FFF2-40B4-BE49-F238E27FC236}">
                <a16:creationId xmlns:a16="http://schemas.microsoft.com/office/drawing/2014/main" id="{E2F73B84-FF36-25FA-08E0-6CE8D74A8FB1}"/>
              </a:ext>
            </a:extLst>
          </p:cNvPr>
          <p:cNvSpPr txBox="1"/>
          <p:nvPr/>
        </p:nvSpPr>
        <p:spPr>
          <a:xfrm>
            <a:off x="762001" y="4494213"/>
            <a:ext cx="10287000" cy="1677126"/>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sz="1400" dirty="0"/>
              <a:t>SW1(</a:t>
            </a:r>
            <a:r>
              <a:rPr lang="en-US" sz="1400" dirty="0" err="1"/>
              <a:t>config</a:t>
            </a:r>
            <a:r>
              <a:rPr lang="en-US" sz="1400" dirty="0"/>
              <a:t>)#</a:t>
            </a:r>
            <a:r>
              <a:rPr lang="en-US" sz="1400" b="1" dirty="0"/>
              <a:t>crypto key generate </a:t>
            </a:r>
            <a:r>
              <a:rPr lang="en-US" sz="1400" b="1" dirty="0" err="1"/>
              <a:t>rsa</a:t>
            </a:r>
            <a:r>
              <a:rPr lang="en-US" sz="1400" dirty="0"/>
              <a:t> </a:t>
            </a:r>
          </a:p>
          <a:p>
            <a:pPr>
              <a:lnSpc>
                <a:spcPct val="150000"/>
              </a:lnSpc>
              <a:defRPr/>
            </a:pPr>
            <a:r>
              <a:rPr lang="en-US" sz="1400" dirty="0"/>
              <a:t>The name for the keys will be: SW1.A2ZLOCAL </a:t>
            </a:r>
          </a:p>
          <a:p>
            <a:pPr>
              <a:lnSpc>
                <a:spcPct val="150000"/>
              </a:lnSpc>
              <a:defRPr/>
            </a:pPr>
            <a:r>
              <a:rPr lang="en-US" sz="1400" dirty="0"/>
              <a:t>How many bits in the modulus [512]: </a:t>
            </a:r>
            <a:r>
              <a:rPr lang="en-US" sz="1400" b="1" dirty="0"/>
              <a:t>1024</a:t>
            </a:r>
          </a:p>
          <a:p>
            <a:pPr>
              <a:lnSpc>
                <a:spcPct val="150000"/>
              </a:lnSpc>
              <a:defRPr/>
            </a:pPr>
            <a:r>
              <a:rPr lang="en-US" sz="1400" dirty="0"/>
              <a:t> % Generating 2048 bit RSA keys, keys will be non-exportable... </a:t>
            </a:r>
          </a:p>
          <a:p>
            <a:pPr>
              <a:lnSpc>
                <a:spcPct val="150000"/>
              </a:lnSpc>
              <a:defRPr/>
            </a:pPr>
            <a:r>
              <a:rPr lang="en-US" sz="1400" dirty="0"/>
              <a:t>[OK] (elapsed time was 3 seconds)</a:t>
            </a:r>
          </a:p>
        </p:txBody>
      </p:sp>
      <p:sp>
        <p:nvSpPr>
          <p:cNvPr id="2" name="Title 1">
            <a:extLst>
              <a:ext uri="{FF2B5EF4-FFF2-40B4-BE49-F238E27FC236}">
                <a16:creationId xmlns:a16="http://schemas.microsoft.com/office/drawing/2014/main" id="{5DF5D9EF-D3F2-1A80-0577-3CE27E9984FA}"/>
              </a:ext>
            </a:extLst>
          </p:cNvPr>
          <p:cNvSpPr>
            <a:spLocks noGrp="1"/>
          </p:cNvSpPr>
          <p:nvPr>
            <p:ph type="title"/>
          </p:nvPr>
        </p:nvSpPr>
        <p:spPr/>
        <p:txBody>
          <a:bodyP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CF2E1C71-3472-437C-8CCE-BAF1A78E1C43}"/>
              </a:ext>
            </a:extLst>
          </p:cNvPr>
          <p:cNvSpPr txBox="1">
            <a:spLocks noChangeArrowheads="1"/>
          </p:cNvSpPr>
          <p:nvPr/>
        </p:nvSpPr>
        <p:spPr bwMode="auto">
          <a:xfrm>
            <a:off x="685801" y="1519238"/>
            <a:ext cx="10363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dirty="0"/>
              <a:t>SSH Configuration</a:t>
            </a:r>
          </a:p>
        </p:txBody>
      </p:sp>
      <p:sp>
        <p:nvSpPr>
          <p:cNvPr id="11273" name="TextBox 3">
            <a:extLst>
              <a:ext uri="{FF2B5EF4-FFF2-40B4-BE49-F238E27FC236}">
                <a16:creationId xmlns:a16="http://schemas.microsoft.com/office/drawing/2014/main" id="{9717F75B-C6EC-678B-63D0-1AD8E0049AAF}"/>
              </a:ext>
            </a:extLst>
          </p:cNvPr>
          <p:cNvSpPr txBox="1">
            <a:spLocks noChangeArrowheads="1"/>
          </p:cNvSpPr>
          <p:nvPr/>
        </p:nvSpPr>
        <p:spPr bwMode="auto">
          <a:xfrm>
            <a:off x="658813" y="2098676"/>
            <a:ext cx="10161588"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a:lnSpc>
                <a:spcPct val="150000"/>
              </a:lnSpc>
              <a:buFont typeface="Arial" panose="020B0604020202020204" pitchFamily="34" charset="0"/>
              <a:buChar char="•"/>
            </a:pPr>
            <a:r>
              <a:rPr lang="en-US" altLang="en-US"/>
              <a:t>As you can see above, SSH version 1 is the default version. Let’s switch to version 2:</a:t>
            </a:r>
          </a:p>
        </p:txBody>
      </p:sp>
      <p:sp>
        <p:nvSpPr>
          <p:cNvPr id="3" name="TextBox 2">
            <a:extLst>
              <a:ext uri="{FF2B5EF4-FFF2-40B4-BE49-F238E27FC236}">
                <a16:creationId xmlns:a16="http://schemas.microsoft.com/office/drawing/2014/main" id="{ACCBD3FE-E919-E07B-0E1E-EFA4A247982B}"/>
              </a:ext>
            </a:extLst>
          </p:cNvPr>
          <p:cNvSpPr txBox="1"/>
          <p:nvPr/>
        </p:nvSpPr>
        <p:spPr>
          <a:xfrm>
            <a:off x="762001" y="2667000"/>
            <a:ext cx="10287000" cy="36933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defRPr/>
            </a:pPr>
            <a:r>
              <a:rPr lang="pt-BR" dirty="0"/>
              <a:t>SW1(config)#</a:t>
            </a:r>
            <a:r>
              <a:rPr lang="pt-BR" b="1" dirty="0"/>
              <a:t>ip ssh version 2</a:t>
            </a:r>
            <a:endParaRPr lang="en-US" dirty="0"/>
          </a:p>
        </p:txBody>
      </p:sp>
      <p:sp>
        <p:nvSpPr>
          <p:cNvPr id="11275" name="TextBox 3">
            <a:extLst>
              <a:ext uri="{FF2B5EF4-FFF2-40B4-BE49-F238E27FC236}">
                <a16:creationId xmlns:a16="http://schemas.microsoft.com/office/drawing/2014/main" id="{BEACE1EA-4CC5-742B-3964-434587CDCB0A}"/>
              </a:ext>
            </a:extLst>
          </p:cNvPr>
          <p:cNvSpPr txBox="1">
            <a:spLocks noChangeArrowheads="1"/>
          </p:cNvSpPr>
          <p:nvPr/>
        </p:nvSpPr>
        <p:spPr bwMode="auto">
          <a:xfrm>
            <a:off x="762001" y="3124200"/>
            <a:ext cx="5651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r>
              <a:rPr lang="en-US" altLang="en-US"/>
              <a:t>SSH is enabled but we also have to configure the VTY lines:</a:t>
            </a:r>
          </a:p>
        </p:txBody>
      </p:sp>
      <p:sp>
        <p:nvSpPr>
          <p:cNvPr id="5" name="TextBox 4">
            <a:extLst>
              <a:ext uri="{FF2B5EF4-FFF2-40B4-BE49-F238E27FC236}">
                <a16:creationId xmlns:a16="http://schemas.microsoft.com/office/drawing/2014/main" id="{DF319B29-8765-A102-9162-E49276B4658B}"/>
              </a:ext>
            </a:extLst>
          </p:cNvPr>
          <p:cNvSpPr txBox="1"/>
          <p:nvPr/>
        </p:nvSpPr>
        <p:spPr>
          <a:xfrm>
            <a:off x="762001" y="3548063"/>
            <a:ext cx="10287000" cy="1298176"/>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dirty="0"/>
              <a:t>SW1(</a:t>
            </a:r>
            <a:r>
              <a:rPr lang="en-US" dirty="0" err="1"/>
              <a:t>config</a:t>
            </a:r>
            <a:r>
              <a:rPr lang="en-US" dirty="0"/>
              <a:t>)#</a:t>
            </a:r>
            <a:r>
              <a:rPr lang="en-US" b="1" dirty="0"/>
              <a:t>line </a:t>
            </a:r>
            <a:r>
              <a:rPr lang="en-US" b="1" dirty="0" err="1"/>
              <a:t>vty</a:t>
            </a:r>
            <a:r>
              <a:rPr lang="en-US" b="1" dirty="0"/>
              <a:t> 0 4</a:t>
            </a:r>
            <a:r>
              <a:rPr lang="en-US" dirty="0"/>
              <a:t> </a:t>
            </a:r>
          </a:p>
          <a:p>
            <a:pPr>
              <a:lnSpc>
                <a:spcPct val="150000"/>
              </a:lnSpc>
              <a:defRPr/>
            </a:pPr>
            <a:r>
              <a:rPr lang="en-US" dirty="0"/>
              <a:t>SW1(</a:t>
            </a:r>
            <a:r>
              <a:rPr lang="en-US" dirty="0" err="1"/>
              <a:t>config</a:t>
            </a:r>
            <a:r>
              <a:rPr lang="en-US" dirty="0"/>
              <a:t>-line)#</a:t>
            </a:r>
            <a:r>
              <a:rPr lang="en-US" b="1" dirty="0"/>
              <a:t>transport input </a:t>
            </a:r>
            <a:r>
              <a:rPr lang="en-US" b="1" dirty="0" err="1"/>
              <a:t>ssh</a:t>
            </a:r>
            <a:r>
              <a:rPr lang="en-US" dirty="0"/>
              <a:t> </a:t>
            </a:r>
          </a:p>
          <a:p>
            <a:pPr>
              <a:lnSpc>
                <a:spcPct val="150000"/>
              </a:lnSpc>
              <a:defRPr/>
            </a:pPr>
            <a:r>
              <a:rPr lang="en-US" dirty="0"/>
              <a:t>SW1(</a:t>
            </a:r>
            <a:r>
              <a:rPr lang="en-US" dirty="0" err="1"/>
              <a:t>config</a:t>
            </a:r>
            <a:r>
              <a:rPr lang="en-US" dirty="0"/>
              <a:t>-line)#</a:t>
            </a:r>
            <a:r>
              <a:rPr lang="en-US" b="1" dirty="0"/>
              <a:t>login local</a:t>
            </a:r>
            <a:endParaRPr lang="en-US" dirty="0"/>
          </a:p>
        </p:txBody>
      </p:sp>
      <p:sp>
        <p:nvSpPr>
          <p:cNvPr id="11277" name="TextBox 5">
            <a:extLst>
              <a:ext uri="{FF2B5EF4-FFF2-40B4-BE49-F238E27FC236}">
                <a16:creationId xmlns:a16="http://schemas.microsoft.com/office/drawing/2014/main" id="{F5047981-F028-62E1-C7B0-7E6A8FC59D1A}"/>
              </a:ext>
            </a:extLst>
          </p:cNvPr>
          <p:cNvSpPr txBox="1">
            <a:spLocks noChangeArrowheads="1"/>
          </p:cNvSpPr>
          <p:nvPr/>
        </p:nvSpPr>
        <p:spPr bwMode="auto">
          <a:xfrm>
            <a:off x="762001" y="4876801"/>
            <a:ext cx="10287000" cy="7807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eaLnBrk="1" hangingPunct="1">
              <a:lnSpc>
                <a:spcPct val="150000"/>
              </a:lnSpc>
            </a:pPr>
            <a:r>
              <a:rPr lang="en-US" altLang="en-US"/>
              <a:t>This ensures that we only want to use SSH (not telnet or anything else) and that we want to check the local database for usernames. Let’s create a user:</a:t>
            </a:r>
          </a:p>
        </p:txBody>
      </p:sp>
      <p:sp>
        <p:nvSpPr>
          <p:cNvPr id="7" name="TextBox 6">
            <a:extLst>
              <a:ext uri="{FF2B5EF4-FFF2-40B4-BE49-F238E27FC236}">
                <a16:creationId xmlns:a16="http://schemas.microsoft.com/office/drawing/2014/main" id="{46D064B3-D9A4-2A3D-F8CD-37C8503D8E90}"/>
              </a:ext>
            </a:extLst>
          </p:cNvPr>
          <p:cNvSpPr txBox="1"/>
          <p:nvPr/>
        </p:nvSpPr>
        <p:spPr>
          <a:xfrm>
            <a:off x="762001" y="5715001"/>
            <a:ext cx="10287000" cy="383951"/>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nSpc>
                <a:spcPct val="150000"/>
              </a:lnSpc>
              <a:defRPr/>
            </a:pPr>
            <a:r>
              <a:rPr lang="en-US" sz="1400" dirty="0"/>
              <a:t>SW1(</a:t>
            </a:r>
            <a:r>
              <a:rPr lang="en-US" sz="1400" dirty="0" err="1"/>
              <a:t>config</a:t>
            </a:r>
            <a:r>
              <a:rPr lang="en-US" sz="1400" dirty="0"/>
              <a:t>)#</a:t>
            </a:r>
            <a:r>
              <a:rPr lang="en-US" sz="1400" b="1" dirty="0"/>
              <a:t>username admin password </a:t>
            </a:r>
            <a:r>
              <a:rPr lang="en-US" sz="1400" b="1" dirty="0" err="1"/>
              <a:t>my_password</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F34E1D91-449E-69A9-7FB8-30A0AD677098}"/>
              </a:ext>
            </a:extLst>
          </p:cNvPr>
          <p:cNvSpPr txBox="1">
            <a:spLocks noChangeArrowheads="1"/>
          </p:cNvSpPr>
          <p:nvPr/>
        </p:nvSpPr>
        <p:spPr bwMode="auto">
          <a:xfrm>
            <a:off x="685801" y="1519238"/>
            <a:ext cx="10363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b="1" dirty="0"/>
              <a:t>Enabling IPv4 for Remote Access</a:t>
            </a:r>
            <a:r>
              <a:rPr lang="en-US" sz="2400" dirty="0"/>
              <a:t> </a:t>
            </a:r>
          </a:p>
        </p:txBody>
      </p:sp>
      <p:sp>
        <p:nvSpPr>
          <p:cNvPr id="13321" name="TextBox 3">
            <a:extLst>
              <a:ext uri="{FF2B5EF4-FFF2-40B4-BE49-F238E27FC236}">
                <a16:creationId xmlns:a16="http://schemas.microsoft.com/office/drawing/2014/main" id="{9DEB6F9F-0D2C-1669-8A50-0F69E9C787A6}"/>
              </a:ext>
            </a:extLst>
          </p:cNvPr>
          <p:cNvSpPr txBox="1">
            <a:spLocks noChangeArrowheads="1"/>
          </p:cNvSpPr>
          <p:nvPr/>
        </p:nvSpPr>
        <p:spPr bwMode="auto">
          <a:xfrm>
            <a:off x="658813" y="2113665"/>
            <a:ext cx="10161588"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1600">
                <a:solidFill>
                  <a:schemeClr val="tx1"/>
                </a:solidFill>
                <a:latin typeface="Tahoma" panose="020B0604030504040204" pitchFamily="34" charset="0"/>
                <a:cs typeface="Arial" panose="020B0604020202020204" pitchFamily="34" charset="0"/>
              </a:defRPr>
            </a:lvl1pPr>
            <a:lvl2pPr marL="742950" indent="-285750" eaLnBrk="0" hangingPunct="0">
              <a:defRPr sz="1600">
                <a:solidFill>
                  <a:schemeClr val="tx1"/>
                </a:solidFill>
                <a:latin typeface="Tahoma" panose="020B0604030504040204" pitchFamily="34" charset="0"/>
                <a:cs typeface="Arial" panose="020B0604020202020204" pitchFamily="34" charset="0"/>
              </a:defRPr>
            </a:lvl2pPr>
            <a:lvl3pPr marL="1143000" indent="-228600" eaLnBrk="0" hangingPunct="0">
              <a:defRPr sz="1600">
                <a:solidFill>
                  <a:schemeClr val="tx1"/>
                </a:solidFill>
                <a:latin typeface="Tahoma" panose="020B0604030504040204" pitchFamily="34" charset="0"/>
                <a:cs typeface="Arial" panose="020B0604020202020204" pitchFamily="34" charset="0"/>
              </a:defRPr>
            </a:lvl3pPr>
            <a:lvl4pPr marL="1600200" indent="-228600" eaLnBrk="0" hangingPunct="0">
              <a:defRPr sz="1600">
                <a:solidFill>
                  <a:schemeClr val="tx1"/>
                </a:solidFill>
                <a:latin typeface="Tahoma" panose="020B0604030504040204" pitchFamily="34" charset="0"/>
                <a:cs typeface="Arial" panose="020B0604020202020204" pitchFamily="34" charset="0"/>
              </a:defRPr>
            </a:lvl4pPr>
            <a:lvl5pPr marL="2057400" indent="-228600" eaLnBrk="0" hangingPunct="0">
              <a:defRPr sz="16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1600">
                <a:solidFill>
                  <a:schemeClr val="tx1"/>
                </a:solidFill>
                <a:latin typeface="Tahoma" panose="020B0604030504040204" pitchFamily="34" charset="0"/>
                <a:cs typeface="Arial" panose="020B0604020202020204" pitchFamily="34" charset="0"/>
              </a:defRPr>
            </a:lvl9pPr>
          </a:lstStyle>
          <a:p>
            <a:pPr>
              <a:lnSpc>
                <a:spcPct val="200000"/>
              </a:lnSpc>
              <a:buFont typeface="Arial" panose="020B0604020202020204" pitchFamily="34" charset="0"/>
              <a:buChar char="•"/>
            </a:pPr>
            <a:r>
              <a:rPr lang="en-US" altLang="en-US"/>
              <a:t>To allow Telnet or SSH access to the switch, and to allow other IP-based management protocols (for example, Simple Network Management Protocol, or SNMP) to function as intended </a:t>
            </a:r>
            <a:br>
              <a:rPr lang="en-US" altLang="en-US"/>
            </a:br>
            <a:r>
              <a:rPr lang="en-US" altLang="en-US"/>
              <a:t>the switch needs an IP address, as well as a few other related settings. The IP address has</a:t>
            </a:r>
            <a:br>
              <a:rPr lang="en-US" altLang="en-US"/>
            </a:br>
            <a:r>
              <a:rPr lang="en-US" altLang="en-US"/>
              <a:t>nothing to do with how switches forward Ethernet frames; it simply exists to support overhead management traffic. </a:t>
            </a:r>
            <a:br>
              <a:rPr lang="en-US" altLang="en-US"/>
            </a:br>
            <a:endParaRPr lang="en-US"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86313C24-CB28-A3EB-3371-6A3589708B3F}"/>
              </a:ext>
            </a:extLst>
          </p:cNvPr>
          <p:cNvSpPr txBox="1">
            <a:spLocks noChangeArrowheads="1"/>
          </p:cNvSpPr>
          <p:nvPr/>
        </p:nvSpPr>
        <p:spPr bwMode="auto">
          <a:xfrm>
            <a:off x="685801" y="1519238"/>
            <a:ext cx="10363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b="1" dirty="0"/>
              <a:t>Host and Switch IP Settings</a:t>
            </a:r>
            <a:r>
              <a:rPr lang="en-US" sz="2400" dirty="0"/>
              <a:t> </a:t>
            </a:r>
          </a:p>
        </p:txBody>
      </p:sp>
      <p:pic>
        <p:nvPicPr>
          <p:cNvPr id="14345" name="Picture 2" descr="F:\C i s c o\CCNA 200 - 301 by zain\image\network access\IP ADD SW.PNG">
            <a:extLst>
              <a:ext uri="{FF2B5EF4-FFF2-40B4-BE49-F238E27FC236}">
                <a16:creationId xmlns:a16="http://schemas.microsoft.com/office/drawing/2014/main" id="{21DA6F49-FF50-E956-E593-4BB4D9B37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1" y="2133601"/>
            <a:ext cx="8839200" cy="422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B86D4726-23DC-B9CA-B992-005291423348}"/>
              </a:ext>
            </a:extLst>
          </p:cNvPr>
          <p:cNvSpPr txBox="1">
            <a:spLocks noChangeArrowheads="1"/>
          </p:cNvSpPr>
          <p:nvPr/>
        </p:nvSpPr>
        <p:spPr bwMode="auto">
          <a:xfrm>
            <a:off x="685801" y="1519238"/>
            <a:ext cx="10363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b="1" dirty="0"/>
              <a:t>Configuring IPv4 on a Switch</a:t>
            </a:r>
            <a:r>
              <a:rPr lang="en-US" sz="2400" dirty="0"/>
              <a:t> </a:t>
            </a:r>
          </a:p>
        </p:txBody>
      </p:sp>
      <p:pic>
        <p:nvPicPr>
          <p:cNvPr id="15369" name="Picture 2" descr="F:\C i s c o\CCNA 200 - 301 by zain\image\network access\SW IP ADD.PNG">
            <a:extLst>
              <a:ext uri="{FF2B5EF4-FFF2-40B4-BE49-F238E27FC236}">
                <a16:creationId xmlns:a16="http://schemas.microsoft.com/office/drawing/2014/main" id="{E17966C4-3488-52A0-426A-3A862FD64F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3251" y="2133600"/>
            <a:ext cx="7423150" cy="422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9811B70-07DB-C571-91A3-BF27F62B881E}"/>
              </a:ext>
            </a:extLst>
          </p:cNvPr>
          <p:cNvSpPr>
            <a:spLocks noGrp="1"/>
          </p:cNvSpPr>
          <p:nvPr>
            <p:ph type="title"/>
          </p:nvPr>
        </p:nvSpPr>
        <p:spPr/>
        <p:txBody>
          <a:bodyPr/>
          <a:lstStyle/>
          <a:p>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extBox 3">
            <a:extLst>
              <a:ext uri="{FF2B5EF4-FFF2-40B4-BE49-F238E27FC236}">
                <a16:creationId xmlns:a16="http://schemas.microsoft.com/office/drawing/2014/main" id="{0F26BD41-C45A-7E7B-4669-14825C64AC29}"/>
              </a:ext>
            </a:extLst>
          </p:cNvPr>
          <p:cNvSpPr txBox="1">
            <a:spLocks noChangeArrowheads="1"/>
          </p:cNvSpPr>
          <p:nvPr/>
        </p:nvSpPr>
        <p:spPr bwMode="auto">
          <a:xfrm>
            <a:off x="685801" y="1519238"/>
            <a:ext cx="10363200" cy="461962"/>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lvl1pPr eaLnBrk="0" hangingPunct="0">
              <a:defRPr sz="1600">
                <a:solidFill>
                  <a:schemeClr val="tx1"/>
                </a:solidFill>
                <a:latin typeface="Tahoma" pitchFamily="34" charset="0"/>
                <a:cs typeface="Arial" charset="0"/>
              </a:defRPr>
            </a:lvl1pPr>
            <a:lvl2pPr marL="742950" indent="-285750" eaLnBrk="0" hangingPunct="0">
              <a:defRPr sz="1600">
                <a:solidFill>
                  <a:schemeClr val="tx1"/>
                </a:solidFill>
                <a:latin typeface="Tahoma" pitchFamily="34" charset="0"/>
                <a:cs typeface="Arial" charset="0"/>
              </a:defRPr>
            </a:lvl2pPr>
            <a:lvl3pPr marL="1143000" indent="-228600" eaLnBrk="0" hangingPunct="0">
              <a:defRPr sz="1600">
                <a:solidFill>
                  <a:schemeClr val="tx1"/>
                </a:solidFill>
                <a:latin typeface="Tahoma" pitchFamily="34" charset="0"/>
                <a:cs typeface="Arial" charset="0"/>
              </a:defRPr>
            </a:lvl3pPr>
            <a:lvl4pPr marL="1600200" indent="-228600" eaLnBrk="0" hangingPunct="0">
              <a:defRPr sz="1600">
                <a:solidFill>
                  <a:schemeClr val="tx1"/>
                </a:solidFill>
                <a:latin typeface="Tahoma" pitchFamily="34" charset="0"/>
                <a:cs typeface="Arial" charset="0"/>
              </a:defRPr>
            </a:lvl4pPr>
            <a:lvl5pPr marL="2057400" indent="-228600" eaLnBrk="0" hangingPunct="0">
              <a:defRPr sz="1600">
                <a:solidFill>
                  <a:schemeClr val="tx1"/>
                </a:solidFill>
                <a:latin typeface="Tahoma" pitchFamily="34" charset="0"/>
                <a:cs typeface="Arial" charset="0"/>
              </a:defRPr>
            </a:lvl5pPr>
            <a:lvl6pPr marL="2514600" indent="-228600" eaLnBrk="0" fontAlgn="base" hangingPunct="0">
              <a:spcBef>
                <a:spcPct val="0"/>
              </a:spcBef>
              <a:spcAft>
                <a:spcPct val="0"/>
              </a:spcAft>
              <a:defRPr sz="1600">
                <a:solidFill>
                  <a:schemeClr val="tx1"/>
                </a:solidFill>
                <a:latin typeface="Tahoma" pitchFamily="34" charset="0"/>
                <a:cs typeface="Arial" charset="0"/>
              </a:defRPr>
            </a:lvl6pPr>
            <a:lvl7pPr marL="2971800" indent="-228600" eaLnBrk="0" fontAlgn="base" hangingPunct="0">
              <a:spcBef>
                <a:spcPct val="0"/>
              </a:spcBef>
              <a:spcAft>
                <a:spcPct val="0"/>
              </a:spcAft>
              <a:defRPr sz="1600">
                <a:solidFill>
                  <a:schemeClr val="tx1"/>
                </a:solidFill>
                <a:latin typeface="Tahoma" pitchFamily="34" charset="0"/>
                <a:cs typeface="Arial" charset="0"/>
              </a:defRPr>
            </a:lvl7pPr>
            <a:lvl8pPr marL="3429000" indent="-228600" eaLnBrk="0" fontAlgn="base" hangingPunct="0">
              <a:spcBef>
                <a:spcPct val="0"/>
              </a:spcBef>
              <a:spcAft>
                <a:spcPct val="0"/>
              </a:spcAft>
              <a:defRPr sz="1600">
                <a:solidFill>
                  <a:schemeClr val="tx1"/>
                </a:solidFill>
                <a:latin typeface="Tahoma" pitchFamily="34" charset="0"/>
                <a:cs typeface="Arial" charset="0"/>
              </a:defRPr>
            </a:lvl8pPr>
            <a:lvl9pPr marL="3886200" indent="-228600" eaLnBrk="0" fontAlgn="base" hangingPunct="0">
              <a:spcBef>
                <a:spcPct val="0"/>
              </a:spcBef>
              <a:spcAft>
                <a:spcPct val="0"/>
              </a:spcAft>
              <a:defRPr sz="1600">
                <a:solidFill>
                  <a:schemeClr val="tx1"/>
                </a:solidFill>
                <a:latin typeface="Tahoma" pitchFamily="34" charset="0"/>
                <a:cs typeface="Arial" charset="0"/>
              </a:defRPr>
            </a:lvl9pPr>
          </a:lstStyle>
          <a:p>
            <a:pPr>
              <a:defRPr/>
            </a:pPr>
            <a:r>
              <a:rPr lang="en-US" sz="2400" b="1" dirty="0"/>
              <a:t>Configuring IPv4 on a Switch</a:t>
            </a:r>
            <a:r>
              <a:rPr lang="en-US" sz="2400" dirty="0"/>
              <a:t> </a:t>
            </a:r>
          </a:p>
        </p:txBody>
      </p:sp>
      <p:pic>
        <p:nvPicPr>
          <p:cNvPr id="16393" name="Picture 2" descr="F:\C i s c o\CCNA 200 - 301 by zain\image\network access\APP.PNG">
            <a:extLst>
              <a:ext uri="{FF2B5EF4-FFF2-40B4-BE49-F238E27FC236}">
                <a16:creationId xmlns:a16="http://schemas.microsoft.com/office/drawing/2014/main" id="{C1FBCC2B-2C0D-005F-9A79-37BF45C366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501" y="2214564"/>
            <a:ext cx="10350500"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4513</Words>
  <Application>Microsoft Office PowerPoint</Application>
  <PresentationFormat>Widescreen</PresentationFormat>
  <Paragraphs>503</Paragraphs>
  <Slides>59</Slides>
  <Notes>58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59</vt:i4>
      </vt:variant>
    </vt:vector>
  </HeadingPairs>
  <TitlesOfParts>
    <vt:vector size="68" baseType="lpstr">
      <vt:lpstr>Aptos</vt:lpstr>
      <vt:lpstr>Aptos Display</vt:lpstr>
      <vt:lpstr>Arial</vt:lpstr>
      <vt:lpstr>Courier New</vt:lpstr>
      <vt:lpstr>Times New Roman</vt:lpstr>
      <vt:lpstr>Wingdings</vt:lpstr>
      <vt:lpstr>Office Theme</vt:lpstr>
      <vt:lpstr>Paintbrush Picture</vt:lpstr>
      <vt:lpstr>Bitmap Image</vt:lpstr>
      <vt:lpstr>Chapter three</vt:lpstr>
      <vt:lpstr>PowerPoint Presentation</vt:lpstr>
      <vt:lpstr> Introduction to Ethernet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Address Resolution Protocol (ARP)</vt:lpstr>
      <vt:lpstr>PowerPoint Presentation</vt:lpstr>
      <vt:lpstr>PowerPoint Presentation</vt:lpstr>
      <vt:lpstr> Cisco IOS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Lesson 10: Introduction to Cisco IOS CLI</vt:lpstr>
      <vt:lpstr>PowerPoint Presentation</vt:lpstr>
      <vt:lpstr>PowerPoint Presentation</vt:lpstr>
      <vt:lpstr>PowerPoint Presentation</vt:lpstr>
      <vt:lpstr>PowerPoint Presentation</vt:lpstr>
      <vt:lpstr>PowerPoint Presentation</vt:lpstr>
      <vt:lpstr>PowerPoint Presentation</vt:lpstr>
      <vt:lpstr> Basic Switch Configuration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Remote Access with SSH &amp; Telnet</vt:lpstr>
      <vt:lpstr>PowerPoint Presentation</vt:lpstr>
      <vt:lpstr>PowerPoint Presentation</vt:lpstr>
      <vt:lpstr>PowerPoint Presentation</vt:lpstr>
      <vt:lpstr>PowerPoint Presentation</vt:lpstr>
      <vt:lpstr>Lesson 12: Remote Access with SSH &amp; Telnet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ادم احمد</dc:creator>
  <cp:lastModifiedBy>ادم احمد</cp:lastModifiedBy>
  <cp:revision>38</cp:revision>
  <dcterms:created xsi:type="dcterms:W3CDTF">2025-12-18T04:22:42Z</dcterms:created>
  <dcterms:modified xsi:type="dcterms:W3CDTF">2025-12-18T04:53:44Z</dcterms:modified>
</cp:coreProperties>
</file>