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17"/>
  </p:notesMasterIdLst>
  <p:sldIdLst>
    <p:sldId id="500" r:id="rId3"/>
    <p:sldId id="609" r:id="rId4"/>
    <p:sldId id="512" r:id="rId5"/>
    <p:sldId id="498" r:id="rId6"/>
    <p:sldId id="611" r:id="rId7"/>
    <p:sldId id="622" r:id="rId8"/>
    <p:sldId id="623" r:id="rId9"/>
    <p:sldId id="624" r:id="rId10"/>
    <p:sldId id="625" r:id="rId11"/>
    <p:sldId id="613" r:id="rId12"/>
    <p:sldId id="614" r:id="rId13"/>
    <p:sldId id="615" r:id="rId14"/>
    <p:sldId id="626" r:id="rId15"/>
    <p:sldId id="514" r:id="rId16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178" autoAdjust="0"/>
    <p:restoredTop sz="94849" autoAdjust="0"/>
  </p:normalViewPr>
  <p:slideViewPr>
    <p:cSldViewPr>
      <p:cViewPr varScale="1">
        <p:scale>
          <a:sx n="70" d="100"/>
          <a:sy n="70" d="100"/>
        </p:scale>
        <p:origin x="138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04/07/1447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016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الإتصال الإداري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016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7589" y="1945796"/>
            <a:ext cx="87768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Administrative </a:t>
            </a:r>
            <a:r>
              <a:rPr lang="en-US" sz="48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Comonocation</a:t>
            </a:r>
            <a:endParaRPr 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6742" y="6242673"/>
            <a:ext cx="4977545" cy="338554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ar-SA" sz="1600" dirty="0">
                <a:solidFill>
                  <a:schemeClr val="bg1"/>
                </a:solidFill>
                <a:cs typeface="MCS Jeddah S_U normal." pitchFamily="2" charset="-78"/>
              </a:rPr>
              <a:t>د. هشام كمال محمد درونكي</a:t>
            </a:r>
            <a:endParaRPr lang="en-US" sz="16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76" y="2919566"/>
            <a:ext cx="6912768" cy="31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-224424"/>
            <a:ext cx="8229600" cy="1143000"/>
          </a:xfrm>
        </p:spPr>
        <p:txBody>
          <a:bodyPr>
            <a:normAutofit/>
          </a:bodyPr>
          <a:lstStyle/>
          <a:p>
            <a:r>
              <a:rPr lang="ar-SA" sz="3200" dirty="0" smtClean="0"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32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82864" y="572404"/>
            <a:ext cx="9038374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>
                <a:cs typeface="MCS Jeddah S_U normal." pitchFamily="2" charset="-78"/>
              </a:rPr>
              <a:t>الاتصالات الإدارية وكفاءة </a:t>
            </a:r>
            <a:r>
              <a:rPr lang="ar-SA" sz="2800" dirty="0" smtClean="0">
                <a:cs typeface="MCS Jeddah S_U normal." pitchFamily="2" charset="-78"/>
              </a:rPr>
              <a:t>العمل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الفعال أساس نجاح أي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منظمة وذلك كما يلي : 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تسريع وتبسيط تدفق المعلومات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تقليل الأخطاء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الإدارية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تحسين تنظيم الوثائق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والأرشفة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تقوية  التعاون بين الفرق</a:t>
            </a:r>
          </a:p>
          <a:p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717" y="3425790"/>
            <a:ext cx="86772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تبادل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المعلومات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التنسيق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التحفيز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بناء العلاقات 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إدارة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التغيير حيث </a:t>
            </a:r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يساعد في توضيح الأهداف والرؤية الجديدة </a:t>
            </a:r>
            <a:endParaRPr lang="ar-SA" sz="24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إدارة الأزمات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تقديم الدعم والمساعدة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تنمية المهارات 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يسهل الاتصال الاداري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 التفاعل </a:t>
            </a:r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الإيجابي ويذيد الإنتاجية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6136" y="2902570"/>
            <a:ext cx="3100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800" dirty="0">
                <a:cs typeface="MCS Jeddah S_U normal." pitchFamily="2" charset="-78"/>
              </a:rPr>
              <a:t>وظائف الاتصال الاداري </a:t>
            </a:r>
          </a:p>
        </p:txBody>
      </p:sp>
    </p:spTree>
    <p:extLst>
      <p:ext uri="{BB962C8B-B14F-4D97-AF65-F5344CB8AC3E}">
        <p14:creationId xmlns:p14="http://schemas.microsoft.com/office/powerpoint/2010/main" val="47841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115616" y="2276872"/>
            <a:ext cx="7128792" cy="1584176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أنواع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الاتصال</a:t>
            </a:r>
            <a:r>
              <a:rPr lang="en-US" sz="36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الإداري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Flowchart: Multidocument 3"/>
          <p:cNvSpPr/>
          <p:nvPr/>
        </p:nvSpPr>
        <p:spPr>
          <a:xfrm>
            <a:off x="1157286" y="4437112"/>
            <a:ext cx="7128792" cy="136815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مميزات الاتصال</a:t>
            </a: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7767" y="-1696348"/>
            <a:ext cx="5628465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أنواع الاتصال الإداري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1601" y="3709726"/>
            <a:ext cx="6984776" cy="2503115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1</a:t>
            </a:r>
            <a:r>
              <a:rPr lang="ar-SA" sz="4000" b="1" dirty="0">
                <a:solidFill>
                  <a:srgbClr val="FFFF00"/>
                </a:solidFill>
                <a:cs typeface="MCS Jeddah S_U normal." pitchFamily="2" charset="-78"/>
              </a:rPr>
              <a:t>. </a:t>
            </a:r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الاتصال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الرسمي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يتم عبر القنوات الرسمية المعتمدة داخل المؤسسة مثل التقارير والاجتماعات والمذكرات ويشمل القرارات والسياسات والإجراءات الرسمية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409930" y="1427292"/>
            <a:ext cx="81225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الاتصال الإداري يمكن تصنيفه إلى عدة أنواع بناءً على </a:t>
            </a:r>
            <a:r>
              <a:rPr lang="ar-SA" sz="3200" u="sng" dirty="0">
                <a:solidFill>
                  <a:schemeClr val="bg1"/>
                </a:solidFill>
                <a:cs typeface="MCS Jeddah S_U normal." pitchFamily="2" charset="-78"/>
              </a:rPr>
              <a:t>السياق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 والمحتوى وطريقة التواصل وأهم أنواع الاتصال الإداري هي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:</a:t>
            </a:r>
            <a:endParaRPr lang="en-US" sz="32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265" y="529653"/>
            <a:ext cx="8220109" cy="251027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2.  الاتصال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غير  الرسمي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يحدث بشكل غير رسمي ويشمل المحادثات العادية بين الموظفين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يمكن أن يساهم في بناء العلاقات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والتعاون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لكنه قد يؤدي أحيانًا إلى انتشار الشائعات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65" y="3244335"/>
            <a:ext cx="8220109" cy="338367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3.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الاتصال  العمودي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يُقسم إلى نوعين :</a:t>
            </a:r>
          </a:p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1- الاتصال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العمودي الصاعد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:</a:t>
            </a:r>
          </a:p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من الموظفين إلى الإدارة العليا (مثل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الاقتراحات و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الشكاوى)</a:t>
            </a:r>
          </a:p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2- الاتصال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العمودي النازل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:</a:t>
            </a:r>
          </a:p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من الإدارة العليا إلى الموظفين (مثل التعليمات والسياسات الجديدة)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7559" y="22740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أنواع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363809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529653"/>
            <a:ext cx="6840760" cy="293180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4.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الاتصال  </a:t>
            </a:r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الأفقي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يحدث بين الأفراد أو الفرق في نفس المستوى الإداري، ويساعد في التنسيق والتعاون بين الأقسام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الفرق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616" y="3962824"/>
            <a:ext cx="6840760" cy="247893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5.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الاتصال  الداخلي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يشير إلى الاتصالات التي تتم داخل المنظمة بين الأفراد أو الأقسام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المختلفة يهدف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إلى تحسين الأداء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الفعالية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7559" y="22740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أنواع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867233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529652"/>
            <a:ext cx="6840760" cy="3259387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6. الاتصال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الخارجي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يتم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بين المنظمة والأطراف الخارجية مثل العملاء والموردين والمستثمرين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يشمل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التواصل مع العالم الخارجي بهدف تعزيز العلاقات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الترويج للمنتجات والخدمات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616" y="4152777"/>
            <a:ext cx="6840760" cy="247893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7.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الاتصال  </a:t>
            </a:r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الرسمي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الشفهي</a:t>
            </a:r>
            <a:endParaRPr lang="ar-SA" sz="4000" b="1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يتضمن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المحادثات الشخصية أو المكالمات الهاتفية أو الاجتماعات الرسمية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7559" y="22740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أنواع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1073286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529652"/>
            <a:ext cx="6840760" cy="3259387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8.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الاتصال  الرسمي  الكتابي</a:t>
            </a:r>
          </a:p>
          <a:p>
            <a:pPr algn="ctr"/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يشمل الوثائق المكتوبة مثل التقارير والمذكرات والبريد الإلكتروني والنشرات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616" y="4152777"/>
            <a:ext cx="6840760" cy="247893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9. الاتصال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الرقمي 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يشمل استخدام التكنولوجيا الحديثة مثل البريد الإلكتروني وتطبيقات الدردشة  ووسائل التواصل الاجتماعي وأنظمة الإدارة الرقمية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7559" y="22740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أنواع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1275385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719317"/>
            <a:ext cx="6840760" cy="282707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10. الاتصال </a:t>
            </a:r>
            <a:r>
              <a:rPr lang="ar-SA" sz="4000" b="1" dirty="0" smtClean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 بين  </a:t>
            </a:r>
            <a:r>
              <a:rPr lang="ar-SA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  <a:cs typeface="MCS Jeddah S_U normal." pitchFamily="2" charset="-78"/>
              </a:rPr>
              <a:t>الثقافات  </a:t>
            </a:r>
            <a:endParaRPr lang="ar-SA" sz="4000" b="1" dirty="0" smtClean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endParaRPr lang="ar-SA" sz="4000" b="1" dirty="0" smtClean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التواصل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بين أشخاص أو فرق من خلفيات ثقافية مختلفة مما يتطلب فهماً واحتراماً للاختلافات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الثقافية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15616" y="3933056"/>
            <a:ext cx="6840760" cy="247893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كل نوع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من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الاتصال يلعب دوراً مهماً في كيفية إدارة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المعلومات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والتفاعل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داخل المنظمة حيث يساهم في تحقيق الأهداف التنظيمية وتعزيز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الأداء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7559" y="22740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أنواع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2220563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908" y="192813"/>
            <a:ext cx="77048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         مميزات </a:t>
            </a:r>
            <a:r>
              <a:rPr lang="ar-SA" sz="60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الاتصال</a:t>
            </a:r>
            <a:endParaRPr lang="ar-SA" sz="60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7584" y="1327055"/>
            <a:ext cx="7344816" cy="243564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يتميز الاتصال بعدة </a:t>
            </a:r>
            <a:r>
              <a:rPr lang="ar-SA" sz="2800" u="sng" dirty="0" smtClean="0">
                <a:solidFill>
                  <a:srgbClr val="FFFF00"/>
                </a:solidFill>
                <a:cs typeface="MCS Jeddah S_U normal." pitchFamily="2" charset="-78"/>
              </a:rPr>
              <a:t>سمات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سواء كان الاتصال رسميًا أو غير رسميأ أوتصاعديًا أو تنازليًا كل منهما يلعب دورًا محددًا في تحقيق الأهداف الاستراتيجية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84" y="4149080"/>
            <a:ext cx="7344816" cy="244827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u="sng" dirty="0" smtClean="0">
                <a:solidFill>
                  <a:srgbClr val="FFFF00"/>
                </a:solidFill>
                <a:cs typeface="MCS Jeddah S_U normal." pitchFamily="2" charset="-78"/>
              </a:rPr>
              <a:t>يرتبط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الاتصال الإداري بشكل وثيق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بالتكنولوجيا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الحديثة حيث أصبح الاتصال الرقمي أداة لاغنى عنها في بيئات العمل المعاصرة  مما يسهل الوصول إلى المعلومات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بسرعة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087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مميزات الاتصال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552" y="908720"/>
            <a:ext cx="8220109" cy="244827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يتطلب التواصل الإداري أيضًا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الانتباه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إلى التحديات التي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تواجهه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مثل سوء الفهم والاختلافات الثقافية والتكنولوجيا الحديثة التي قد تعيق التواصل الشخصي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552" y="3789040"/>
            <a:ext cx="8220109" cy="244827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إن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فهم آليات الاتصال الإداري ومبادئه يعد أمرًا بالغ الأهمية لتحقيق النجاح في أي منظمة وتحسين الأداء العام فيها </a:t>
            </a:r>
          </a:p>
        </p:txBody>
      </p:sp>
    </p:spTree>
    <p:extLst>
      <p:ext uri="{BB962C8B-B14F-4D97-AF65-F5344CB8AC3E}">
        <p14:creationId xmlns:p14="http://schemas.microsoft.com/office/powerpoint/2010/main" val="322222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مميزات الاتصال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404664"/>
            <a:ext cx="8220109" cy="223224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الإداري عنصرًا حيويًا في أي بيئة عمل حيث يسهم في تعزيز التنسيق والتعاون بين الأفراد مما يؤدي في النهاية إلى تحسين الأداء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وتحقيق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نتائج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إيجابية بالمنظمات</a:t>
            </a:r>
            <a:endParaRPr lang="ar-SA" sz="2400" u="sng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964" y="2911252"/>
            <a:ext cx="8220109" cy="2029916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‌الاتصالات ‌الإدارية ‌من ‌الأمور ‌المهمة ‌بالمؤسسات والمنظمات ‌ولا ‌يمكن ‌نقل ‌وتمرير‌ التعليمات ‌والتوجيهات‌ بين ‌العاملين بالمؤسسة‌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الا من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خلال ‌وجود‌ شبكة ‌اتصالات ‌‌ تخدم‌</a:t>
            </a:r>
          </a:p>
          <a:p>
            <a:pPr algn="ctr"/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هذا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‌الجانب</a:t>
            </a:r>
            <a:endParaRPr lang="ar-SA" sz="2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9964" y="5189060"/>
            <a:ext cx="8220109" cy="151216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وجود ‌شبكة الاتصال ‌الفعالة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‌يساعد ‌العاملين في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‌استيعاب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‌جميع ‌الحقوق‌ والواجبات ‌والأدوار‌ المناطة ‌بهم ‌مما ‌يزيد ‌من‌ انتاجية ‌وفاعلية‌ ‌المنظمة</a:t>
            </a:r>
          </a:p>
        </p:txBody>
      </p:sp>
    </p:spTree>
    <p:extLst>
      <p:ext uri="{BB962C8B-B14F-4D97-AF65-F5344CB8AC3E}">
        <p14:creationId xmlns:p14="http://schemas.microsoft.com/office/powerpoint/2010/main" val="242488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مميزات الاتصال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3" y="620688"/>
            <a:ext cx="8220109" cy="244827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الاتصالات ‌الإدارية ‌‌جزء ‌‌هاما‌ً‌ من‌ منظومة‌ الإدارة ‌لهذا‌ مهم   ‌الوصول‌ الي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‌</a:t>
            </a:r>
            <a:r>
              <a:rPr lang="ar-SA" sz="2400" u="sng" dirty="0" smtClean="0">
                <a:solidFill>
                  <a:srgbClr val="FFFF00"/>
                </a:solidFill>
                <a:cs typeface="MCS Jeddah S_U normal." pitchFamily="2" charset="-78"/>
              </a:rPr>
              <a:t>‌خريطة </a:t>
            </a:r>
            <a:r>
              <a:rPr lang="ar-SA" sz="2400" u="sng" dirty="0">
                <a:solidFill>
                  <a:srgbClr val="FFFF00"/>
                </a:solidFill>
                <a:cs typeface="MCS Jeddah S_U normal." pitchFamily="2" charset="-78"/>
              </a:rPr>
              <a:t>‌واضحة‌ من ‌الاتصالات ‌الإدارية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‌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وما‌يندرج‌ عنها‌ (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تدقيق‌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المعلومات ‌التنسيق‌ والمشاركة  ‌وفاعلية ‌الاتصال و‌التوقيت) ‌تمكن ‌العامل ‌من ‌أداء ‌عمله‌ علي ‌أفضل ‌وجه</a:t>
            </a:r>
            <a:endParaRPr lang="ar-SA" sz="2400" u="sng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3573016"/>
            <a:ext cx="8220109" cy="244827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اصبحت‌ الاتصالات‌ الإدارية‌ ليس ‌هدفا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‌ً‌ بحد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‌ذاته ‌وانما ‌هي ‌وسيلة ‌لبلوغ ‌الهدف‌ من‌ حيث ‌رفع ‌كفاءة ‌العاملين ‌مما ‌يؤدي ‌لتحقيق‌ أهداف ‌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المجموعة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‌واتاحة ‌الفرصة ‌لهؤلاء ‌العاملين ‌أن ‌يتفوقوا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‌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‌ويحققوا  فرص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‌النمو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987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503420" y="31808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3600" dirty="0" smtClean="0">
                <a:solidFill>
                  <a:srgbClr val="FF0000"/>
                </a:solidFill>
                <a:cs typeface="MCS Taybah S_U normal." pitchFamily="2" charset="-78"/>
              </a:rPr>
              <a:t>الاتصال الاداري</a:t>
            </a:r>
            <a:endParaRPr lang="en-US" sz="3600" dirty="0">
              <a:solidFill>
                <a:srgbClr val="FF0000"/>
              </a:solidFill>
              <a:cs typeface="MCS Tayb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8632</TotalTime>
  <Words>609</Words>
  <Application>Microsoft Office PowerPoint</Application>
  <PresentationFormat>On-screen Show (4:3)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المحاضرة السابقة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1255</cp:revision>
  <dcterms:created xsi:type="dcterms:W3CDTF">2011-08-17T19:43:41Z</dcterms:created>
  <dcterms:modified xsi:type="dcterms:W3CDTF">2025-12-23T16:49:10Z</dcterms:modified>
</cp:coreProperties>
</file>