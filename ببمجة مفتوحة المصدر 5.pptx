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  <p:sldMasterId id="2147483762" r:id="rId2"/>
  </p:sldMasterIdLst>
  <p:notesMasterIdLst>
    <p:notesMasterId r:id="rId17"/>
  </p:notesMasterIdLst>
  <p:sldIdLst>
    <p:sldId id="256" r:id="rId3"/>
    <p:sldId id="279" r:id="rId4"/>
    <p:sldId id="259" r:id="rId5"/>
    <p:sldId id="274" r:id="rId6"/>
    <p:sldId id="281" r:id="rId7"/>
    <p:sldId id="275" r:id="rId8"/>
    <p:sldId id="276" r:id="rId9"/>
    <p:sldId id="261" r:id="rId10"/>
    <p:sldId id="277" r:id="rId11"/>
    <p:sldId id="262" r:id="rId12"/>
    <p:sldId id="282" r:id="rId13"/>
    <p:sldId id="280" r:id="rId14"/>
    <p:sldId id="283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9BB3A-A2C8-4510-B8BB-1E230013D946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E30AC-6709-4CF1-B622-2C4E9D265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1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3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49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24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17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4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5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6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1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1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0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5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03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64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3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87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05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93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58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81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12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61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14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15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77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03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3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26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15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7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6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44FE5C-FB85-4083-8BFD-7DB29A71D8A8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853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0024" y="1964267"/>
            <a:ext cx="7610101" cy="242146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/>
              <a:t>Open Source OS (Linux)</a:t>
            </a:r>
            <a:br>
              <a:rPr lang="en-US" sz="4400" b="1" dirty="0"/>
            </a:br>
            <a:r>
              <a:rPr lang="ar-SA" sz="4400" b="1" dirty="0"/>
              <a:t>برمجة مفتوحة المصدر </a:t>
            </a:r>
            <a:br>
              <a:rPr lang="en-US" sz="3600" b="1" dirty="0"/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5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224" y="4385732"/>
            <a:ext cx="8848164" cy="1625103"/>
          </a:xfrm>
        </p:spPr>
        <p:txBody>
          <a:bodyPr>
            <a:noAutofit/>
          </a:bodyPr>
          <a:lstStyle/>
          <a:p>
            <a:pPr algn="ctr"/>
            <a:r>
              <a:rPr lang="en-US" sz="1600" dirty="0">
                <a:cs typeface="+mj-cs"/>
              </a:rPr>
              <a:t>By Scholar PhD. Edris Hussain Mohammed |</a:t>
            </a:r>
            <a:r>
              <a:rPr lang="en-US" sz="1600" dirty="0" err="1">
                <a:cs typeface="+mj-cs"/>
              </a:rPr>
              <a:t>karary</a:t>
            </a:r>
            <a:r>
              <a:rPr lang="en-US" sz="1600" dirty="0">
                <a:cs typeface="+mj-cs"/>
              </a:rPr>
              <a:t> university</a:t>
            </a:r>
          </a:p>
          <a:p>
            <a:pPr algn="ctr"/>
            <a:r>
              <a:rPr lang="en-US" sz="1600" dirty="0">
                <a:cs typeface="+mj-cs"/>
              </a:rPr>
              <a:t>Department of Information systems</a:t>
            </a:r>
          </a:p>
          <a:p>
            <a:pPr algn="ctr"/>
            <a:r>
              <a:rPr lang="en-US" sz="1600" dirty="0">
                <a:cs typeface="+mj-cs"/>
              </a:rPr>
              <a:t>Edruis.hessan@gmail.com</a:t>
            </a:r>
          </a:p>
          <a:p>
            <a:pPr algn="ctr"/>
            <a:r>
              <a:rPr lang="ar-SA" sz="1600" dirty="0">
                <a:cs typeface="+mj-cs"/>
              </a:rPr>
              <a:t>202</a:t>
            </a:r>
            <a:r>
              <a:rPr lang="en-US" sz="1600" dirty="0">
                <a:cs typeface="+mj-cs"/>
              </a:rPr>
              <a:t>5</a:t>
            </a:r>
          </a:p>
          <a:p>
            <a:pPr algn="ctr"/>
            <a:endParaRPr lang="en-US" sz="1600" dirty="0">
              <a:cs typeface="+mj-cs"/>
            </a:endParaRPr>
          </a:p>
          <a:p>
            <a:pPr algn="ctr"/>
            <a:endParaRPr lang="en-US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648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5 Topics: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 of Processes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&amp; Child Processes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Types 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Attributes 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Command: Process Status 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command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Management Overview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Packages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File Name Format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 Packages using apt command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Un-Installing Packages using apt 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Repository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153" y="10115"/>
            <a:ext cx="1494304" cy="18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6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 of Processes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an instance of a running program, and there can be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instances of the same application Linux is a multi-tasking OS, can run multiple processes simultaneously and each process may have multiple threads, where a thread is just another process (of special nature)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starting a process becomes its owner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owner does not have to be the same as the owner of the binary file for the process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have an owner, some processes started by the system can be owned by the root user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owner has privileges on his process like (kill, pause, resume)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‘root’ user have super powers on all system processes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inherits its user privileges when trying to access resources(for example when a process tries to write in a file)</a:t>
            </a:r>
          </a:p>
        </p:txBody>
      </p:sp>
    </p:spTree>
    <p:extLst>
      <p:ext uri="{BB962C8B-B14F-4D97-AF65-F5344CB8AC3E}">
        <p14:creationId xmlns:p14="http://schemas.microsoft.com/office/powerpoint/2010/main" val="240125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&amp; Child Processes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0883"/>
            <a:ext cx="10515600" cy="464241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that creates another becomes the parent, and the new process becomes the child process</a:t>
            </a:r>
          </a:p>
          <a:p>
            <a:pPr algn="just"/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process is started at system boot and it is the grand parent of all processes in the whole system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ID (PID) is a unique number to identify the process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will maintain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its parent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family of processes (A process, its children, grand-children, ...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when a process is created it becomes a member of the process group of its parent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command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tree hierarchy</a:t>
            </a:r>
          </a:p>
          <a:p>
            <a:pPr marL="457200" lvl="1" indent="0" algn="just">
              <a:buNone/>
            </a:pP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$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pstree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Showtree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starting at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systemd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process)</a:t>
            </a:r>
          </a:p>
          <a:p>
            <a:pPr marL="457200" lvl="1" indent="0" algn="just">
              <a:buNone/>
            </a:pP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$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pstree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-p (to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showPIDs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of all processes)</a:t>
            </a:r>
          </a:p>
          <a:p>
            <a:pPr marL="457200" lvl="1" indent="0" algn="just">
              <a:buNone/>
            </a:pP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$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pstree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1025 (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Showtree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starting at </a:t>
            </a:r>
            <a:r>
              <a:rPr lang="en-US" dirty="0" err="1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processwith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rPr>
              <a:t> PID = 1025)</a:t>
            </a:r>
          </a:p>
        </p:txBody>
      </p:sp>
    </p:spTree>
    <p:extLst>
      <p:ext uri="{BB962C8B-B14F-4D97-AF65-F5344CB8AC3E}">
        <p14:creationId xmlns:p14="http://schemas.microsoft.com/office/powerpoint/2010/main" val="30919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83" y="480919"/>
            <a:ext cx="5362575" cy="1571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17" y="1755962"/>
            <a:ext cx="4120683" cy="431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9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Types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can be classified into one of the following,</a:t>
            </a: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started by a user within a terminal and It is attached to its terminal, and will be killed if its terminal is closed</a:t>
            </a: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Process(Batch Process)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started directly by the user, instead, the user schedule it for a later start and it is not attached to terminal</a:t>
            </a: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Daemon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a process that runs continuously in the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to perform a task, or waiting for services to be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 from it and they normally start at system startup)</a:t>
            </a:r>
          </a:p>
        </p:txBody>
      </p:sp>
    </p:spTree>
    <p:extLst>
      <p:ext uri="{BB962C8B-B14F-4D97-AF65-F5344CB8AC3E}">
        <p14:creationId xmlns:p14="http://schemas.microsoft.com/office/powerpoint/2010/main" val="348307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Job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is the execution of a command in a terminal and it can be a single process or multiple connected processes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can run in the below modes: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Job: All input and output of the terminal is exclusively for this job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Start a job in the foreground just type the command like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Job: the Input and output do not utilize the terminal, and multiple Jobs can be in the background for the same terminal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start a job in the background use &amp; sign at the end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pause the foreground Job use Ctrl-z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resume the paused Job in the foreground use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Interrupt and stop a foreground Job use Ctrl-c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47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Arttribtes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ID or PID: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unique identification number used to refer to the process.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parent process ID or PPID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number of the process (PID) that  started this process.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Nice 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degree of friendliness of this process toward other  processes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or TTY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terminal to which the process is connected.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User ID (RUID):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who started the process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Effective User ID (EUID):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whose privileges will be inherited  by  the process when accessing resources</a:t>
            </a: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Group ID (RGID): The primary group of the user who started the process </a:t>
            </a: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Group ID (EGID): The Group ID whose privileges are inherited by the process when accessing system resources 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NOTE: By default RUID and EUID has the same value also RGID and EGID.</a:t>
            </a:r>
          </a:p>
        </p:txBody>
      </p:sp>
    </p:spTree>
    <p:extLst>
      <p:ext uri="{BB962C8B-B14F-4D97-AF65-F5344CB8AC3E}">
        <p14:creationId xmlns:p14="http://schemas.microsoft.com/office/powerpoint/2010/main" val="2353532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Command: Process Status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092398"/>
              </p:ext>
            </p:extLst>
          </p:nvPr>
        </p:nvGraphicFramePr>
        <p:xfrm>
          <a:off x="838200" y="1825625"/>
          <a:ext cx="10515600" cy="347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3408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35019363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539875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 </a:t>
                      </a:r>
                      <a:r>
                        <a:rPr lang="en-US" dirty="0" err="1"/>
                        <a:t>ps</a:t>
                      </a:r>
                      <a:r>
                        <a:rPr lang="en-US" dirty="0"/>
                        <a:t> &lt;options&gt;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Examples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0280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-e Everything, all processes</a:t>
                      </a:r>
                    </a:p>
                    <a:p>
                      <a:r>
                        <a:rPr lang="en-US" dirty="0"/>
                        <a:t>-f Full format listing.</a:t>
                      </a:r>
                    </a:p>
                    <a:p>
                      <a:r>
                        <a:rPr lang="en-US" dirty="0"/>
                        <a:t>-u username Display username’s </a:t>
                      </a:r>
                    </a:p>
                    <a:p>
                      <a:r>
                        <a:rPr lang="en-US" dirty="0"/>
                        <a:t>processes.</a:t>
                      </a:r>
                    </a:p>
                    <a:p>
                      <a:r>
                        <a:rPr lang="en-US" dirty="0"/>
                        <a:t>-p </a:t>
                      </a:r>
                      <a:r>
                        <a:rPr lang="en-US" dirty="0" err="1"/>
                        <a:t>pid</a:t>
                      </a:r>
                      <a:r>
                        <a:rPr lang="en-US" dirty="0"/>
                        <a:t> Display information for PID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-e Display all processes.</a:t>
                      </a:r>
                    </a:p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-</a:t>
                      </a:r>
                      <a:r>
                        <a:rPr lang="en-US" dirty="0" err="1"/>
                        <a:t>ef</a:t>
                      </a:r>
                      <a:r>
                        <a:rPr lang="en-US" dirty="0"/>
                        <a:t> Display all processes, full.</a:t>
                      </a:r>
                    </a:p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-</a:t>
                      </a:r>
                      <a:r>
                        <a:rPr lang="en-US" dirty="0" err="1"/>
                        <a:t>eH</a:t>
                      </a:r>
                      <a:r>
                        <a:rPr lang="en-US" dirty="0"/>
                        <a:t> Display a process tree.</a:t>
                      </a:r>
                    </a:p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-e --forest Display a process tree.</a:t>
                      </a:r>
                    </a:p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-u username Display user’s </a:t>
                      </a:r>
                    </a:p>
                    <a:p>
                      <a:r>
                        <a:rPr lang="en-US" dirty="0"/>
                        <a:t>processes.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2946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35" y="2199271"/>
            <a:ext cx="6655870" cy="286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2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139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top Command: Displays a dynamic view of the resource usage of system processes .</a:t>
            </a:r>
          </a:p>
          <a:p>
            <a:r>
              <a:rPr lang="en-US" dirty="0"/>
              <a:t>$ top</a:t>
            </a:r>
          </a:p>
          <a:p>
            <a:pPr lvl="1"/>
            <a:r>
              <a:rPr lang="en-US" dirty="0"/>
              <a:t>While the “top” tool is running, </a:t>
            </a:r>
          </a:p>
          <a:p>
            <a:pPr lvl="1"/>
            <a:r>
              <a:rPr lang="en-US" dirty="0"/>
              <a:t>Push ‘M’ to sort by memory usage </a:t>
            </a:r>
          </a:p>
          <a:p>
            <a:pPr lvl="1"/>
            <a:r>
              <a:rPr lang="en-US" dirty="0"/>
              <a:t>Push ‘P’ to sort by CPU processing usage </a:t>
            </a:r>
          </a:p>
          <a:p>
            <a:pPr lvl="1"/>
            <a:r>
              <a:rPr lang="en-US" dirty="0"/>
              <a:t>Push ‘T’ to sort by Time </a:t>
            </a:r>
          </a:p>
          <a:p>
            <a:pPr lvl="1"/>
            <a:r>
              <a:rPr lang="en-US" dirty="0"/>
              <a:t>Push ‘k &lt;</a:t>
            </a:r>
            <a:r>
              <a:rPr lang="en-US" dirty="0" err="1"/>
              <a:t>pid</a:t>
            </a:r>
            <a:r>
              <a:rPr lang="en-US" dirty="0"/>
              <a:t>&gt;’ to kill process by its </a:t>
            </a:r>
            <a:r>
              <a:rPr lang="en-US" dirty="0" err="1"/>
              <a:t>pid</a:t>
            </a:r>
            <a:endParaRPr lang="en-US" dirty="0"/>
          </a:p>
          <a:p>
            <a:pPr lvl="1"/>
            <a:r>
              <a:rPr lang="en-US" dirty="0"/>
              <a:t>Push ‘h’ for getting a help page for all options </a:t>
            </a:r>
          </a:p>
          <a:p>
            <a:pPr lvl="1"/>
            <a:r>
              <a:rPr lang="en-US" dirty="0"/>
              <a:t>Push ‘H’ to enable/disable showing threads separately</a:t>
            </a:r>
          </a:p>
        </p:txBody>
      </p:sp>
    </p:spTree>
    <p:extLst>
      <p:ext uri="{BB962C8B-B14F-4D97-AF65-F5344CB8AC3E}">
        <p14:creationId xmlns:p14="http://schemas.microsoft.com/office/powerpoint/2010/main" val="282504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487" y="2329656"/>
            <a:ext cx="97250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0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5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14652"/>
            <a:ext cx="10515600" cy="5445455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 IPC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 processes to exchange information.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 mechanisms:</a:t>
            </a:r>
          </a:p>
          <a:p>
            <a:pPr algn="just">
              <a:lnSpc>
                <a:spcPct val="11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Signals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word exchanged between processes and Kernel uses them to notify processes when certain events in response to interrupts and exceptions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or thread can block a signal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command that uses signal is kill</a:t>
            </a:r>
          </a:p>
          <a:p>
            <a:pPr algn="just">
              <a:lnSpc>
                <a:spcPct val="11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 command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built-in command which sends a signal to a process to terminates the process.</a:t>
            </a:r>
          </a:p>
          <a:p>
            <a:pPr algn="just">
              <a:lnSpc>
                <a:spcPct val="11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kill sends TERM signal by default but it can be used to send ay other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signal, like in examples below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suspend </a:t>
            </a:r>
            <a:r>
              <a:rPr lang="en-US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firefox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resume it and then terminate it using process PID.</a:t>
            </a:r>
          </a:p>
        </p:txBody>
      </p:sp>
    </p:spTree>
    <p:extLst>
      <p:ext uri="{BB962C8B-B14F-4D97-AF65-F5344CB8AC3E}">
        <p14:creationId xmlns:p14="http://schemas.microsoft.com/office/powerpoint/2010/main" val="777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0205" y="2152165"/>
            <a:ext cx="6753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1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9873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Ink Free" panose="03080402000500000000" pitchFamily="66" charset="0"/>
              </a:rPr>
              <a:t>The end </a:t>
            </a:r>
          </a:p>
        </p:txBody>
      </p:sp>
    </p:spTree>
    <p:extLst>
      <p:ext uri="{BB962C8B-B14F-4D97-AF65-F5344CB8AC3E}">
        <p14:creationId xmlns:p14="http://schemas.microsoft.com/office/powerpoint/2010/main" val="158744070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959</Words>
  <Application>Microsoft Office PowerPoint</Application>
  <PresentationFormat>Widescreen</PresentationFormat>
  <Paragraphs>107</Paragraphs>
  <Slides>14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Celestial</vt:lpstr>
      <vt:lpstr>Open Source OS (Linux) برمجة مفتوحة المصدر  Lecture 5</vt:lpstr>
      <vt:lpstr>Lecture 5 Topics:</vt:lpstr>
      <vt:lpstr>Basics of Processes</vt:lpstr>
      <vt:lpstr>Parent &amp; Child Processes</vt:lpstr>
      <vt:lpstr>PowerPoint Presentation</vt:lpstr>
      <vt:lpstr>Process Types</vt:lpstr>
      <vt:lpstr>The Job Control</vt:lpstr>
      <vt:lpstr>Process Arttribtes</vt:lpstr>
      <vt:lpstr>ps Command: Process Status </vt:lpstr>
      <vt:lpstr>top command</vt:lpstr>
      <vt:lpstr>PowerPoint Presentation</vt:lpstr>
      <vt:lpstr>Inter-Process Communication</vt:lpstr>
      <vt:lpstr>PowerPoint Presentation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 j</dc:title>
  <dc:creator>Hore</dc:creator>
  <cp:lastModifiedBy>ادريس حسين</cp:lastModifiedBy>
  <cp:revision>277</cp:revision>
  <dcterms:created xsi:type="dcterms:W3CDTF">2024-10-12T19:42:18Z</dcterms:created>
  <dcterms:modified xsi:type="dcterms:W3CDTF">2025-10-22T05:42:04Z</dcterms:modified>
</cp:coreProperties>
</file>