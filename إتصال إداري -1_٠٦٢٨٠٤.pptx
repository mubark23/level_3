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86" r:id="rId2"/>
  </p:sldMasterIdLst>
  <p:notesMasterIdLst>
    <p:notesMasterId r:id="rId28"/>
  </p:notesMasterIdLst>
  <p:sldIdLst>
    <p:sldId id="500" r:id="rId3"/>
    <p:sldId id="602" r:id="rId4"/>
    <p:sldId id="603" r:id="rId5"/>
    <p:sldId id="604" r:id="rId6"/>
    <p:sldId id="605" r:id="rId7"/>
    <p:sldId id="606" r:id="rId8"/>
    <p:sldId id="607" r:id="rId9"/>
    <p:sldId id="608" r:id="rId10"/>
    <p:sldId id="609" r:id="rId11"/>
    <p:sldId id="600" r:id="rId12"/>
    <p:sldId id="512" r:id="rId13"/>
    <p:sldId id="498" r:id="rId14"/>
    <p:sldId id="591" r:id="rId15"/>
    <p:sldId id="599" r:id="rId16"/>
    <p:sldId id="534" r:id="rId17"/>
    <p:sldId id="571" r:id="rId18"/>
    <p:sldId id="592" r:id="rId19"/>
    <p:sldId id="593" r:id="rId20"/>
    <p:sldId id="594" r:id="rId21"/>
    <p:sldId id="595" r:id="rId22"/>
    <p:sldId id="586" r:id="rId23"/>
    <p:sldId id="596" r:id="rId24"/>
    <p:sldId id="597" r:id="rId25"/>
    <p:sldId id="598" r:id="rId26"/>
    <p:sldId id="514" r:id="rId27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00FF"/>
    <a:srgbClr val="003217"/>
    <a:srgbClr val="00682F"/>
    <a:srgbClr val="57EFF3"/>
    <a:srgbClr val="24DFE8"/>
    <a:srgbClr val="00FF00"/>
    <a:srgbClr val="CC0099"/>
    <a:srgbClr val="4FF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178" autoAdjust="0"/>
    <p:restoredTop sz="94849" autoAdjust="0"/>
  </p:normalViewPr>
  <p:slideViewPr>
    <p:cSldViewPr>
      <p:cViewPr varScale="1">
        <p:scale>
          <a:sx n="69" d="100"/>
          <a:sy n="69" d="100"/>
        </p:scale>
        <p:origin x="142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B4217-A0A8-494C-8F3C-C58D3904B27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9FA61-F536-4629-9F1E-E9543B5E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94A41472-F0B0-467A-A593-37B8E299A31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30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79BEF-7EFA-4FF7-9F29-9241EBE7F107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6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EDE3FB8F-BDE8-4CCC-A469-DE6F1793155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2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BE122-3D7B-4707-96E7-614BA48F07E0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6A632-6AB5-4859-8114-90C4D3EB68D4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89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33895-8EE1-4B38-9D21-0495C3DA4F3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9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A471-183B-4601-BB62-62FFB82AE24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31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A9468-1196-4B2A-9F8D-F3AF3814B4AA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79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7038D2FF-1E85-435D-B78E-CC6A1B8062AE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8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C9652-B3F6-4E6D-8B91-B25A2A2A571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78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BF5F8-6727-4F2A-AD6F-6A8A895EF88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8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275AD6-72D9-449A-B94E-E9AA82FCFB7E}" type="slidenum">
              <a:rPr lang="ar-SA" smtClean="0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96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1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2pPr>
      <a:lvl3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3pPr>
      <a:lvl4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4pPr>
      <a:lvl5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5pPr>
      <a:lvl6pPr marL="4572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6pPr>
      <a:lvl7pPr marL="9144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7pPr>
      <a:lvl8pPr marL="13716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8pPr>
      <a:lvl9pPr marL="18288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9pPr>
    </p:titleStyle>
    <p:bodyStyle>
      <a:lvl1pPr marL="273050" indent="-273050" algn="r" rtl="1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Majalla UI"/>
          <a:cs typeface="+mn-cs"/>
        </a:defRPr>
      </a:lvl1pPr>
      <a:lvl2pPr marL="639763" indent="-246063" algn="r" rtl="1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Majalla UI"/>
          <a:cs typeface="+mn-cs"/>
        </a:defRPr>
      </a:lvl2pPr>
      <a:lvl3pPr marL="914400" indent="-246063" algn="r" rtl="1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Majalla UI"/>
          <a:cs typeface="+mn-cs"/>
        </a:defRPr>
      </a:lvl3pPr>
      <a:lvl4pPr marL="1187450" indent="-209550" algn="r" rtl="1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4pPr>
      <a:lvl5pPr marL="1462088" indent="-209550" algn="r" rtl="1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5pPr>
      <a:lvl6pPr marL="1737360" indent="-210312" algn="r" rtl="1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rtl="1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r" rtl="1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r" rtl="1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4000" r="-4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8520" y="347172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96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016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الإتصال الإداري</a:t>
            </a:r>
            <a:endParaRPr lang="en-US" sz="9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1016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3037" y="1988840"/>
            <a:ext cx="87768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Administrative </a:t>
            </a:r>
            <a:r>
              <a:rPr lang="en-US" sz="4800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Comonocation</a:t>
            </a:r>
            <a:endParaRPr 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91525" y="529365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611956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ar-EG" altLang="en-US" sz="4000" dirty="0">
              <a:solidFill>
                <a:srgbClr val="FFFF00"/>
              </a:solidFill>
              <a:cs typeface="MCS Tayb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86742" y="6242673"/>
            <a:ext cx="4977545" cy="369332"/>
          </a:xfrm>
          <a:prstGeom prst="rect">
            <a:avLst/>
          </a:prstGeom>
          <a:effectLst>
            <a:glow rad="139700">
              <a:schemeClr val="accent1">
                <a:alpha val="53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ar-SA" dirty="0">
                <a:solidFill>
                  <a:schemeClr val="bg1"/>
                </a:solidFill>
                <a:cs typeface="MCS Jeddah S_U normal." pitchFamily="2" charset="-78"/>
              </a:rPr>
              <a:t>د. هشام كمال محمد درونكي</a:t>
            </a:r>
            <a:endParaRPr lang="en-US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76" y="2919566"/>
            <a:ext cx="6912768" cy="313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74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40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السيرة </a:t>
            </a:r>
            <a:r>
              <a:rPr lang="ar-SA" sz="4000" dirty="0" smtClean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الذاتية </a:t>
            </a:r>
            <a:r>
              <a:rPr lang="af-ZA" sz="4000" dirty="0" smtClean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CV </a:t>
            </a:r>
            <a:endParaRPr lang="en-US" sz="40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6572" y="1598655"/>
            <a:ext cx="27061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هشام كمال محمد عبد الرحمن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النشاة والميلاد أمدرمان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99748" y="2650050"/>
            <a:ext cx="22543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مراحل التعليم أمدرمان 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2144" y="3026275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التخصص العام :علوم  إدارية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التخصص الدقيق : إدارة أعمال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76572" y="2206889"/>
            <a:ext cx="30060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متزوج وأب لعدد من الابناء 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1907704" y="4061894"/>
          <a:ext cx="5970905" cy="2641473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1267756">
                  <a:extLst>
                    <a:ext uri="{9D8B030D-6E8A-4147-A177-3AD203B41FA5}">
                      <a16:colId xmlns:a16="http://schemas.microsoft.com/office/drawing/2014/main" val="109374803"/>
                    </a:ext>
                  </a:extLst>
                </a:gridCol>
                <a:gridCol w="851774">
                  <a:extLst>
                    <a:ext uri="{9D8B030D-6E8A-4147-A177-3AD203B41FA5}">
                      <a16:colId xmlns:a16="http://schemas.microsoft.com/office/drawing/2014/main" val="3003482540"/>
                    </a:ext>
                  </a:extLst>
                </a:gridCol>
                <a:gridCol w="1901634">
                  <a:extLst>
                    <a:ext uri="{9D8B030D-6E8A-4147-A177-3AD203B41FA5}">
                      <a16:colId xmlns:a16="http://schemas.microsoft.com/office/drawing/2014/main" val="1945758913"/>
                    </a:ext>
                  </a:extLst>
                </a:gridCol>
                <a:gridCol w="843992">
                  <a:extLst>
                    <a:ext uri="{9D8B030D-6E8A-4147-A177-3AD203B41FA5}">
                      <a16:colId xmlns:a16="http://schemas.microsoft.com/office/drawing/2014/main" val="479650235"/>
                    </a:ext>
                  </a:extLst>
                </a:gridCol>
                <a:gridCol w="1105749">
                  <a:extLst>
                    <a:ext uri="{9D8B030D-6E8A-4147-A177-3AD203B41FA5}">
                      <a16:colId xmlns:a16="http://schemas.microsoft.com/office/drawing/2014/main" val="3462504377"/>
                    </a:ext>
                  </a:extLst>
                </a:gridCol>
              </a:tblGrid>
              <a:tr h="72905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الدكتوراه 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جامعة الزعيم الأزهري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السودان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علوم ادارية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 (ادارة اعمال)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9503169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الماجســــتيـر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جامعة كرري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السودان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علوم ادارية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 (ادارة اعمال)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2426186"/>
                  </a:ext>
                </a:extLst>
              </a:tr>
              <a:tr h="4635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 smtClean="0">
                          <a:effectLst/>
                        </a:rPr>
                        <a:t>ا</a:t>
                      </a:r>
                      <a:r>
                        <a:rPr kumimoji="0" lang="ar-SA" sz="18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لبكالوريـوس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جامعة كرري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السودان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علوم ادارية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 (ادارة اعمال)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23291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220072" y="3692562"/>
            <a:ext cx="28404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الدرجة العلمية أستاذ مساعد </a:t>
            </a:r>
          </a:p>
        </p:txBody>
      </p:sp>
    </p:spTree>
    <p:extLst>
      <p:ext uri="{BB962C8B-B14F-4D97-AF65-F5344CB8AC3E}">
        <p14:creationId xmlns:p14="http://schemas.microsoft.com/office/powerpoint/2010/main" val="4530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23001"/>
            <a:ext cx="8229600" cy="1143000"/>
          </a:xfrm>
        </p:spPr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السجل الوظيفي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346603"/>
              </p:ext>
            </p:extLst>
          </p:nvPr>
        </p:nvGraphicFramePr>
        <p:xfrm>
          <a:off x="282486" y="1052736"/>
          <a:ext cx="8599715" cy="5548750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1112032">
                  <a:extLst>
                    <a:ext uri="{9D8B030D-6E8A-4147-A177-3AD203B41FA5}">
                      <a16:colId xmlns:a16="http://schemas.microsoft.com/office/drawing/2014/main" val="3403535648"/>
                    </a:ext>
                  </a:extLst>
                </a:gridCol>
                <a:gridCol w="2080370">
                  <a:extLst>
                    <a:ext uri="{9D8B030D-6E8A-4147-A177-3AD203B41FA5}">
                      <a16:colId xmlns:a16="http://schemas.microsoft.com/office/drawing/2014/main" val="2117063585"/>
                    </a:ext>
                  </a:extLst>
                </a:gridCol>
                <a:gridCol w="2943453">
                  <a:extLst>
                    <a:ext uri="{9D8B030D-6E8A-4147-A177-3AD203B41FA5}">
                      <a16:colId xmlns:a16="http://schemas.microsoft.com/office/drawing/2014/main" val="4219377083"/>
                    </a:ext>
                  </a:extLst>
                </a:gridCol>
                <a:gridCol w="2463860">
                  <a:extLst>
                    <a:ext uri="{9D8B030D-6E8A-4147-A177-3AD203B41FA5}">
                      <a16:colId xmlns:a16="http://schemas.microsoft.com/office/drawing/2014/main" val="607661678"/>
                    </a:ext>
                  </a:extLst>
                </a:gridCol>
              </a:tblGrid>
              <a:tr h="22149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معيد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معهد المهندسين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2017م -2019م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5942769"/>
                  </a:ext>
                </a:extLst>
              </a:tr>
              <a:tr h="1832627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أستاذ مساعد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كلية المقرن للعلوم والتكنولوجيا - كلية إبن خلدون  للعلوم والتكنولوجيا -الكلية السودانية للعلوم والتكنولوجيا- اكاديمية الصفا 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2019م -2024م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7557759"/>
                  </a:ext>
                </a:extLst>
              </a:tr>
              <a:tr h="32637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كبير المعلمين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معهد المهندسين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2018م – 2022م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8721841"/>
                  </a:ext>
                </a:extLst>
              </a:tr>
              <a:tr h="32637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أستاذ مساعد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الكلية السودانية للعلوم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2018م – 2024م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8452158"/>
                  </a:ext>
                </a:extLst>
              </a:tr>
              <a:tr h="32637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محاضر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أكاديمية نميري العليا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2018م – 2022م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44858107"/>
                  </a:ext>
                </a:extLst>
              </a:tr>
              <a:tr h="61087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أستاذ مساعد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كلية بن خلدون للعلوم والتكنولوجيا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2020م – 2024م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6900320"/>
                  </a:ext>
                </a:extLst>
              </a:tr>
              <a:tr h="61087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7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الوكيل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الكلية السودانية للعلوم والتكنولوجيا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2023م -2025م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8640692"/>
                  </a:ext>
                </a:extLst>
              </a:tr>
              <a:tr h="61087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عضو المجلس العلمي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الكلية السودانية للعلوم والتكنولوجيا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2025م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7374304"/>
                  </a:ext>
                </a:extLst>
              </a:tr>
              <a:tr h="61087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مشرف بحوث بكلاريوس</a:t>
                      </a:r>
                      <a:endParaRPr lang="en-US" sz="1800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كلية إبن خلدون للعلوم والتكنولوجيا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2024م – 2025م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4226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20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63688" y="-99392"/>
            <a:ext cx="5896096" cy="1143000"/>
          </a:xfrm>
        </p:spPr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الـخـبـرات الـعـمـلـيـة والاستشارية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116474"/>
              </p:ext>
            </p:extLst>
          </p:nvPr>
        </p:nvGraphicFramePr>
        <p:xfrm>
          <a:off x="323528" y="1043608"/>
          <a:ext cx="8439015" cy="5202486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468934">
                  <a:extLst>
                    <a:ext uri="{9D8B030D-6E8A-4147-A177-3AD203B41FA5}">
                      <a16:colId xmlns:a16="http://schemas.microsoft.com/office/drawing/2014/main" val="1266340999"/>
                    </a:ext>
                  </a:extLst>
                </a:gridCol>
                <a:gridCol w="6110516">
                  <a:extLst>
                    <a:ext uri="{9D8B030D-6E8A-4147-A177-3AD203B41FA5}">
                      <a16:colId xmlns:a16="http://schemas.microsoft.com/office/drawing/2014/main" val="3326044507"/>
                    </a:ext>
                  </a:extLst>
                </a:gridCol>
                <a:gridCol w="1859565">
                  <a:extLst>
                    <a:ext uri="{9D8B030D-6E8A-4147-A177-3AD203B41FA5}">
                      <a16:colId xmlns:a16="http://schemas.microsoft.com/office/drawing/2014/main" val="2867935798"/>
                    </a:ext>
                  </a:extLst>
                </a:gridCol>
              </a:tblGrid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عضو لجنة وحدة الإختبارات بالكلية السودانية للعلوم والتكنولوجيا</a:t>
                      </a:r>
                      <a:endParaRPr lang="en-US" sz="1800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71755" marR="71755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2019م-2023م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2664633947"/>
                  </a:ext>
                </a:extLst>
              </a:tr>
              <a:tr h="622688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رئيس قسم البحوث بمعهد المهندسين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2019م-2021م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1489360024"/>
                  </a:ext>
                </a:extLst>
              </a:tr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محكم أوراق في كلية المقرن للعلوم والتكنولوجيا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2022م-2023م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1221893571"/>
                  </a:ext>
                </a:extLst>
              </a:tr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مشرف علي عدد من البحوث بالاكاديمية العسكرية العليا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2018م-2020م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524591882"/>
                  </a:ext>
                </a:extLst>
              </a:tr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</a:rPr>
                        <a:t>6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عضو في لجان مناقشة البحوث باكاديمية نميري العليا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2019م-2022م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264006836"/>
                  </a:ext>
                </a:extLst>
              </a:tr>
              <a:tr h="622688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عضو لجنة الجودة الشاملة بمعهد المهندسين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2019م-2022م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686054812"/>
                  </a:ext>
                </a:extLst>
              </a:tr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مشرف بحوث بكلاريوس بكلية المقرن للعلوم والتكنولوجيا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2023م 2025م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792808263"/>
                  </a:ext>
                </a:extLst>
              </a:tr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مشرف بحوث بكلاريوس بكلية اابن خلدون  للعلوم والتكنولوجيا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 dirty="0">
                          <a:effectLst/>
                        </a:rPr>
                        <a:t>2023م – 2025م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2522349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40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البحوث والأنشطة الـعـلـمـيـة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178080"/>
              </p:ext>
            </p:extLst>
          </p:nvPr>
        </p:nvGraphicFramePr>
        <p:xfrm>
          <a:off x="529206" y="1196751"/>
          <a:ext cx="8157593" cy="5184576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631527">
                  <a:extLst>
                    <a:ext uri="{9D8B030D-6E8A-4147-A177-3AD203B41FA5}">
                      <a16:colId xmlns:a16="http://schemas.microsoft.com/office/drawing/2014/main" val="439481512"/>
                    </a:ext>
                  </a:extLst>
                </a:gridCol>
                <a:gridCol w="7526066">
                  <a:extLst>
                    <a:ext uri="{9D8B030D-6E8A-4147-A177-3AD203B41FA5}">
                      <a16:colId xmlns:a16="http://schemas.microsoft.com/office/drawing/2014/main" val="2537880587"/>
                    </a:ext>
                  </a:extLst>
                </a:gridCol>
              </a:tblGrid>
              <a:tr h="116131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ar-SA" sz="1800" b="1" kern="1200" dirty="0" smtClean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 smtClean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بحث </a:t>
                      </a: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 الجودة الشاملة ورفع كفاءة العاملين بالدولة (بحث تكميلي بدورة معلمين) معهد المهندسين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2585529"/>
                  </a:ext>
                </a:extLst>
              </a:tr>
              <a:tr h="176061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بحث اثر إدارة الجودة الشاملة في تسويق الخدمات المصرفية بالتطبيق علي بنك فيصل الاسلامي(دكتوراة جامعة الزعيم الازهري</a:t>
                      </a:r>
                      <a:r>
                        <a:rPr lang="ar-SA" sz="1800" b="1" kern="1200" dirty="0" smtClean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)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9802561"/>
                  </a:ext>
                </a:extLst>
              </a:tr>
              <a:tr h="56566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بحث واقع الخدمات المصرفية بالمصارف السودانية (ماجستير جامعة كرري)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3965076"/>
                  </a:ext>
                </a:extLst>
              </a:tr>
              <a:tr h="56566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بحث تطوير العمل الاداري بالمؤسسات الحكومية (بكلاريوس جامعة كرري)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764938"/>
                  </a:ext>
                </a:extLst>
              </a:tr>
              <a:tr h="56566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إعداد والمشاركة في العديد من السمنارات العلمية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5775672"/>
                  </a:ext>
                </a:extLst>
              </a:tr>
              <a:tr h="56566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المشاركة في العديد من الندوات العلمية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3519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81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9552" y="-99392"/>
            <a:ext cx="8229600" cy="1115488"/>
          </a:xfrm>
        </p:spPr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الدورات التدريبية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767306"/>
              </p:ext>
            </p:extLst>
          </p:nvPr>
        </p:nvGraphicFramePr>
        <p:xfrm>
          <a:off x="402980" y="1196752"/>
          <a:ext cx="8502743" cy="547456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648937">
                  <a:extLst>
                    <a:ext uri="{9D8B030D-6E8A-4147-A177-3AD203B41FA5}">
                      <a16:colId xmlns:a16="http://schemas.microsoft.com/office/drawing/2014/main" val="1182256575"/>
                    </a:ext>
                  </a:extLst>
                </a:gridCol>
                <a:gridCol w="7853806">
                  <a:extLst>
                    <a:ext uri="{9D8B030D-6E8A-4147-A177-3AD203B41FA5}">
                      <a16:colId xmlns:a16="http://schemas.microsoft.com/office/drawing/2014/main" val="2712802985"/>
                    </a:ext>
                  </a:extLst>
                </a:gridCol>
              </a:tblGrid>
              <a:tr h="881912">
                <a:tc gridSpan="2"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ar-SA" sz="1800" b="1" kern="1200" dirty="0" smtClean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2400" b="1" kern="1200" dirty="0" smtClean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حضور </a:t>
                      </a:r>
                      <a:r>
                        <a:rPr lang="ar-SA" sz="24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العديد من الدورات التدريبية :</a:t>
                      </a:r>
                      <a:endParaRPr lang="en-US" sz="24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888282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إستخدام تكنولوجيا التعليم في التدريس الجامعي - مركز جامعة الخرطوم للتدريب المتقدم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9644957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أساسيات البحث العلمي والكتابة العلمية - مركز جامعة الخرطوم للتدريب المتقدم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1442664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القياس والتقويم - مركز جامعة الخرطوم للتدريب المتقدم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2393060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أخلاقيات مهنة التعليم الجامعي - مركز جامعة الخرطوم للتدريب المتقدم 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1150580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 الحاسب الالي – معهد نظم المعلومات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9266723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لغة إنجليزية – معهد سلتي الخرطوم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796971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قانون دولي إنساني – الأمم المتحده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200584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فض النزاعات – الامم المتحده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0666004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إختصاصي تعليم وتدريب الكتروني – البورد العربي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232953"/>
                  </a:ext>
                </a:extLst>
              </a:tr>
              <a:tr h="47749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مدربين الصليب الأحمر الدولي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3962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05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المؤتمرات والندوات العلمية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452529"/>
              </p:ext>
            </p:extLst>
          </p:nvPr>
        </p:nvGraphicFramePr>
        <p:xfrm>
          <a:off x="457200" y="1556792"/>
          <a:ext cx="8208911" cy="4176465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432383">
                  <a:extLst>
                    <a:ext uri="{9D8B030D-6E8A-4147-A177-3AD203B41FA5}">
                      <a16:colId xmlns:a16="http://schemas.microsoft.com/office/drawing/2014/main" val="1463919361"/>
                    </a:ext>
                  </a:extLst>
                </a:gridCol>
                <a:gridCol w="7776528">
                  <a:extLst>
                    <a:ext uri="{9D8B030D-6E8A-4147-A177-3AD203B41FA5}">
                      <a16:colId xmlns:a16="http://schemas.microsoft.com/office/drawing/2014/main" val="4219055073"/>
                    </a:ext>
                  </a:extLst>
                </a:gridCol>
              </a:tblGrid>
              <a:tr h="83529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1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800" b="1" kern="1200" dirty="0" smtClean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just" defTabSz="914400" rtl="1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800" b="1" kern="1200" dirty="0" smtClean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ندوة </a:t>
                      </a:r>
                      <a:r>
                        <a:rPr lang="ar-EG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تطوير العمل الاداري في ظل العولمة – اكاديمية نميري العليا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700643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مؤتمر واقع الادارة بالمؤسسات الحكومية وتطويره - اكاديمية نميري العليا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7296694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ندوة الجودة الشاملة بالمؤسسات التعليمية – معهد المهندسين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9553723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ندوة منهجية  البحث العلمي وسبل تطويره – جامعة السودان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503898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مؤتمر الحكم المدني في السودان وتداعياته – الاكاديمية العسكرية العليا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3765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00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النشر العلمي 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072539"/>
              </p:ext>
            </p:extLst>
          </p:nvPr>
        </p:nvGraphicFramePr>
        <p:xfrm>
          <a:off x="759297" y="1700808"/>
          <a:ext cx="7625406" cy="3830168"/>
        </p:xfrm>
        <a:graphic>
          <a:graphicData uri="http://schemas.openxmlformats.org/drawingml/2006/table">
            <a:tbl>
              <a:tblPr rtl="1" firstRow="1" firstCol="1" bandRow="1"/>
              <a:tblGrid>
                <a:gridCol w="335765">
                  <a:extLst>
                    <a:ext uri="{9D8B030D-6E8A-4147-A177-3AD203B41FA5}">
                      <a16:colId xmlns:a16="http://schemas.microsoft.com/office/drawing/2014/main" val="3949046782"/>
                    </a:ext>
                  </a:extLst>
                </a:gridCol>
                <a:gridCol w="7289641">
                  <a:extLst>
                    <a:ext uri="{9D8B030D-6E8A-4147-A177-3AD203B41FA5}">
                      <a16:colId xmlns:a16="http://schemas.microsoft.com/office/drawing/2014/main" val="2382532175"/>
                    </a:ext>
                  </a:extLst>
                </a:gridCol>
              </a:tblGrid>
              <a:tr h="134516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400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400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ورقة </a:t>
                      </a:r>
                      <a:r>
                        <a:rPr lang="ar-SA" sz="24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أثر التحسين المستمر في تسويق الخدمات </a:t>
                      </a: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المصرفية</a:t>
                      </a: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 </a:t>
                      </a:r>
                      <a:r>
                        <a:rPr lang="ar-SA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الناشر مجلة جامعة </a:t>
                      </a:r>
                      <a:r>
                        <a:rPr lang="ar-SA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دنقلا</a:t>
                      </a: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400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988653"/>
                  </a:ext>
                </a:extLst>
              </a:tr>
              <a:tr h="109161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400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ورقة </a:t>
                      </a:r>
                      <a:r>
                        <a:rPr lang="ar-SA" sz="24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اثر الجودة الشاملة في تسويق الخدمات المصرفية </a:t>
                      </a:r>
                      <a:endParaRPr lang="ar-SA" sz="2400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 </a:t>
                      </a:r>
                      <a:r>
                        <a:rPr lang="ar-SA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الناشر مجلة أكاديمية نميري العليا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204413"/>
                  </a:ext>
                </a:extLst>
              </a:tr>
              <a:tr h="109161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400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800" b="1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موضوعات </a:t>
                      </a:r>
                      <a:r>
                        <a:rPr lang="ar-SA" sz="24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علمية بمجلات </a:t>
                      </a: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محلية مختلفة 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992637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31975" y="34940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15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3200" dirty="0">
                <a:latin typeface="+mn-lt"/>
                <a:ea typeface="+mn-ea"/>
                <a:cs typeface="MCS Jeddah S_U normal." pitchFamily="2" charset="-78"/>
              </a:rPr>
              <a:t>المهارات الشخصية</a:t>
            </a:r>
            <a:endParaRPr lang="en-US" sz="3200" dirty="0"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5576" y="1628800"/>
            <a:ext cx="66967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- العمل بروح الفريق   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- إعداد العروض التقديمية واستخدام الحاسوب   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- تحمل ضغوط العمل</a:t>
            </a:r>
          </a:p>
        </p:txBody>
      </p:sp>
    </p:spTree>
    <p:extLst>
      <p:ext uri="{BB962C8B-B14F-4D97-AF65-F5344CB8AC3E}">
        <p14:creationId xmlns:p14="http://schemas.microsoft.com/office/powerpoint/2010/main" val="47841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4000" r="-4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8520" y="347172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96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016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الإتصال الإداري</a:t>
            </a:r>
            <a:endParaRPr lang="en-US" sz="9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1016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3037" y="1988840"/>
            <a:ext cx="87768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Administrative </a:t>
            </a:r>
            <a:r>
              <a:rPr lang="en-US" sz="4800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Comonocation</a:t>
            </a:r>
            <a:endParaRPr 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91525" y="529365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611956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ar-EG" altLang="en-US" sz="4000" dirty="0">
              <a:solidFill>
                <a:srgbClr val="FFFF00"/>
              </a:solidFill>
              <a:cs typeface="MCS Tayb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86742" y="6242673"/>
            <a:ext cx="4977545" cy="369332"/>
          </a:xfrm>
          <a:prstGeom prst="rect">
            <a:avLst/>
          </a:prstGeom>
          <a:effectLst>
            <a:glow rad="139700">
              <a:schemeClr val="accent1">
                <a:alpha val="53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ar-SA" dirty="0">
                <a:solidFill>
                  <a:schemeClr val="bg1"/>
                </a:solidFill>
                <a:cs typeface="MCS Jeddah S_U normal." pitchFamily="2" charset="-78"/>
              </a:rPr>
              <a:t>د. هشام كمال محمد درونكي</a:t>
            </a:r>
            <a:endParaRPr lang="en-US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76" y="2919566"/>
            <a:ext cx="6912768" cy="313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256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68560" y="188640"/>
            <a:ext cx="77048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66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موضوعات  المحاضرة </a:t>
            </a:r>
            <a:endParaRPr lang="en-US" sz="6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3" name="Flowchart: Multidocument 2"/>
          <p:cNvSpPr/>
          <p:nvPr/>
        </p:nvSpPr>
        <p:spPr>
          <a:xfrm>
            <a:off x="1115617" y="1556792"/>
            <a:ext cx="7128792" cy="1584176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تمـهيد</a:t>
            </a:r>
            <a:endParaRPr lang="ar-SA" sz="36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4" name="Flowchart: Multidocument 3"/>
          <p:cNvSpPr/>
          <p:nvPr/>
        </p:nvSpPr>
        <p:spPr>
          <a:xfrm>
            <a:off x="1115617" y="3356992"/>
            <a:ext cx="7128792" cy="1368152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مفهومي  الاتصال والاتصال الاداري  </a:t>
            </a:r>
            <a:endParaRPr lang="ar-SA" sz="36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Flowchart: Multidocument 6"/>
          <p:cNvSpPr/>
          <p:nvPr/>
        </p:nvSpPr>
        <p:spPr>
          <a:xfrm>
            <a:off x="1115617" y="5044817"/>
            <a:ext cx="7128792" cy="1368152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مشـتملات الاتصال </a:t>
            </a:r>
          </a:p>
        </p:txBody>
      </p:sp>
    </p:spTree>
    <p:extLst>
      <p:ext uri="{BB962C8B-B14F-4D97-AF65-F5344CB8AC3E}">
        <p14:creationId xmlns:p14="http://schemas.microsoft.com/office/powerpoint/2010/main" val="1912299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4357" y="-1821762"/>
            <a:ext cx="2435283" cy="2893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6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3217"/>
                </a:solidFill>
                <a:effectLst>
                  <a:glow rad="508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تـمـهـيد</a:t>
            </a:r>
            <a:endParaRPr lang="ar-SA" sz="6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543" y="945302"/>
            <a:ext cx="8208913" cy="112306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400" dirty="0">
                <a:solidFill>
                  <a:prstClr val="black"/>
                </a:solidFill>
                <a:cs typeface="MCS Jeddah S_U normal." pitchFamily="2" charset="-78"/>
              </a:rPr>
              <a:t>التغيرات والتحولات التي يشهدها العالم المعاصر بمختلف جوانب الحياة قادت  الي تطبيق خطة لتحديد الاهداف  ومتابعة تطبيقها</a:t>
            </a:r>
            <a:endParaRPr lang="en-US" sz="24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2162" y="2306966"/>
            <a:ext cx="8208913" cy="1016619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400" dirty="0" smtClean="0">
                <a:solidFill>
                  <a:prstClr val="black"/>
                </a:solidFill>
                <a:cs typeface="MCS Jeddah S_U normal." pitchFamily="2" charset="-78"/>
              </a:rPr>
              <a:t>يعتبر‌موضوع </a:t>
            </a:r>
            <a:r>
              <a:rPr lang="ar-SA" sz="2400" dirty="0">
                <a:solidFill>
                  <a:prstClr val="black"/>
                </a:solidFill>
                <a:cs typeface="MCS Jeddah S_U normal." pitchFamily="2" charset="-78"/>
              </a:rPr>
              <a:t>‌الاتصالات‌ الإدارية ‌من ‌المواضيع ‌الحيوية‌ في ‌حياة ‌الأنسان‌ والمنظمات‌ معا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162" y="3582789"/>
            <a:ext cx="8220109" cy="1358379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400" dirty="0">
                <a:solidFill>
                  <a:prstClr val="black"/>
                </a:solidFill>
                <a:cs typeface="MCS Jeddah S_U normal." pitchFamily="2" charset="-78"/>
              </a:rPr>
              <a:t>‌الاتصالات ‌الإدارية ‌وسيلة ‌جوهرية‌ من لأجل ‌اتخاذ‌ القرارات  الإدارية  ‌الصائبة ‌وهي ‌ذات‌ أهمية ‌في ‌المنظمات ‌لتحقيق ‌تكاتف </a:t>
            </a:r>
            <a:r>
              <a:rPr lang="ar-SA" sz="2400" dirty="0" smtClean="0">
                <a:solidFill>
                  <a:prstClr val="black"/>
                </a:solidFill>
                <a:cs typeface="MCS Jeddah S_U normal." pitchFamily="2" charset="-78"/>
              </a:rPr>
              <a:t>جميع </a:t>
            </a:r>
            <a:r>
              <a:rPr lang="ar-SA" sz="2400" dirty="0">
                <a:solidFill>
                  <a:prstClr val="black"/>
                </a:solidFill>
                <a:cs typeface="MCS Jeddah S_U normal." pitchFamily="2" charset="-78"/>
              </a:rPr>
              <a:t>‌الأقسام ‌بالمنظمة </a:t>
            </a:r>
            <a:endParaRPr lang="ar-SA" sz="24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543" y="5229143"/>
            <a:ext cx="8220109" cy="1368209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dirty="0" smtClean="0">
                <a:solidFill>
                  <a:prstClr val="black"/>
                </a:solidFill>
                <a:cs typeface="MCS Jeddah S_U normal." pitchFamily="2" charset="-78"/>
              </a:rPr>
              <a:t>عملية </a:t>
            </a:r>
            <a:r>
              <a:rPr lang="ar-SA" sz="2400" dirty="0">
                <a:solidFill>
                  <a:prstClr val="black"/>
                </a:solidFill>
                <a:cs typeface="MCS Jeddah S_U normal." pitchFamily="2" charset="-78"/>
              </a:rPr>
              <a:t>‌الاتصال ‌مرتبطة‌ارتباطا‌ً </a:t>
            </a:r>
            <a:r>
              <a:rPr lang="ar-SA" sz="2400" dirty="0" smtClean="0">
                <a:solidFill>
                  <a:prstClr val="black"/>
                </a:solidFill>
                <a:cs typeface="MCS Jeddah S_U normal." pitchFamily="2" charset="-78"/>
              </a:rPr>
              <a:t>‌وثيقا بتفاعل </a:t>
            </a:r>
            <a:r>
              <a:rPr lang="ar-SA" sz="2400" dirty="0">
                <a:solidFill>
                  <a:prstClr val="black"/>
                </a:solidFill>
                <a:cs typeface="MCS Jeddah S_U normal." pitchFamily="2" charset="-78"/>
              </a:rPr>
              <a:t>‌العاملين ‌داخل ‌المنظمة ‌لتحقيق ‌التواصل ‌وتبادل </a:t>
            </a:r>
            <a:r>
              <a:rPr lang="ar-SA" sz="2400" dirty="0" smtClean="0">
                <a:solidFill>
                  <a:prstClr val="black"/>
                </a:solidFill>
                <a:cs typeface="MCS Jeddah S_U normal." pitchFamily="2" charset="-78"/>
              </a:rPr>
              <a:t>‌المعلومات والخبرات</a:t>
            </a:r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82292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89824" y="-1755576"/>
            <a:ext cx="1107996" cy="21852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1600" dirty="0">
                <a:solidFill>
                  <a:schemeClr val="bg1"/>
                </a:solidFill>
                <a:cs typeface="MCS Jeddah S_U normal." pitchFamily="2" charset="-78"/>
              </a:rPr>
              <a:t>تـمـهـيد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8924" y="973088"/>
            <a:ext cx="8208913" cy="148753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الاتصال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الإداري أحد الركائز الأساسية التي تساهم في تحقيق </a:t>
            </a:r>
            <a:r>
              <a:rPr lang="ar-SA" sz="3200" u="sng" dirty="0">
                <a:solidFill>
                  <a:prstClr val="black"/>
                </a:solidFill>
                <a:cs typeface="MCS Jeddah S_U normal." pitchFamily="2" charset="-78"/>
              </a:rPr>
              <a:t>الفعالية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 داخل المؤسسات والمنظمات</a:t>
            </a:r>
            <a:endParaRPr lang="en-US" sz="32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8924" y="3006163"/>
            <a:ext cx="8208913" cy="152030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يشكل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الاتصال الإداري الوسيلة التي من خلالها يتم تبادل المعلومات والأفكار بين الأفراد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</a:t>
            </a:r>
            <a:r>
              <a:rPr lang="ar-SA" sz="2800" u="sng" dirty="0" smtClean="0">
                <a:solidFill>
                  <a:prstClr val="black"/>
                </a:solidFill>
                <a:cs typeface="MCS Jeddah S_U normal." pitchFamily="2" charset="-78"/>
              </a:rPr>
              <a:t>الفرق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المختلفة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مما يسهم في تنسيق الجهود وتحقيق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الأهداف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المشتركة</a:t>
            </a:r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3528" y="5070907"/>
            <a:ext cx="8208913" cy="117946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ُيعتبر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الاتصال الإداري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بالمنظمات المختلفة أداة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حيوية لتوجيه الأنشطة وحل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النزاعات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وتعزيز روح العمل الجماعي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88123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89824" y="-1755576"/>
            <a:ext cx="1107996" cy="21852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1600" dirty="0">
                <a:solidFill>
                  <a:schemeClr val="bg1"/>
                </a:solidFill>
                <a:cs typeface="MCS Jeddah S_U normal." pitchFamily="2" charset="-78"/>
              </a:rPr>
              <a:t>تـمـهـيد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3568" y="901297"/>
            <a:ext cx="7745204" cy="2138625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ar-SA" sz="3200" dirty="0" smtClean="0">
              <a:solidFill>
                <a:prstClr val="black"/>
              </a:solidFill>
              <a:cs typeface="MCS Jeddah S_U normal." pitchFamily="2" charset="-78"/>
            </a:endParaRPr>
          </a:p>
          <a:p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يتجاوز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الاتصال الإداري مجرد نقل المعلومات فهو يتضمن أيضًا إنشاء علاقات متينة وبناء ثقة بين العاملين</a:t>
            </a:r>
            <a:endParaRPr lang="en-US" sz="32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3568" y="4005064"/>
            <a:ext cx="7749220" cy="2160240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ar-SA" sz="2800" dirty="0" smtClean="0">
              <a:solidFill>
                <a:prstClr val="black"/>
              </a:solidFill>
              <a:cs typeface="MCS Jeddah S_U normal." pitchFamily="2" charset="-78"/>
            </a:endParaRPr>
          </a:p>
          <a:p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يتطلب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الاتصال الفعال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مهارات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متعددة مثل الاستماع الجيد والقدرة على التعبير بوضوح وفهم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الثقافة التنظيمية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والاحترام المتبادل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14878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197" y="44624"/>
            <a:ext cx="903003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80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   </a:t>
            </a:r>
            <a:r>
              <a:rPr lang="ar-SA" sz="60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مفهومي الاتصال والاتصال الاداري </a:t>
            </a:r>
            <a:endParaRPr lang="en-US" sz="6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762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4197" y="3861048"/>
            <a:ext cx="8399571" cy="2633227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الاتصال </a:t>
            </a:r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الاداري</a:t>
            </a:r>
          </a:p>
          <a:p>
            <a:pPr algn="ctr" rtl="0"/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هو 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العملية التي يتم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من خلالها 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تبادل المعلومات والأفكار والآراء بين الأفراد داخل المنظمة أو بين المنظمة وأطرافها الخارجية وذلك بهدف تحقيق الأهداف التنظيمية و</a:t>
            </a:r>
            <a:r>
              <a:rPr lang="ar-SA" sz="3200" u="sng" dirty="0">
                <a:solidFill>
                  <a:schemeClr val="bg1"/>
                </a:solidFill>
                <a:cs typeface="MCS Jeddah S_U normal." pitchFamily="2" charset="-78"/>
              </a:rPr>
              <a:t>تعزيز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 الفعالية والكفاءة</a:t>
            </a:r>
            <a:endParaRPr lang="ar-SA" sz="3200" dirty="0" smtClean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1104" y="1628800"/>
            <a:ext cx="8377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36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8893" y="1484784"/>
            <a:ext cx="8399571" cy="1985155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الاتصال</a:t>
            </a:r>
          </a:p>
          <a:p>
            <a:pPr algn="ctr" rtl="0"/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 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هو  عملية تبادل المعلومات والافكار والمشاعر والاتجاهات بين شخص واخر  أو بين جماعات وذلك عبر  وسائل  لفظية او غيرها </a:t>
            </a:r>
          </a:p>
        </p:txBody>
      </p:sp>
    </p:spTree>
    <p:extLst>
      <p:ext uri="{BB962C8B-B14F-4D97-AF65-F5344CB8AC3E}">
        <p14:creationId xmlns:p14="http://schemas.microsoft.com/office/powerpoint/2010/main" val="2933945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8865" y="26648"/>
            <a:ext cx="18854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600" dirty="0" smtClean="0">
                <a:solidFill>
                  <a:schemeClr val="bg1"/>
                </a:solidFill>
                <a:cs typeface="MCS Jeddah S_U normal." pitchFamily="2" charset="-78"/>
              </a:rPr>
              <a:t>مفهوم الاتصال الاداري </a:t>
            </a:r>
            <a:endParaRPr lang="ar-SA" sz="16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0054" y="476672"/>
            <a:ext cx="7632848" cy="2952328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الاتصال </a:t>
            </a:r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الإداري </a:t>
            </a:r>
            <a:endParaRPr lang="ar-SA" sz="3600" dirty="0" smtClean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 rtl="0"/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هو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العملية ‌التي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‌تهدف‌ الي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‌توصيل ‌البيانات‌ والمعلومات‌ في  ‌شكل‌ حقائق‌ بين ‌أقسام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‌المنظمة المختلفة‌ لأجل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‌تنسيق ‌الجهود‌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وتحقيق‌ الترابط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‌والتعاون ‌وتبادل ‌الآراء  ‌ووجهات ‌النظر ‌ ‌بكل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‌نواحي  ‌العمل 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‌مما ‌يحقق‌ التجاوب ‌المطلوب ‌بين ‌العاملين بالمنظمة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018" y="3717032"/>
            <a:ext cx="8280920" cy="2973813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الاتصالات ‌الإدارية‌ </a:t>
            </a:r>
            <a:endParaRPr lang="ar-SA" sz="3600" dirty="0" smtClean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 rtl="0"/>
            <a:r>
              <a:rPr lang="ar-SA" sz="2400" dirty="0" smtClean="0">
                <a:solidFill>
                  <a:schemeClr val="bg1"/>
                </a:solidFill>
                <a:cs typeface="MCS Jeddah S_U normal." pitchFamily="2" charset="-78"/>
              </a:rPr>
              <a:t>هي </a:t>
            </a:r>
            <a:r>
              <a:rPr lang="ar-SA" sz="2400" dirty="0">
                <a:solidFill>
                  <a:schemeClr val="bg1"/>
                </a:solidFill>
                <a:cs typeface="MCS Jeddah S_U normal." pitchFamily="2" charset="-78"/>
              </a:rPr>
              <a:t>وسيلة ‌الإداريين ‌لادارة‌ أنشطتهم ‌الإدارية ‌وتحقيق‌أهداف‌العمل ‌وذلك ‌باعتبار ‌أن الاتصالات تساعد في ‌تحديد ‌الأهداف ‌الواجب ‌تنفيذها ‌وتساعد ‌في ‌التعريف ‌بالمشاكل ‌وسبل ‌علاجها</a:t>
            </a:r>
          </a:p>
          <a:p>
            <a:pPr rtl="0"/>
            <a:endParaRPr lang="ar-SA" sz="3200" dirty="0" smtClean="0">
              <a:solidFill>
                <a:schemeClr val="bg1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420754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65265" y="26648"/>
            <a:ext cx="14590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200" dirty="0" smtClean="0">
                <a:solidFill>
                  <a:schemeClr val="bg1"/>
                </a:solidFill>
                <a:cs typeface="MCS Jeddah S_U normal." pitchFamily="2" charset="-78"/>
              </a:rPr>
              <a:t>مفهوم الاتصال الاداري </a:t>
            </a:r>
            <a:endParaRPr lang="ar-SA" sz="12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5075" y="632513"/>
            <a:ext cx="7625820" cy="2952328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الاتصال الإداري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عملية ‌تفاعلية ‌تبادلية ‌مستمرة ‌تشمل ‌مرسلين‌</a:t>
            </a:r>
          </a:p>
          <a:p>
            <a:pPr algn="ctr"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ومستقبلين ‌لرسائل ‌تواصلية ‌قد ‌يتم ‌تفعيلها ‌بأفعال‌</a:t>
            </a:r>
          </a:p>
          <a:p>
            <a:pPr algn="ctr"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مادية‌ أو‌نفسية</a:t>
            </a:r>
          </a:p>
          <a:p>
            <a:pPr rtl="0"/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 	</a:t>
            </a:r>
            <a:endParaRPr lang="ar-SA" sz="28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3569" y="3799902"/>
            <a:ext cx="7488832" cy="2613773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الاتصالات الادارية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هي 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‌عمليـة ‌تبادل ‌ونقـل ‌المعلومات ‌والمعرفة‌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والتجارب  وذلك 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‌لفظياً ‌أو ‌باستعمال ‌الرموز ‌والكلمـات‌ والصور‌ بقصد ‌الإقناع‌ أو‌التأثير‌علي ‌السلوك</a:t>
            </a:r>
            <a:endParaRPr lang="ar-SA" sz="3200" dirty="0" smtClean="0">
              <a:solidFill>
                <a:schemeClr val="bg1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36669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65265" y="26648"/>
            <a:ext cx="14590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200" dirty="0">
                <a:solidFill>
                  <a:schemeClr val="bg1"/>
                </a:solidFill>
                <a:cs typeface="MCS Jeddah S_U normal." pitchFamily="2" charset="-78"/>
              </a:rPr>
              <a:t>مفهوم الاتصال الاداري </a:t>
            </a:r>
          </a:p>
        </p:txBody>
      </p:sp>
      <p:sp>
        <p:nvSpPr>
          <p:cNvPr id="5" name="Rectangle 4"/>
          <p:cNvSpPr/>
          <p:nvPr/>
        </p:nvSpPr>
        <p:spPr>
          <a:xfrm>
            <a:off x="683569" y="606388"/>
            <a:ext cx="7625820" cy="2952328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endParaRPr lang="ar-SA" sz="28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 rtl="0"/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الاتصال </a:t>
            </a:r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‌الاداري</a:t>
            </a:r>
          </a:p>
          <a:p>
            <a:pPr algn="ctr" rtl="0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عملية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‌ارسال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‌واستقبال ‌الرسائل ‌ويكون‌ ذا‌</a:t>
            </a:r>
          </a:p>
          <a:p>
            <a:pPr algn="ctr"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فاعلية ‌عندما ‌يتم ‌فهم ‌الرسالة ‌من ‌قبل ‌المستقبل‌</a:t>
            </a:r>
          </a:p>
          <a:p>
            <a:pPr algn="ctr"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وتشجعه ‌للتفكير ‌بأسلوب ‌جديد</a:t>
            </a:r>
          </a:p>
          <a:p>
            <a:pPr rtl="0"/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 	</a:t>
            </a:r>
            <a:endParaRPr lang="ar-SA" sz="28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3569" y="3799902"/>
            <a:ext cx="7488832" cy="2613773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الاتصال الاداري</a:t>
            </a:r>
            <a:endParaRPr lang="ar-SA" sz="3600" dirty="0" smtClean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 rtl="0"/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 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هو نقل ‌المعلومات ‌والحاجات ‌والمشاعر ‌والمعرية‌</a:t>
            </a:r>
          </a:p>
          <a:p>
            <a:pPr algn="ctr" rtl="0"/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والتجارب بشكل ‌شفوي ‌أو ‌باستخدام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‌ وسائل 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‌أخرى لاحداث تاثير مطلوب</a:t>
            </a:r>
          </a:p>
        </p:txBody>
      </p:sp>
    </p:spTree>
    <p:extLst>
      <p:ext uri="{BB962C8B-B14F-4D97-AF65-F5344CB8AC3E}">
        <p14:creationId xmlns:p14="http://schemas.microsoft.com/office/powerpoint/2010/main" val="3775857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65265" y="26648"/>
            <a:ext cx="14590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200" dirty="0">
                <a:solidFill>
                  <a:schemeClr val="bg1"/>
                </a:solidFill>
                <a:cs typeface="MCS Jeddah S_U normal." pitchFamily="2" charset="-78"/>
              </a:rPr>
              <a:t>مفهوم الاتصال الاداري </a:t>
            </a:r>
          </a:p>
        </p:txBody>
      </p:sp>
      <p:sp>
        <p:nvSpPr>
          <p:cNvPr id="5" name="Rectangle 4"/>
          <p:cNvSpPr/>
          <p:nvPr/>
        </p:nvSpPr>
        <p:spPr>
          <a:xfrm>
            <a:off x="683569" y="476671"/>
            <a:ext cx="7625820" cy="1967583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endParaRPr lang="ar-SA" sz="28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 rtl="0"/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الاتصال </a:t>
            </a:r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‌الاداري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	هو ‌عملية ‌ادارية ‌واجتماعية ‌وسلوكية ‌تعمل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‌علي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‌</a:t>
            </a:r>
          </a:p>
          <a:p>
            <a:pPr algn="ctr"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ايصال ‌البيانات ‌والمعلومات ‌والقرارات ‌لأفراد‌</a:t>
            </a:r>
          </a:p>
          <a:p>
            <a:pPr algn="ctr"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المنظمة ‌للوصول ‌الي ‌الهدف ‌المشترك</a:t>
            </a:r>
          </a:p>
          <a:p>
            <a:pPr rtl="0"/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 	</a:t>
            </a:r>
            <a:endParaRPr lang="ar-SA" sz="28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3569" y="2636912"/>
            <a:ext cx="7488832" cy="1751559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الاتصال الاداري</a:t>
            </a:r>
          </a:p>
          <a:p>
            <a:pPr algn="ctr" rtl="0"/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هو عملية‌ نقل‌ وتبادل‌ المعلومات ‌الخاصة ‌بالمنظمة‌ داخليا‌ وخارجيا</a:t>
            </a:r>
          </a:p>
        </p:txBody>
      </p:sp>
      <p:sp>
        <p:nvSpPr>
          <p:cNvPr id="6" name="Rectangle 5"/>
          <p:cNvSpPr/>
          <p:nvPr/>
        </p:nvSpPr>
        <p:spPr>
          <a:xfrm>
            <a:off x="611560" y="4581128"/>
            <a:ext cx="7488832" cy="2099144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الاتصال الاداري</a:t>
            </a:r>
          </a:p>
          <a:p>
            <a:pPr algn="ctr" rtl="0"/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هو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عملية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‌منظمة ‌اوعفوية ‌و‌تنطوي ‌علي ‌ارسال</a:t>
            </a:r>
          </a:p>
          <a:p>
            <a:pPr algn="ctr"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وتحويل ‌المعلومات ‌والبيانات ‌من ‌طرف ‌ الي ‌طرف‌</a:t>
            </a:r>
          </a:p>
          <a:p>
            <a:pPr algn="ctr"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أخر</a:t>
            </a:r>
          </a:p>
        </p:txBody>
      </p:sp>
    </p:spTree>
    <p:extLst>
      <p:ext uri="{BB962C8B-B14F-4D97-AF65-F5344CB8AC3E}">
        <p14:creationId xmlns:p14="http://schemas.microsoft.com/office/powerpoint/2010/main" val="76051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94119" y="26648"/>
            <a:ext cx="14301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200" dirty="0">
                <a:solidFill>
                  <a:schemeClr val="bg1"/>
                </a:solidFill>
                <a:cs typeface="MCS Jeddah S_U normal." pitchFamily="2" charset="-78"/>
              </a:rPr>
              <a:t>مفهوم الاتصال الاداري</a:t>
            </a:r>
          </a:p>
        </p:txBody>
      </p:sp>
      <p:sp>
        <p:nvSpPr>
          <p:cNvPr id="5" name="Rectangle 4"/>
          <p:cNvSpPr/>
          <p:nvPr/>
        </p:nvSpPr>
        <p:spPr>
          <a:xfrm>
            <a:off x="683569" y="312852"/>
            <a:ext cx="7625820" cy="1886508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ar-SA" sz="2800" dirty="0" smtClean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 rtl="0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الاتصالات  الادارية 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 rtl="0"/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هي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‌الأنشطة‌ الأساسية ‌‌للمنظمات ‌وأنها‌ من ‌مؤشرات‌</a:t>
            </a:r>
          </a:p>
          <a:p>
            <a:pPr algn="ctr"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كفائتها في  ‌الوصول ‌الي ‌الآخرين ‌وقدرتها في ‌تحقيق‌</a:t>
            </a:r>
          </a:p>
          <a:p>
            <a:pPr algn="ctr"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استجاباتهم ‌المطلوبة</a:t>
            </a:r>
          </a:p>
          <a:p>
            <a:pPr rtl="0"/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 	</a:t>
            </a:r>
            <a:endParaRPr lang="ar-SA" sz="28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2063" y="2348880"/>
            <a:ext cx="7488832" cy="1751559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الاتصال </a:t>
            </a:r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الاداري </a:t>
            </a:r>
            <a:endParaRPr lang="ar-SA" sz="3200" dirty="0" smtClean="0">
              <a:solidFill>
                <a:srgbClr val="FFFF00"/>
              </a:solidFill>
              <a:cs typeface="MCS Jeddah S_U normal." pitchFamily="2" charset="-78"/>
            </a:endParaRPr>
          </a:p>
          <a:p>
            <a:pPr rtl="0"/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هو 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عملية‌ نقل‌ وتبادل‌ المعلومات ‌الخاصة ‌بالمنظمة‌ داخليا‌ وخارجيا</a:t>
            </a:r>
          </a:p>
        </p:txBody>
      </p:sp>
      <p:sp>
        <p:nvSpPr>
          <p:cNvPr id="6" name="Rectangle 5"/>
          <p:cNvSpPr/>
          <p:nvPr/>
        </p:nvSpPr>
        <p:spPr>
          <a:xfrm>
            <a:off x="683569" y="4293096"/>
            <a:ext cx="7488832" cy="2376264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الاتصالات  </a:t>
            </a:r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الادارية </a:t>
            </a:r>
          </a:p>
          <a:p>
            <a:pPr rtl="0"/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عملية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‌منظمة ‌اوعفوية ‌و‌تنطوي ‌علي ‌ارسال</a:t>
            </a:r>
          </a:p>
          <a:p>
            <a:pPr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وتحويل ‌المعلومات ‌والبيانات ‌من ‌طرف ‌ الي ‌طرف‌</a:t>
            </a:r>
          </a:p>
          <a:p>
            <a:pPr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أخر</a:t>
            </a:r>
          </a:p>
        </p:txBody>
      </p:sp>
    </p:spTree>
    <p:extLst>
      <p:ext uri="{BB962C8B-B14F-4D97-AF65-F5344CB8AC3E}">
        <p14:creationId xmlns:p14="http://schemas.microsoft.com/office/powerpoint/2010/main" val="1773456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7583" y="3501008"/>
            <a:ext cx="7416825" cy="2952328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1</a:t>
            </a:r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. الأطراف </a:t>
            </a:r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المعنية</a:t>
            </a:r>
          </a:p>
          <a:p>
            <a:pPr rtl="0"/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الاتصال الإداري يتم بين عدة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أطراف 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تشمل العاملين بمختلف مستوياتهم (الإدارة العليا، الوسطى، والعمال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) </a:t>
            </a:r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وكذلك الأطراف الخارجية مثل </a:t>
            </a:r>
            <a:r>
              <a:rPr lang="ar-SA" sz="3200" u="sng" dirty="0" smtClean="0">
                <a:solidFill>
                  <a:schemeClr val="bg1"/>
                </a:solidFill>
                <a:cs typeface="MCS Jeddah S_U normal." pitchFamily="2" charset="-78"/>
              </a:rPr>
              <a:t>العملاء والموردين </a:t>
            </a:r>
            <a:r>
              <a:rPr lang="ar-SA" sz="3200" u="sng" dirty="0">
                <a:solidFill>
                  <a:schemeClr val="bg1"/>
                </a:solidFill>
                <a:cs typeface="MCS Jeddah S_U normal." pitchFamily="2" charset="-78"/>
              </a:rPr>
              <a:t>والشركاء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7596" y="283577"/>
            <a:ext cx="596028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80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مشـتملات </a:t>
            </a:r>
            <a:r>
              <a:rPr lang="ar-SA" sz="80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الاتصال </a:t>
            </a:r>
            <a:endParaRPr 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762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3781" y="1638943"/>
            <a:ext cx="86409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يشمل الاتصال الإداري جميع أشكال التواصل التي تحدث في بيئة العمل سواء كانت رسمية أو غير رسمية وتتضمن العديد من العناصر الأساسية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هي :</a:t>
            </a:r>
            <a:endParaRPr lang="en-US" sz="32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47450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5381" y="504009"/>
            <a:ext cx="7416825" cy="2592288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2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. المعلومات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rtl="0"/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تمثل المعلومات جوهر الاتصال الإداري حيث تشمل البيانات والحقائق والتوجيهات والإرشادات التي يتم تبادلها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ويجب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أن تكون هذه المعلومات دقيقة ومحدثة وملائمة لتكون فعالة</a:t>
            </a:r>
            <a:endParaRPr lang="ar-SA" sz="28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15421" y="7545"/>
            <a:ext cx="1436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400" dirty="0">
                <a:solidFill>
                  <a:schemeClr val="bg1"/>
                </a:solidFill>
                <a:cs typeface="MCS Jeddah S_U normal." pitchFamily="2" charset="-78"/>
              </a:rPr>
              <a:t>مشـتملات الاتصال </a:t>
            </a:r>
            <a:endParaRPr lang="en-US" sz="14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3284984"/>
            <a:ext cx="7416825" cy="3240360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3. قنوات الاتصال</a:t>
            </a:r>
          </a:p>
          <a:p>
            <a:pPr algn="ctr" rtl="0"/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تتعدد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قنوات الاتصال الإداري حيث يمكن أن تكون شفوية (مثل الاجتماعات والمكالمات الهاتفية) أو كتابية (مثل التقارير والرسائل البريدية والبريد الإلكتروني) أو مرئية (مثل </a:t>
            </a:r>
            <a:r>
              <a:rPr lang="ar-SA" sz="2800" u="sng" dirty="0">
                <a:solidFill>
                  <a:schemeClr val="bg1"/>
                </a:solidFill>
                <a:cs typeface="MCS Jeddah S_U normal." pitchFamily="2" charset="-78"/>
              </a:rPr>
              <a:t>العروض التقديمية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) ان اختيار القناة المناسبة يعتمد على طبيعة الرسالة والجمهور المستهدف</a:t>
            </a:r>
          </a:p>
        </p:txBody>
      </p:sp>
    </p:spTree>
    <p:extLst>
      <p:ext uri="{BB962C8B-B14F-4D97-AF65-F5344CB8AC3E}">
        <p14:creationId xmlns:p14="http://schemas.microsoft.com/office/powerpoint/2010/main" val="2505135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67544" y="476672"/>
            <a:ext cx="7416825" cy="2808312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4</a:t>
            </a:r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. التغذية </a:t>
            </a:r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الراجعة</a:t>
            </a:r>
          </a:p>
          <a:p>
            <a:pPr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تعتبر التغذية الراجعة جزءًا أساسيًا من الاتصال الإداري حيث تعكس ردود الأفعال والملاحظات حول الرسالة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المرسلة</a:t>
            </a:r>
            <a:endParaRPr lang="ar-SA" sz="28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15421" y="7545"/>
            <a:ext cx="1436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400" dirty="0">
                <a:solidFill>
                  <a:schemeClr val="bg1"/>
                </a:solidFill>
                <a:cs typeface="MCS Jeddah S_U normal." pitchFamily="2" charset="-78"/>
              </a:rPr>
              <a:t>مشـتملات الاتصال </a:t>
            </a:r>
            <a:endParaRPr lang="en-US" sz="14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8596" y="3573016"/>
            <a:ext cx="7416825" cy="2592288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5. السياق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  </a:t>
            </a:r>
            <a:endParaRPr lang="ar-SA" sz="3200" dirty="0">
              <a:solidFill>
                <a:schemeClr val="bg1"/>
              </a:solidFill>
              <a:cs typeface="MCS Jeddah S_U normal." pitchFamily="2" charset="-78"/>
            </a:endParaRPr>
          </a:p>
          <a:p>
            <a:pPr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تلعب البيئة والسياق الذي يحدث فيه الاتصال دورًا كبيرًا في تأثير الرسالة حيث تشمل العوامل الثقافية والزمان والمكان والموضوع  التي يمكن أن تؤثر على كيفية تلقي الرسالة وفهمها</a:t>
            </a:r>
          </a:p>
        </p:txBody>
      </p:sp>
    </p:spTree>
    <p:extLst>
      <p:ext uri="{BB962C8B-B14F-4D97-AF65-F5344CB8AC3E}">
        <p14:creationId xmlns:p14="http://schemas.microsoft.com/office/powerpoint/2010/main" val="954991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7584" y="1916832"/>
            <a:ext cx="7416825" cy="3240360"/>
          </a:xfrm>
          <a:prstGeom prst="rect">
            <a:avLst/>
          </a:prstGeom>
          <a:solidFill>
            <a:srgbClr val="0000FF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6.  الأهداف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rtl="0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يهدف الاتصال الإداري إلى تحقيق نتائج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محددة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مثل تحسين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الأداء  وتعزيز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التفاعل بين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الفرق وتعزيز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روح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التعاون 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وتوجيه الجهود نحو تحقيق الأهداف التنظيمية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421" y="7545"/>
            <a:ext cx="1436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400" dirty="0">
                <a:solidFill>
                  <a:schemeClr val="bg1"/>
                </a:solidFill>
                <a:cs typeface="MCS Jeddah S_U normal." pitchFamily="2" charset="-78"/>
              </a:rPr>
              <a:t>مشـتملات الاتصال </a:t>
            </a:r>
            <a:endParaRPr lang="en-US" sz="14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454958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188640"/>
            <a:ext cx="2952328" cy="119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 rot="305261">
            <a:off x="2503420" y="31808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3600" dirty="0" smtClean="0">
                <a:solidFill>
                  <a:srgbClr val="FF0000"/>
                </a:solidFill>
                <a:cs typeface="MCS Taybah S_U normal." pitchFamily="2" charset="-78"/>
              </a:rPr>
              <a:t>الاتصال الاداري</a:t>
            </a:r>
            <a:endParaRPr lang="en-US" sz="3600" dirty="0">
              <a:solidFill>
                <a:srgbClr val="FF0000"/>
              </a:solidFill>
              <a:cs typeface="MCS Tayb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21320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8327</TotalTime>
  <Words>1160</Words>
  <Application>Microsoft Office PowerPoint</Application>
  <PresentationFormat>On-screen Show (4:3)</PresentationFormat>
  <Paragraphs>267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41" baseType="lpstr">
      <vt:lpstr>SimSun</vt:lpstr>
      <vt:lpstr>Aharoni</vt:lpstr>
      <vt:lpstr>Al hosam</vt:lpstr>
      <vt:lpstr>AL-Hosam</vt:lpstr>
      <vt:lpstr>Arial</vt:lpstr>
      <vt:lpstr>Calibri</vt:lpstr>
      <vt:lpstr>Constantia</vt:lpstr>
      <vt:lpstr>Franklin Gothic Heavy</vt:lpstr>
      <vt:lpstr>Majalla UI</vt:lpstr>
      <vt:lpstr>MCS Jeddah S_U normal.</vt:lpstr>
      <vt:lpstr>MCS Taybah S_U normal.</vt:lpstr>
      <vt:lpstr>Times New Roman</vt:lpstr>
      <vt:lpstr>Traditional Arabic</vt:lpstr>
      <vt:lpstr>Wingdings 2</vt:lpstr>
      <vt:lpstr>Office Theme</vt:lpstr>
      <vt:lpstr>1_Flow</vt:lpstr>
      <vt:lpstr>PowerPoint Presentation</vt:lpstr>
      <vt:lpstr>السيرة الذاتية CV </vt:lpstr>
      <vt:lpstr>السجل الوظيفي</vt:lpstr>
      <vt:lpstr>الـخـبـرات الـعـمـلـيـة والاستشارية</vt:lpstr>
      <vt:lpstr>البحوث والأنشطة الـعـلـمـيـة</vt:lpstr>
      <vt:lpstr>الدورات التدريبية</vt:lpstr>
      <vt:lpstr>المؤتمرات والندوات العلمية</vt:lpstr>
      <vt:lpstr>النشر العلمي </vt:lpstr>
      <vt:lpstr>المهارات الشخصية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mosab</dc:creator>
  <cp:lastModifiedBy>hisham</cp:lastModifiedBy>
  <cp:revision>1215</cp:revision>
  <dcterms:created xsi:type="dcterms:W3CDTF">2011-08-17T19:43:41Z</dcterms:created>
  <dcterms:modified xsi:type="dcterms:W3CDTF">2025-12-09T16:26:28Z</dcterms:modified>
</cp:coreProperties>
</file>