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86" r:id="rId2"/>
  </p:sldMasterIdLst>
  <p:notesMasterIdLst>
    <p:notesMasterId r:id="rId16"/>
  </p:notesMasterIdLst>
  <p:sldIdLst>
    <p:sldId id="500" r:id="rId3"/>
    <p:sldId id="608" r:id="rId4"/>
    <p:sldId id="625" r:id="rId5"/>
    <p:sldId id="512" r:id="rId6"/>
    <p:sldId id="498" r:id="rId7"/>
    <p:sldId id="609" r:id="rId8"/>
    <p:sldId id="583" r:id="rId9"/>
    <p:sldId id="612" r:id="rId10"/>
    <p:sldId id="596" r:id="rId11"/>
    <p:sldId id="626" r:id="rId12"/>
    <p:sldId id="628" r:id="rId13"/>
    <p:sldId id="629" r:id="rId14"/>
    <p:sldId id="514" r:id="rId15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00FF"/>
    <a:srgbClr val="003217"/>
    <a:srgbClr val="00682F"/>
    <a:srgbClr val="57EFF3"/>
    <a:srgbClr val="24DFE8"/>
    <a:srgbClr val="00FF00"/>
    <a:srgbClr val="CC0099"/>
    <a:srgbClr val="4FF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479" autoAdjust="0"/>
    <p:restoredTop sz="94849" autoAdjust="0"/>
  </p:normalViewPr>
  <p:slideViewPr>
    <p:cSldViewPr>
      <p:cViewPr varScale="1">
        <p:scale>
          <a:sx n="70" d="100"/>
          <a:sy n="70" d="100"/>
        </p:scale>
        <p:origin x="1200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B4217-A0A8-494C-8F3C-C58D3904B27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9FA61-F536-4629-9F1E-E9543B5E7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97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94A41472-F0B0-467A-A593-37B8E299A31D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30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F79BEF-7EFA-4FF7-9F29-9241EBE7F107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76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EDE3FB8F-BDE8-4CCC-A469-DE6F17931555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122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3BE122-3D7B-4707-96E7-614BA48F07E0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1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96A632-6AB5-4859-8114-90C4D3EB68D4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89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133895-8EE1-4B38-9D21-0495C3DA4F31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95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4EA471-183B-4601-BB62-62FFB82AE24D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31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FA9468-1196-4B2A-9F8D-F3AF3814B4AA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796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fld id="{7038D2FF-1E85-435D-B78E-CC6A1B8062AE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84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CC9652-B3F6-4E6D-8B91-B25A2A2A5715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785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EBF5F8-6727-4F2A-AD6F-6A8A895EF881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80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45C75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7275AD6-72D9-449A-B94E-E9AA82FCFB7E}" type="slidenum">
              <a:rPr lang="ar-SA" smtClean="0"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0961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rtl="1" fontAlgn="base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2pPr>
      <a:lvl3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3pPr>
      <a:lvl4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4pPr>
      <a:lvl5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5pPr>
      <a:lvl6pPr marL="4572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6pPr>
      <a:lvl7pPr marL="9144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7pPr>
      <a:lvl8pPr marL="13716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8pPr>
      <a:lvl9pPr marL="18288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9pPr>
    </p:titleStyle>
    <p:bodyStyle>
      <a:lvl1pPr marL="273050" indent="-273050" algn="r" rtl="1" fontAlgn="base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Majalla UI"/>
          <a:cs typeface="+mn-cs"/>
        </a:defRPr>
      </a:lvl1pPr>
      <a:lvl2pPr marL="639763" indent="-246063" algn="r" rtl="1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Majalla UI"/>
          <a:cs typeface="+mn-cs"/>
        </a:defRPr>
      </a:lvl2pPr>
      <a:lvl3pPr marL="914400" indent="-246063" algn="r" rtl="1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Majalla UI"/>
          <a:cs typeface="+mn-cs"/>
        </a:defRPr>
      </a:lvl3pPr>
      <a:lvl4pPr marL="1187450" indent="-209550" algn="r" rtl="1" fontAlgn="base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Majalla UI"/>
          <a:cs typeface="+mn-cs"/>
        </a:defRPr>
      </a:lvl4pPr>
      <a:lvl5pPr marL="1462088" indent="-209550" algn="r" rtl="1" fontAlgn="base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Majalla UI"/>
          <a:cs typeface="+mn-cs"/>
        </a:defRPr>
      </a:lvl5pPr>
      <a:lvl6pPr marL="1737360" indent="-210312" algn="r" rtl="1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r" rtl="1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r" rtl="1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r" rtl="1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8520" y="347172"/>
            <a:ext cx="91450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sz="96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635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قضايا أخلاقية ومهنية</a:t>
            </a:r>
            <a:endParaRPr lang="en-US" sz="96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0000FF"/>
              </a:solidFill>
              <a:effectLst>
                <a:glow rad="635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7544" y="1916832"/>
            <a:ext cx="8480014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Ethical  and  professional</a:t>
            </a:r>
            <a:endParaRPr lang="ar-SA" sz="54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Franklin Gothic Heavy" panose="020B0903020102020204" pitchFamily="34" charset="0"/>
              <a:ea typeface="Times New Roman" pitchFamily="18" charset="0"/>
              <a:cs typeface="Aharoni" panose="02010803020104030203" pitchFamily="2" charset="-79"/>
            </a:endParaRPr>
          </a:p>
          <a:p>
            <a:pPr algn="ctr"/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 </a:t>
            </a:r>
            <a:r>
              <a:rPr lang="en-US" sz="5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issues</a:t>
            </a:r>
            <a:r>
              <a:rPr lang="ar-SA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   </a:t>
            </a:r>
            <a:endParaRPr lang="en-US" sz="54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Franklin Gothic Heavy" panose="020B0903020102020204" pitchFamily="34" charset="0"/>
              <a:ea typeface="Times New Roman" pitchFamily="18" charset="0"/>
              <a:cs typeface="Aharoni" panose="02010803020104030203" pitchFamily="2" charset="-79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691525" y="529365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7544" y="6119563"/>
            <a:ext cx="71287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ar-EG" altLang="en-US" sz="4000" dirty="0">
              <a:solidFill>
                <a:srgbClr val="FFFF00"/>
              </a:solidFill>
              <a:cs typeface="MCS Tayb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91880" y="6359778"/>
            <a:ext cx="2643672" cy="523220"/>
          </a:xfrm>
          <a:prstGeom prst="rect">
            <a:avLst/>
          </a:prstGeom>
          <a:effectLst>
            <a:glow rad="139700">
              <a:schemeClr val="accent1">
                <a:alpha val="53000"/>
              </a:schemeClr>
            </a:glow>
          </a:effectLst>
        </p:spPr>
        <p:txBody>
          <a:bodyPr wrap="none">
            <a:spAutoFit/>
          </a:bodyPr>
          <a:lstStyle/>
          <a:p>
            <a:r>
              <a:rPr lang="ar-SA" dirty="0" smtClean="0">
                <a:solidFill>
                  <a:srgbClr val="FFFF00"/>
                </a:solidFill>
                <a:cs typeface="MCS Jeddah S_U normal." pitchFamily="2" charset="-78"/>
              </a:rPr>
              <a:t>د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.</a:t>
            </a:r>
            <a:r>
              <a:rPr lang="ar-SA" dirty="0" smtClean="0">
                <a:solidFill>
                  <a:srgbClr val="FFFF00"/>
                </a:solidFill>
                <a:cs typeface="MCS Jeddah S_U normal." pitchFamily="2" charset="-78"/>
              </a:rPr>
              <a:t>هشام </a:t>
            </a:r>
            <a:r>
              <a:rPr lang="ar-SA" dirty="0">
                <a:solidFill>
                  <a:srgbClr val="FFFF00"/>
                </a:solidFill>
                <a:cs typeface="MCS Jeddah S_U normal." pitchFamily="2" charset="-78"/>
              </a:rPr>
              <a:t>كمال محمد درونكي</a:t>
            </a:r>
            <a:endParaRPr lang="en-US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031" y="3599249"/>
            <a:ext cx="5273040" cy="2760529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0" y="6482415"/>
            <a:ext cx="1525960" cy="277946"/>
          </a:xfrm>
          <a:prstGeom prst="ellipse">
            <a:avLst/>
          </a:prstGeom>
          <a:solidFill>
            <a:srgbClr val="0070C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575290" y="6486942"/>
            <a:ext cx="1525960" cy="277946"/>
          </a:xfrm>
          <a:prstGeom prst="ellipse">
            <a:avLst/>
          </a:prstGeom>
          <a:solidFill>
            <a:srgbClr val="0070C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7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243408"/>
            <a:ext cx="8229600" cy="1143000"/>
          </a:xfrm>
        </p:spPr>
        <p:txBody>
          <a:bodyPr>
            <a:normAutofit/>
          </a:bodyPr>
          <a:lstStyle/>
          <a:p>
            <a:r>
              <a:rPr lang="ar-SA" sz="4000" dirty="0" smtClean="0">
                <a:latin typeface="+mn-lt"/>
                <a:ea typeface="+mn-ea"/>
                <a:cs typeface="MCS Jeddah S_U normal." pitchFamily="2" charset="-78"/>
              </a:rPr>
              <a:t>المحاضرة السابقة</a:t>
            </a:r>
            <a:endParaRPr lang="en-US" sz="4000" dirty="0">
              <a:latin typeface="+mn-lt"/>
              <a:ea typeface="+mn-ea"/>
              <a:cs typeface="MCS Jeddah S_U normal." pitchFamily="2" charset="-7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36512" y="620688"/>
            <a:ext cx="9180511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ar-SA" sz="2400" dirty="0">
                <a:cs typeface="MCS Jeddah S_U normal." pitchFamily="2" charset="-78"/>
              </a:rPr>
              <a:t>السياق الاجتماعي لمـهن الحاسوب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السياق الاجتماعي هو البيئة التي تحيط بالفرد وتؤثر علي سلوكه والبيئة التي يحدث فيها التفاعل ويشمل السياق الاجتماعي الاعراف والقيم </a:t>
            </a:r>
          </a:p>
          <a:p>
            <a:pPr lvl="0">
              <a:spcBef>
                <a:spcPct val="0"/>
              </a:spcBef>
              <a:defRPr/>
            </a:pPr>
            <a:endParaRPr lang="ar-SA" sz="2400" dirty="0">
              <a:solidFill>
                <a:srgbClr val="0070C0"/>
              </a:solidFill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السياق الاجتماعي للمهن الحاسوبية يعكس تأثير التكنولوجيا على المجتمع وكيفية تشكيل هذه المهن للعلاقات الاجتماعية والبنية 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الاجتماعية</a:t>
            </a:r>
          </a:p>
          <a:p>
            <a:pPr lvl="0">
              <a:spcBef>
                <a:spcPct val="0"/>
              </a:spcBef>
              <a:defRPr/>
            </a:pPr>
            <a:endParaRPr lang="ar-SA" sz="2000" dirty="0">
              <a:solidFill>
                <a:srgbClr val="0070C0"/>
              </a:solidFill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endParaRPr lang="ar-SA" sz="2400" dirty="0">
              <a:solidFill>
                <a:srgbClr val="0070C0"/>
              </a:solidFill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r>
              <a:rPr lang="ar-SA" sz="2400" dirty="0">
                <a:cs typeface="MCS Jeddah S_U normal." pitchFamily="2" charset="-78"/>
              </a:rPr>
              <a:t>تاثيرات السياق </a:t>
            </a:r>
            <a:r>
              <a:rPr lang="ar-SA" sz="2400" dirty="0" smtClean="0">
                <a:cs typeface="MCS Jeddah S_U normal." pitchFamily="2" charset="-78"/>
              </a:rPr>
              <a:t>الاجتماعي</a:t>
            </a:r>
            <a:r>
              <a:rPr lang="en-US" sz="2400" dirty="0" smtClean="0">
                <a:cs typeface="MCS Jeddah S_U normal." pitchFamily="2" charset="-78"/>
              </a:rPr>
              <a:t> </a:t>
            </a:r>
            <a:r>
              <a:rPr lang="ar-SA" sz="2400" dirty="0" smtClean="0">
                <a:cs typeface="MCS Jeddah S_U normal." pitchFamily="2" charset="-78"/>
              </a:rPr>
              <a:t>علي </a:t>
            </a:r>
            <a:r>
              <a:rPr lang="ar-SA" sz="2400" dirty="0">
                <a:cs typeface="MCS Jeddah S_U normal." pitchFamily="2" charset="-78"/>
              </a:rPr>
              <a:t>مهن </a:t>
            </a:r>
            <a:r>
              <a:rPr lang="ar-SA" sz="2400" dirty="0" smtClean="0">
                <a:cs typeface="MCS Jeddah S_U normal." pitchFamily="2" charset="-78"/>
              </a:rPr>
              <a:t>الحاسوب</a:t>
            </a:r>
          </a:p>
          <a:p>
            <a:pPr lvl="0">
              <a:spcBef>
                <a:spcPct val="0"/>
              </a:spcBef>
              <a:defRPr/>
            </a:pPr>
            <a:endParaRPr lang="ar-SA" sz="2400" dirty="0"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1- تغيرات في بيئة 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العمل</a:t>
            </a:r>
            <a:r>
              <a:rPr lang="en-US" sz="2000" dirty="0" smtClean="0">
                <a:solidFill>
                  <a:srgbClr val="0070C0"/>
                </a:solidFill>
                <a:cs typeface="MCS Jeddah S_U normal." pitchFamily="2" charset="-78"/>
              </a:rPr>
              <a:t> 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حيث عملت </a:t>
            </a: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التكنولوجيا في تحويل طريقة العمل حيث أصبح 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 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 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    العمل </a:t>
            </a: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عن 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بُعد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 2- التعليم والتدريب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3- التنوع 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والشمولية حيث تعاني </a:t>
            </a: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بعض مجالات الحوسبة من نقص في التنوع وخاصة من حيث 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 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 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    الجنس </a:t>
            </a: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والأعراق </a:t>
            </a:r>
            <a:endParaRPr lang="ar-SA" sz="2000" dirty="0" smtClean="0">
              <a:solidFill>
                <a:srgbClr val="0070C0"/>
              </a:solidFill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4- الأخلاقيات </a:t>
            </a: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والمسؤولية 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الاجتماعية يتعامل </a:t>
            </a: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المتخصصون في الحوسبة مع قضايا أخلاقية تتعلق </a:t>
            </a:r>
            <a:endParaRPr lang="ar-SA" sz="2000" dirty="0" smtClean="0">
              <a:solidFill>
                <a:srgbClr val="0070C0"/>
              </a:solidFill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 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     بالخصوصية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 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5- تحديات مهنة الحاسوب ذاد الطلب </a:t>
            </a: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على 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الكفاءات بمجالات  </a:t>
            </a: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الذكاء 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الاصطناعي </a:t>
            </a: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والأمن السيبراني </a:t>
            </a:r>
          </a:p>
          <a:p>
            <a:pPr lvl="0">
              <a:spcBef>
                <a:spcPct val="0"/>
              </a:spcBef>
              <a:defRPr/>
            </a:pPr>
            <a:endParaRPr lang="ar-SA" sz="2000" dirty="0">
              <a:solidFill>
                <a:srgbClr val="0070C0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5008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283968" y="-243408"/>
            <a:ext cx="8229600" cy="864096"/>
          </a:xfrm>
        </p:spPr>
        <p:txBody>
          <a:bodyPr>
            <a:normAutofit/>
          </a:bodyPr>
          <a:lstStyle/>
          <a:p>
            <a:r>
              <a:rPr lang="ar-SA" sz="1800" dirty="0" smtClean="0">
                <a:latin typeface="+mn-lt"/>
                <a:ea typeface="+mn-ea"/>
                <a:cs typeface="MCS Jeddah S_U normal." pitchFamily="2" charset="-78"/>
              </a:rPr>
              <a:t>المحاضرة السابقة</a:t>
            </a:r>
            <a:endParaRPr lang="en-US" sz="1800" dirty="0">
              <a:latin typeface="+mn-lt"/>
              <a:ea typeface="+mn-ea"/>
              <a:cs typeface="MCS Jeddah S_U normal." pitchFamily="2" charset="-7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306288" y="634613"/>
            <a:ext cx="9180511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ar-SA" sz="2400" dirty="0">
                <a:cs typeface="MCS Jeddah S_U normal." pitchFamily="2" charset="-78"/>
              </a:rPr>
              <a:t>المسئولية المهنية لمهن الحاسوب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المسؤولية المهنية في مجال الحوسبة تعكس التزام المهنيين في هذا القطاع بالأخلاقيات والمعايير السلوكية </a:t>
            </a:r>
            <a:endParaRPr lang="ar-SA" sz="2000" dirty="0" smtClean="0">
              <a:solidFill>
                <a:srgbClr val="0070C0"/>
              </a:solidFill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endParaRPr lang="ar-SA" sz="2400" dirty="0">
              <a:solidFill>
                <a:srgbClr val="0070C0"/>
              </a:solidFill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r>
              <a:rPr lang="ar-SA" sz="2400" dirty="0">
                <a:cs typeface="MCS Jeddah S_U normal." pitchFamily="2" charset="-78"/>
              </a:rPr>
              <a:t>العناصر الرئيسية للمسؤولية المهنية </a:t>
            </a:r>
            <a:r>
              <a:rPr lang="ar-SA" sz="2400" dirty="0" smtClean="0">
                <a:cs typeface="MCS Jeddah S_U normal." pitchFamily="2" charset="-78"/>
              </a:rPr>
              <a:t>للحاسوب </a:t>
            </a:r>
            <a:endParaRPr lang="ar-SA" sz="2400" dirty="0"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الأخلاقيات المهنية 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أمان المعلومات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الجودة والموثوقية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احترام حقوق الملكية الفكرية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التواصل والتعاون 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التعليم والتدريب المستمر</a:t>
            </a:r>
          </a:p>
          <a:p>
            <a:pPr lvl="0">
              <a:spcBef>
                <a:spcPct val="0"/>
              </a:spcBef>
              <a:defRPr/>
            </a:pPr>
            <a:endParaRPr lang="ar-SA" sz="2400" dirty="0"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endParaRPr lang="ar-SA" sz="2000" dirty="0">
              <a:solidFill>
                <a:srgbClr val="0070C0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0904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68560" y="188640"/>
            <a:ext cx="770485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ar-SA" sz="66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762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موضوعات  المحاضرة </a:t>
            </a:r>
            <a:endParaRPr lang="en-US" sz="66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glow rad="762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3" name="Flowchart: Multidocument 2"/>
          <p:cNvSpPr/>
          <p:nvPr/>
        </p:nvSpPr>
        <p:spPr>
          <a:xfrm>
            <a:off x="1043608" y="1556792"/>
            <a:ext cx="7257473" cy="1800200"/>
          </a:xfrm>
          <a:prstGeom prst="flowChartMultidocumen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dirty="0">
                <a:solidFill>
                  <a:srgbClr val="FFFF00"/>
                </a:solidFill>
                <a:cs typeface="MCS Jeddah S_U normal." pitchFamily="2" charset="-78"/>
              </a:rPr>
              <a:t>أهمية الأخلاقيات المهنية</a:t>
            </a:r>
          </a:p>
        </p:txBody>
      </p:sp>
      <p:sp>
        <p:nvSpPr>
          <p:cNvPr id="4" name="Flowchart: Multidocument 3"/>
          <p:cNvSpPr/>
          <p:nvPr/>
        </p:nvSpPr>
        <p:spPr>
          <a:xfrm>
            <a:off x="1170349" y="3789041"/>
            <a:ext cx="7103152" cy="2088232"/>
          </a:xfrm>
          <a:prstGeom prst="flowChartMultidocumen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200" dirty="0">
                <a:solidFill>
                  <a:srgbClr val="FFFF00"/>
                </a:solidFill>
                <a:cs typeface="MCS Jeddah S_U normal." pitchFamily="2" charset="-78"/>
              </a:rPr>
              <a:t>أهمية الأخلاقيات المهنية على </a:t>
            </a:r>
            <a:r>
              <a:rPr lang="ar-SA" sz="3200" dirty="0" smtClean="0">
                <a:solidFill>
                  <a:srgbClr val="FFFF00"/>
                </a:solidFill>
                <a:cs typeface="MCS Jeddah S_U normal." pitchFamily="2" charset="-78"/>
              </a:rPr>
              <a:t>الفرد والمجتمع والمنظمات</a:t>
            </a:r>
            <a:endParaRPr lang="ar-SA" sz="32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122997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0087" y="-1676023"/>
            <a:ext cx="7059946" cy="2893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	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>
              <a:defRPr/>
            </a:pPr>
            <a:endParaRPr lang="en-US" sz="72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3217"/>
              </a:solidFill>
              <a:effectLst>
                <a:glow rad="508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  <a:p>
            <a:pPr algn="ctr">
              <a:defRPr/>
            </a:pPr>
            <a:r>
              <a:rPr lang="ar-SA" sz="6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3217"/>
                </a:solidFill>
                <a:effectLst>
                  <a:glow rad="508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أهمية الأخلاقيات المهنية</a:t>
            </a:r>
            <a:endParaRPr lang="ar-SA" sz="2800" dirty="0">
              <a:solidFill>
                <a:schemeClr val="bg2"/>
              </a:solidFill>
              <a:cs typeface="MCS Jeddah S_U normal.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50086" y="2562582"/>
            <a:ext cx="6906289" cy="2016224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b="1" dirty="0" smtClean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بناء  </a:t>
            </a:r>
            <a:r>
              <a:rPr lang="ar-SA" sz="4000" b="1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الثقة</a:t>
            </a: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 تعزز ثقة العملاء والموظفين بالمنظمات</a:t>
            </a:r>
          </a:p>
        </p:txBody>
      </p:sp>
      <p:sp>
        <p:nvSpPr>
          <p:cNvPr id="3" name="Rectangle 2"/>
          <p:cNvSpPr/>
          <p:nvPr/>
        </p:nvSpPr>
        <p:spPr>
          <a:xfrm>
            <a:off x="611560" y="1241683"/>
            <a:ext cx="79739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SA" sz="3200" dirty="0">
                <a:solidFill>
                  <a:srgbClr val="FFFF00"/>
                </a:solidFill>
                <a:cs typeface="MCS Jeddah S_U normal." pitchFamily="2" charset="-78"/>
              </a:rPr>
              <a:t>لأخلاق المهنة عديد الجزئيات </a:t>
            </a:r>
            <a:r>
              <a:rPr lang="ar-SA" sz="3200" dirty="0" smtClean="0">
                <a:solidFill>
                  <a:srgbClr val="FFFF00"/>
                </a:solidFill>
                <a:cs typeface="MCS Jeddah S_U normal." pitchFamily="2" charset="-78"/>
              </a:rPr>
              <a:t>التي </a:t>
            </a:r>
            <a:r>
              <a:rPr lang="ar-SA" sz="3200" dirty="0">
                <a:solidFill>
                  <a:srgbClr val="FFFF00"/>
                </a:solidFill>
                <a:cs typeface="MCS Jeddah S_U normal." pitchFamily="2" charset="-78"/>
              </a:rPr>
              <a:t>تعزز وتقوي العمل واهمها هو </a:t>
            </a:r>
            <a:r>
              <a:rPr lang="ar-SA" sz="3200" dirty="0" smtClean="0">
                <a:solidFill>
                  <a:srgbClr val="FFFF00"/>
                </a:solidFill>
                <a:cs typeface="MCS Jeddah S_U normal." pitchFamily="2" charset="-78"/>
              </a:rPr>
              <a:t>:</a:t>
            </a:r>
            <a:endParaRPr lang="en-US" sz="32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50086" y="4733280"/>
            <a:ext cx="6906290" cy="2016224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b="1" dirty="0" smtClean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الاستقرار  الاجتماعي</a:t>
            </a:r>
            <a:endParaRPr lang="ar-SA" sz="4000" b="1" dirty="0">
              <a:solidFill>
                <a:srgbClr val="FFFF00"/>
              </a:solidFill>
              <a:effectLst>
                <a:glow rad="127000">
                  <a:schemeClr val="tx1"/>
                </a:glow>
              </a:effectLst>
              <a:cs typeface="MCS Jeddah S_U normal." pitchFamily="2" charset="-78"/>
            </a:endParaRPr>
          </a:p>
          <a:p>
            <a:pPr algn="ctr"/>
            <a:r>
              <a:rPr lang="ar-SA" sz="4000" b="1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تحقق العدالة وتكافؤ الفرص مما يدعم الرضا الاجتماعي</a:t>
            </a:r>
          </a:p>
        </p:txBody>
      </p:sp>
    </p:spTree>
    <p:extLst>
      <p:ext uri="{BB962C8B-B14F-4D97-AF65-F5344CB8AC3E}">
        <p14:creationId xmlns:p14="http://schemas.microsoft.com/office/powerpoint/2010/main" val="24822923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70810" y="-1765452"/>
            <a:ext cx="2292615" cy="21544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	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>
              <a:defRPr/>
            </a:pPr>
            <a:endParaRPr lang="en-US" sz="72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3217"/>
              </a:solidFill>
              <a:effectLst>
                <a:glow rad="508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  <a:p>
            <a:pPr algn="ctr">
              <a:defRPr/>
            </a:pPr>
            <a:r>
              <a:rPr lang="ar-SA" dirty="0" smtClean="0">
                <a:solidFill>
                  <a:srgbClr val="FFFF00"/>
                </a:solidFill>
                <a:cs typeface="MCS Jeddah S_U normal." pitchFamily="2" charset="-78"/>
              </a:rPr>
              <a:t>أهمية </a:t>
            </a:r>
            <a:r>
              <a:rPr lang="ar-SA" dirty="0">
                <a:solidFill>
                  <a:srgbClr val="FFFF00"/>
                </a:solidFill>
                <a:cs typeface="MCS Jeddah S_U normal." pitchFamily="2" charset="-78"/>
              </a:rPr>
              <a:t>الأخلاقيات المهنية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59632" y="1052736"/>
            <a:ext cx="6408712" cy="2376264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b="1" dirty="0" smtClean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تحسين  الأداء</a:t>
            </a:r>
            <a:endParaRPr lang="ar-SA" sz="4000" b="1" dirty="0">
              <a:solidFill>
                <a:srgbClr val="FFFF00"/>
              </a:solidFill>
              <a:effectLst>
                <a:glow rad="127000">
                  <a:schemeClr val="tx1"/>
                </a:glow>
              </a:effectLst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 تقلل النزاعات الداخلية وتوجه الموارد نحو الأهداف بكفاءة</a:t>
            </a:r>
          </a:p>
          <a:p>
            <a:pPr algn="ctr"/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endParaRPr lang="en-US" sz="2800" dirty="0" smtClean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59632" y="3933056"/>
            <a:ext cx="6480720" cy="2102710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b="1" dirty="0" smtClean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توجيه  </a:t>
            </a:r>
            <a:r>
              <a:rPr lang="ar-SA" sz="4000" b="1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السلوك</a:t>
            </a: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 تعمل كـبوصلة فردية للتمييز بين الصواب والخطأ</a:t>
            </a:r>
          </a:p>
          <a:p>
            <a:pPr algn="ctr"/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endParaRPr lang="en-US" sz="2800" dirty="0" smtClean="0">
              <a:solidFill>
                <a:prstClr val="black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807597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332656" y="129406"/>
            <a:ext cx="116776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5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762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أهمية الأخلاقيات المهنية على </a:t>
            </a:r>
            <a:r>
              <a:rPr lang="ar-SA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762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الفرد</a:t>
            </a:r>
            <a:endParaRPr lang="ar-SA" sz="54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0000FF"/>
              </a:solidFill>
              <a:effectLst>
                <a:glow rad="762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15616" y="3861048"/>
            <a:ext cx="6840760" cy="267012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الحماية </a:t>
            </a:r>
            <a:r>
              <a:rPr lang="ar-SA" sz="4000" b="1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 من  </a:t>
            </a:r>
            <a:r>
              <a:rPr lang="ar-SA" sz="4000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الانحراف</a:t>
            </a:r>
          </a:p>
          <a:p>
            <a:pPr algn="ctr"/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 توفر للفرد </a:t>
            </a:r>
            <a:r>
              <a:rPr lang="ar-SA" sz="3200" u="sng" dirty="0">
                <a:solidFill>
                  <a:prstClr val="black"/>
                </a:solidFill>
                <a:cs typeface="MCS Jeddah S_U normal." pitchFamily="2" charset="-78"/>
              </a:rPr>
              <a:t>إطاراً مرجعياً 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يمنعه من الانحراف عن مساره الصحيح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5616" y="1340768"/>
            <a:ext cx="6912768" cy="223224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بناء </a:t>
            </a:r>
            <a:r>
              <a:rPr lang="ar-SA" sz="4000" b="1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 الشخصية</a:t>
            </a:r>
            <a:endParaRPr lang="ar-SA" sz="4000" b="1" dirty="0">
              <a:solidFill>
                <a:schemeClr val="tx2">
                  <a:lumMod val="60000"/>
                  <a:lumOff val="40000"/>
                </a:schemeClr>
              </a:solidFill>
              <a:effectLst>
                <a:glow rad="127000">
                  <a:schemeClr val="tx1"/>
                </a:glow>
              </a:effectLst>
              <a:cs typeface="MCS Jeddah S_U normal." pitchFamily="2" charset="-78"/>
            </a:endParaRPr>
          </a:p>
          <a:p>
            <a:pPr algn="ctr"/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 تساعد الفرد على بناء شخصية سليمة وتكوين رقيب داخلي يوجه سلوكه</a:t>
            </a:r>
          </a:p>
          <a:p>
            <a:pPr algn="ctr"/>
            <a:r>
              <a:rPr lang="ar-SA" sz="32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endParaRPr lang="ar-SA" sz="32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8640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95536" y="836712"/>
            <a:ext cx="8280920" cy="266429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b="1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تحسين  </a:t>
            </a:r>
            <a:r>
              <a:rPr lang="ar-SA" sz="4000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الأداء</a:t>
            </a: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 تحفز العاملين على تطوير قدراتهم وتحسين أدائهم باستمرار</a:t>
            </a:r>
          </a:p>
          <a:p>
            <a:pPr algn="ctr"/>
            <a:endParaRPr lang="ar-SA" sz="28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5536" y="3861048"/>
            <a:ext cx="8280920" cy="266429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تعزيز </a:t>
            </a:r>
            <a:r>
              <a:rPr lang="ar-SA" sz="4000" b="1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 الثقة  بالنفس</a:t>
            </a:r>
            <a:endParaRPr lang="ar-SA" sz="4000" b="1" dirty="0">
              <a:solidFill>
                <a:schemeClr val="tx2">
                  <a:lumMod val="60000"/>
                  <a:lumOff val="40000"/>
                </a:schemeClr>
              </a:solidFill>
              <a:effectLst>
                <a:glow rad="127000">
                  <a:schemeClr val="tx1"/>
                </a:glow>
              </a:effectLst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 تزيد من ثقة الفرد بنفسه وتشعره بالرضا عن أداء مهامه </a:t>
            </a:r>
          </a:p>
          <a:p>
            <a:pPr algn="ctr"/>
            <a:endParaRPr lang="ar-SA" sz="28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83839" y="2114"/>
            <a:ext cx="30780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2000" b="1" dirty="0">
                <a:solidFill>
                  <a:schemeClr val="bg1"/>
                </a:solidFill>
              </a:rPr>
              <a:t>أهمية الأخلاقيات المهنية على الفرد</a:t>
            </a:r>
          </a:p>
        </p:txBody>
      </p:sp>
    </p:spTree>
    <p:extLst>
      <p:ext uri="{BB962C8B-B14F-4D97-AF65-F5344CB8AC3E}">
        <p14:creationId xmlns:p14="http://schemas.microsoft.com/office/powerpoint/2010/main" val="96441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24544" y="171494"/>
            <a:ext cx="92170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ar-SA" sz="5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635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أهمية الأخلاقيات المهنية على المجتمع</a:t>
            </a:r>
            <a:endParaRPr kumimoji="0" lang="en-US" sz="5400" b="1" i="0" u="none" strike="noStrike" kern="1200" cap="none" spc="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glow rad="635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5576" y="1484784"/>
            <a:ext cx="7207494" cy="2023659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5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635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بناء الثقة</a:t>
            </a:r>
          </a:p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تعزز الثقة والمصداقية بين أفراد المجتمع وتساهم في تماسكهم</a:t>
            </a:r>
          </a:p>
        </p:txBody>
      </p:sp>
      <p:sp>
        <p:nvSpPr>
          <p:cNvPr id="6" name="Rectangle 5"/>
          <p:cNvSpPr/>
          <p:nvPr/>
        </p:nvSpPr>
        <p:spPr>
          <a:xfrm>
            <a:off x="899592" y="4005064"/>
            <a:ext cx="7207494" cy="2023659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5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635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حماية المصلحة العامة</a:t>
            </a:r>
          </a:p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تضمن أن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ألعمل يخدم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المجتمع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ويصون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حقوق أفراده</a:t>
            </a:r>
          </a:p>
        </p:txBody>
      </p:sp>
    </p:spTree>
    <p:extLst>
      <p:ext uri="{BB962C8B-B14F-4D97-AF65-F5344CB8AC3E}">
        <p14:creationId xmlns:p14="http://schemas.microsoft.com/office/powerpoint/2010/main" val="336331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3024" y="116632"/>
            <a:ext cx="9217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ar-SA" sz="1400" dirty="0">
                <a:solidFill>
                  <a:srgbClr val="FFFF00"/>
                </a:solidFill>
                <a:cs typeface="MCS Jeddah S_U normal." pitchFamily="2" charset="-78"/>
              </a:rPr>
              <a:t>أهمية الأخلاقيات المهنية على المجتمع</a:t>
            </a:r>
            <a:endParaRPr lang="en-US" sz="1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5576" y="1484784"/>
            <a:ext cx="7207494" cy="2023659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5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635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تحقيق العدالة الاجتماعية</a:t>
            </a:r>
          </a:p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تساعد في نشر العدالة وتذيب الخلافات والصراعات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899592" y="4005064"/>
            <a:ext cx="7207494" cy="2023659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5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635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توجيه النشاط </a:t>
            </a:r>
            <a:r>
              <a:rPr lang="ar-SA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635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الإنساني</a:t>
            </a:r>
          </a:p>
          <a:p>
            <a:pPr algn="ctr"/>
            <a:r>
              <a:rPr lang="ar-SA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635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توجه الجهود نحو أهداف سامية تحقق رفاهية المجتمع </a:t>
            </a:r>
          </a:p>
          <a:p>
            <a:pPr algn="ctr"/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ar-SA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58925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332656" y="129406"/>
            <a:ext cx="116776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762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أهمية الأخلاقيات المهنية على </a:t>
            </a:r>
            <a:r>
              <a:rPr lang="ar-SA" sz="48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762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المنظمات</a:t>
            </a:r>
            <a:endParaRPr lang="ar-SA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0000FF"/>
              </a:solidFill>
              <a:effectLst>
                <a:glow rad="762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15616" y="3861048"/>
            <a:ext cx="6840760" cy="267012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b="1" dirty="0">
                <a:solidFill>
                  <a:srgbClr val="04617B">
                    <a:lumMod val="60000"/>
                    <a:lumOff val="40000"/>
                  </a:srgbClr>
                </a:solidFill>
                <a:effectLst>
                  <a:glow rad="127000">
                    <a:prstClr val="black"/>
                  </a:glow>
                </a:effectLst>
                <a:cs typeface="MCS Jeddah S_U normal." pitchFamily="2" charset="-78"/>
              </a:rPr>
              <a:t>بيئة </a:t>
            </a:r>
            <a:r>
              <a:rPr lang="ar-SA" sz="4000" b="1" dirty="0" smtClean="0">
                <a:solidFill>
                  <a:srgbClr val="04617B">
                    <a:lumMod val="60000"/>
                    <a:lumOff val="40000"/>
                  </a:srgbClr>
                </a:solidFill>
                <a:effectLst>
                  <a:glow rad="127000">
                    <a:prstClr val="black"/>
                  </a:glow>
                </a:effectLst>
                <a:cs typeface="MCS Jeddah S_U normal." pitchFamily="2" charset="-78"/>
              </a:rPr>
              <a:t> عمل  صحية</a:t>
            </a:r>
            <a:endParaRPr lang="ar-SA" sz="4000" b="1" dirty="0">
              <a:solidFill>
                <a:srgbClr val="04617B">
                  <a:lumMod val="60000"/>
                  <a:lumOff val="40000"/>
                </a:srgbClr>
              </a:solidFill>
              <a:effectLst>
                <a:glow rad="127000">
                  <a:prstClr val="black"/>
                </a:glow>
              </a:effectLst>
              <a:cs typeface="MCS Jeddah S_U normal." pitchFamily="2" charset="-78"/>
            </a:endParaRPr>
          </a:p>
          <a:p>
            <a:pPr algn="ctr"/>
            <a:r>
              <a:rPr lang="ar-SA" sz="4000" b="1" dirty="0">
                <a:solidFill>
                  <a:srgbClr val="04617B">
                    <a:lumMod val="60000"/>
                    <a:lumOff val="40000"/>
                  </a:srgbClr>
                </a:solidFill>
                <a:effectLst>
                  <a:glow rad="127000">
                    <a:prstClr val="black"/>
                  </a:glow>
                </a:effectLst>
                <a:cs typeface="MCS Jeddah S_U normal." pitchFamily="2" charset="-78"/>
              </a:rPr>
              <a:t> 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توفر بيئة عمل إيجابية تعزز التعاون وتزيد الإنتاجية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5616" y="1340768"/>
            <a:ext cx="6912768" cy="223224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b="1" dirty="0" smtClean="0">
                <a:solidFill>
                  <a:srgbClr val="04617B">
                    <a:lumMod val="60000"/>
                    <a:lumOff val="40000"/>
                  </a:srgbClr>
                </a:solidFill>
                <a:effectLst>
                  <a:glow rad="127000">
                    <a:prstClr val="black"/>
                  </a:glow>
                </a:effectLst>
                <a:cs typeface="MCS Jeddah S_U normal." pitchFamily="2" charset="-78"/>
              </a:rPr>
              <a:t>تعزيز  السمعة</a:t>
            </a:r>
            <a:endParaRPr lang="ar-SA" sz="4000" b="1" dirty="0">
              <a:solidFill>
                <a:srgbClr val="04617B">
                  <a:lumMod val="60000"/>
                  <a:lumOff val="40000"/>
                </a:srgbClr>
              </a:solidFill>
              <a:effectLst>
                <a:glow rad="127000">
                  <a:prstClr val="black"/>
                </a:glow>
              </a:effectLst>
              <a:cs typeface="MCS Jeddah S_U normal." pitchFamily="2" charset="-78"/>
            </a:endParaRPr>
          </a:p>
          <a:p>
            <a:pPr algn="ctr"/>
            <a:r>
              <a:rPr lang="ar-SA" sz="4000" b="1" dirty="0">
                <a:solidFill>
                  <a:srgbClr val="04617B">
                    <a:lumMod val="60000"/>
                    <a:lumOff val="40000"/>
                  </a:srgbClr>
                </a:solidFill>
                <a:effectLst>
                  <a:glow rad="127000">
                    <a:prstClr val="black"/>
                  </a:glow>
                </a:effectLst>
                <a:cs typeface="MCS Jeddah S_U normal." pitchFamily="2" charset="-78"/>
              </a:rPr>
              <a:t> 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تبني سمعة قوية للمؤسسة وتجذب العملاء والشركاء المخلصين</a:t>
            </a:r>
          </a:p>
          <a:p>
            <a:pPr algn="ctr"/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178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117548" y="116632"/>
            <a:ext cx="1167765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1200" dirty="0">
                <a:solidFill>
                  <a:schemeClr val="bg1"/>
                </a:solidFill>
                <a:cs typeface="MCS Jeddah S_U normal." pitchFamily="2" charset="-78"/>
              </a:rPr>
              <a:t>أهمية الأخلاقيات المهنية على المنظمات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616" y="3861048"/>
            <a:ext cx="6840760" cy="267012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b="1" dirty="0">
                <a:solidFill>
                  <a:srgbClr val="04617B">
                    <a:lumMod val="60000"/>
                    <a:lumOff val="40000"/>
                  </a:srgbClr>
                </a:solidFill>
                <a:effectLst>
                  <a:glow rad="127000">
                    <a:prstClr val="black"/>
                  </a:glow>
                </a:effectLst>
                <a:cs typeface="MCS Jeddah S_U normal." pitchFamily="2" charset="-78"/>
              </a:rPr>
              <a:t>المسؤولية </a:t>
            </a:r>
            <a:r>
              <a:rPr lang="ar-SA" sz="4000" b="1" dirty="0" smtClean="0">
                <a:solidFill>
                  <a:srgbClr val="04617B">
                    <a:lumMod val="60000"/>
                    <a:lumOff val="40000"/>
                  </a:srgbClr>
                </a:solidFill>
                <a:effectLst>
                  <a:glow rad="127000">
                    <a:prstClr val="black"/>
                  </a:glow>
                </a:effectLst>
                <a:cs typeface="MCS Jeddah S_U normal." pitchFamily="2" charset="-78"/>
              </a:rPr>
              <a:t> والشفافية</a:t>
            </a:r>
            <a:endParaRPr lang="ar-SA" sz="4000" b="1" dirty="0">
              <a:solidFill>
                <a:srgbClr val="04617B">
                  <a:lumMod val="60000"/>
                  <a:lumOff val="40000"/>
                </a:srgbClr>
              </a:solidFill>
              <a:effectLst>
                <a:glow rad="127000">
                  <a:prstClr val="black"/>
                </a:glow>
              </a:effectLst>
              <a:cs typeface="MCS Jeddah S_U normal." pitchFamily="2" charset="-78"/>
            </a:endParaRPr>
          </a:p>
          <a:p>
            <a:pPr algn="ctr"/>
            <a:r>
              <a:rPr lang="ar-SA" sz="4000" b="1" dirty="0">
                <a:solidFill>
                  <a:srgbClr val="04617B">
                    <a:lumMod val="60000"/>
                    <a:lumOff val="40000"/>
                  </a:srgbClr>
                </a:solidFill>
                <a:effectLst>
                  <a:glow rad="127000">
                    <a:prstClr val="black"/>
                  </a:glow>
                </a:effectLst>
                <a:cs typeface="MCS Jeddah S_U normal." pitchFamily="2" charset="-78"/>
              </a:rPr>
              <a:t> 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تضمن التزام المؤسسة بالمسؤولية تجاه </a:t>
            </a:r>
            <a:r>
              <a:rPr lang="ar-SA" sz="3200" u="sng" dirty="0">
                <a:solidFill>
                  <a:prstClr val="black"/>
                </a:solidFill>
                <a:cs typeface="MCS Jeddah S_U normal." pitchFamily="2" charset="-78"/>
              </a:rPr>
              <a:t>أصحاب المصلحة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 وتزيد الشفافية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5616" y="836712"/>
            <a:ext cx="6912768" cy="273630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b="1" dirty="0">
                <a:solidFill>
                  <a:srgbClr val="04617B">
                    <a:lumMod val="60000"/>
                    <a:lumOff val="40000"/>
                  </a:srgbClr>
                </a:solidFill>
                <a:effectLst>
                  <a:glow rad="127000">
                    <a:prstClr val="black"/>
                  </a:glow>
                </a:effectLst>
                <a:cs typeface="MCS Jeddah S_U normal." pitchFamily="2" charset="-78"/>
              </a:rPr>
              <a:t>الاستقرار </a:t>
            </a:r>
            <a:r>
              <a:rPr lang="ar-SA" sz="4000" b="1" dirty="0" smtClean="0">
                <a:solidFill>
                  <a:srgbClr val="04617B">
                    <a:lumMod val="60000"/>
                    <a:lumOff val="40000"/>
                  </a:srgbClr>
                </a:solidFill>
                <a:effectLst>
                  <a:glow rad="127000">
                    <a:prstClr val="black"/>
                  </a:glow>
                </a:effectLst>
                <a:cs typeface="MCS Jeddah S_U normal." pitchFamily="2" charset="-78"/>
              </a:rPr>
              <a:t> والنمو</a:t>
            </a:r>
            <a:endParaRPr lang="ar-SA" sz="4000" b="1" dirty="0">
              <a:solidFill>
                <a:srgbClr val="04617B">
                  <a:lumMod val="60000"/>
                  <a:lumOff val="40000"/>
                </a:srgbClr>
              </a:solidFill>
              <a:effectLst>
                <a:glow rad="127000">
                  <a:prstClr val="black"/>
                </a:glow>
              </a:effectLst>
              <a:cs typeface="MCS Jeddah S_U normal." pitchFamily="2" charset="-78"/>
            </a:endParaRPr>
          </a:p>
          <a:p>
            <a:pPr algn="ctr"/>
            <a:r>
              <a:rPr lang="ar-SA" sz="4000" b="1" dirty="0">
                <a:solidFill>
                  <a:srgbClr val="04617B">
                    <a:lumMod val="60000"/>
                    <a:lumOff val="40000"/>
                  </a:srgbClr>
                </a:solidFill>
                <a:effectLst>
                  <a:glow rad="127000">
                    <a:prstClr val="black"/>
                  </a:glow>
                </a:effectLst>
                <a:cs typeface="MCS Jeddah S_U normal." pitchFamily="2" charset="-78"/>
              </a:rPr>
              <a:t> 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تقلل المخاطر وتجذب الاستثمارات وتضمن النجاح طويل الأمد</a:t>
            </a:r>
          </a:p>
          <a:p>
            <a:pPr algn="ctr"/>
            <a:r>
              <a:rPr lang="ar-SA" sz="32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endParaRPr lang="ar-SA" sz="32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65445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43608" y="188640"/>
            <a:ext cx="2952328" cy="1196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 rot="305261">
            <a:off x="2423224" y="462461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sz="2400" dirty="0">
                <a:solidFill>
                  <a:srgbClr val="FF0000"/>
                </a:solidFill>
                <a:cs typeface="MCS Taybah S_U normal." pitchFamily="2" charset="-78"/>
              </a:rPr>
              <a:t>قضايا أخلاقية ومهنية</a:t>
            </a:r>
          </a:p>
        </p:txBody>
      </p:sp>
    </p:spTree>
    <p:extLst>
      <p:ext uri="{BB962C8B-B14F-4D97-AF65-F5344CB8AC3E}">
        <p14:creationId xmlns:p14="http://schemas.microsoft.com/office/powerpoint/2010/main" val="30213209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8777</TotalTime>
  <Words>419</Words>
  <Application>Microsoft Office PowerPoint</Application>
  <PresentationFormat>On-screen Show (4:3)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8" baseType="lpstr">
      <vt:lpstr>Aharoni</vt:lpstr>
      <vt:lpstr>Al hosam</vt:lpstr>
      <vt:lpstr>AL-Hosam</vt:lpstr>
      <vt:lpstr>Arial</vt:lpstr>
      <vt:lpstr>Calibri</vt:lpstr>
      <vt:lpstr>Constantia</vt:lpstr>
      <vt:lpstr>Franklin Gothic Heavy</vt:lpstr>
      <vt:lpstr>Majalla UI</vt:lpstr>
      <vt:lpstr>MCS Jeddah S_U normal.</vt:lpstr>
      <vt:lpstr>MCS Taybah S_U normal.</vt:lpstr>
      <vt:lpstr>Times New Roman</vt:lpstr>
      <vt:lpstr>Traditional Arabic</vt:lpstr>
      <vt:lpstr>Wingdings 2</vt:lpstr>
      <vt:lpstr>Office Theme</vt:lpstr>
      <vt:lpstr>1_Flow</vt:lpstr>
      <vt:lpstr>PowerPoint Presentation</vt:lpstr>
      <vt:lpstr>المحاضرة السابقة</vt:lpstr>
      <vt:lpstr>المحاضرة السابقة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mosab</dc:creator>
  <cp:lastModifiedBy>hisham</cp:lastModifiedBy>
  <cp:revision>1258</cp:revision>
  <dcterms:created xsi:type="dcterms:W3CDTF">2011-08-17T19:43:41Z</dcterms:created>
  <dcterms:modified xsi:type="dcterms:W3CDTF">2025-12-23T16:27:08Z</dcterms:modified>
</cp:coreProperties>
</file>