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17"/>
  </p:notesMasterIdLst>
  <p:sldIdLst>
    <p:sldId id="500" r:id="rId3"/>
    <p:sldId id="609" r:id="rId4"/>
    <p:sldId id="512" r:id="rId5"/>
    <p:sldId id="498" r:id="rId6"/>
    <p:sldId id="611" r:id="rId7"/>
    <p:sldId id="633" r:id="rId8"/>
    <p:sldId id="634" r:id="rId9"/>
    <p:sldId id="635" r:id="rId10"/>
    <p:sldId id="636" r:id="rId11"/>
    <p:sldId id="613" r:id="rId12"/>
    <p:sldId id="614" r:id="rId13"/>
    <p:sldId id="638" r:id="rId14"/>
    <p:sldId id="639" r:id="rId15"/>
    <p:sldId id="514" r:id="rId16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99"/>
    <a:srgbClr val="FF0000"/>
    <a:srgbClr val="FF00FF"/>
    <a:srgbClr val="003217"/>
    <a:srgbClr val="00682F"/>
    <a:srgbClr val="57EFF3"/>
    <a:srgbClr val="24DFE8"/>
    <a:srgbClr val="00FF00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78" autoAdjust="0"/>
    <p:restoredTop sz="94849" autoAdjust="0"/>
  </p:normalViewPr>
  <p:slideViewPr>
    <p:cSldViewPr>
      <p:cViewPr varScale="1">
        <p:scale>
          <a:sx n="70" d="100"/>
          <a:sy n="70" d="100"/>
        </p:scale>
        <p:origin x="13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CC0099"/>
                </a:solidFill>
                <a:effectLst>
                  <a:glow rad="1016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الإتصال الإداري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CC0099"/>
              </a:solidFill>
              <a:effectLst>
                <a:glow rad="1016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7589" y="1945796"/>
            <a:ext cx="87768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CC0099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Administrative </a:t>
            </a:r>
            <a:r>
              <a:rPr lang="en-US" sz="48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CC0099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Comonocation</a:t>
            </a:r>
            <a:endParaRPr 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CC0099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6742" y="6242673"/>
            <a:ext cx="4977545" cy="338554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ar-SA" sz="1600" dirty="0">
                <a:solidFill>
                  <a:schemeClr val="accent2">
                    <a:lumMod val="60000"/>
                    <a:lumOff val="40000"/>
                  </a:schemeClr>
                </a:solidFill>
                <a:cs typeface="MCS Jeddah S_U normal." pitchFamily="2" charset="-78"/>
              </a:rPr>
              <a:t>د. هشام كمال محمد درونكي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  <a:cs typeface="MCS Jeddah S_U normal.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13" y="3031065"/>
            <a:ext cx="6000750" cy="296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-315416"/>
            <a:ext cx="8229600" cy="1143000"/>
          </a:xfrm>
        </p:spPr>
        <p:txBody>
          <a:bodyPr>
            <a:normAutofit/>
          </a:bodyPr>
          <a:lstStyle/>
          <a:p>
            <a:r>
              <a:rPr lang="ar-SA" sz="32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32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325100" y="332656"/>
            <a:ext cx="9038374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400" dirty="0">
                <a:cs typeface="MCS Jeddah S_U normal." pitchFamily="2" charset="-78"/>
              </a:rPr>
              <a:t>مبادي الاتصال الاداري</a:t>
            </a:r>
          </a:p>
          <a:p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تحديد </a:t>
            </a:r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الهدف </a:t>
            </a:r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تحديد المحتوى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تحديد المستهدف </a:t>
            </a:r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اختيار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الوسيلة</a:t>
            </a:r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 الوضوح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والإيجاز</a:t>
            </a:r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الدقة والموضوعية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الشمولية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المرونة 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الاستماع الفعال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التغذية الراجعة</a:t>
            </a:r>
          </a:p>
          <a:p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معوقات تنظيمية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معوقات إنسانية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معوقات لغوية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معوقات خاصة بالمعلومات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والمحتوي</a:t>
            </a:r>
            <a:endParaRPr lang="en-US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 معوقات خاصة بالبيئة</a:t>
            </a:r>
          </a:p>
          <a:p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00192" y="4365104"/>
            <a:ext cx="2786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400" dirty="0">
                <a:cs typeface="MCS Jeddah S_U normal." pitchFamily="2" charset="-78"/>
              </a:rPr>
              <a:t>معوقات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47841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548680"/>
            <a:ext cx="7704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8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B05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B05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043608" y="1988840"/>
            <a:ext cx="7128792" cy="1296144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مزايا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ومساوئ </a:t>
            </a:r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</a:t>
            </a:r>
          </a:p>
        </p:txBody>
      </p:sp>
      <p:sp>
        <p:nvSpPr>
          <p:cNvPr id="4" name="Flowchart: Multidocument 3"/>
          <p:cNvSpPr/>
          <p:nvPr/>
        </p:nvSpPr>
        <p:spPr>
          <a:xfrm>
            <a:off x="999420" y="3573016"/>
            <a:ext cx="7128792" cy="1296144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أهمية الاتصال الإداري</a:t>
            </a:r>
          </a:p>
        </p:txBody>
      </p:sp>
      <p:sp>
        <p:nvSpPr>
          <p:cNvPr id="5" name="Flowchart: Multidocument 4"/>
          <p:cNvSpPr/>
          <p:nvPr/>
        </p:nvSpPr>
        <p:spPr>
          <a:xfrm>
            <a:off x="928012" y="5185924"/>
            <a:ext cx="7128792" cy="1339419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مؤشرات عدم فعالية الاتصال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669" y="-1264300"/>
            <a:ext cx="701666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مزايا ومساوئ الاتصال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5616" y="2420888"/>
            <a:ext cx="67168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 الإداري هو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ركيزة  وضلع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أساسي لأي </a:t>
            </a:r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منظمة ويؤثر بشكل كبير على فعالية العمل والتعاون بين الأفراد وفيما يلي بعض المزايا والمساوئ المرتبطة بالاتصال الإداري :</a:t>
            </a:r>
            <a:endParaRPr lang="en-US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5536" y="2145102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1-  تحسين التنسيق</a:t>
            </a:r>
          </a:p>
          <a:p>
            <a:pPr algn="ctr"/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يسهم الاتصال الفعال في تنسيق الجهود بين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الفرق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المختلفة مما يعزز الأداء العام للمنظمة</a:t>
            </a:r>
            <a:endParaRPr lang="ar-SA" sz="24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74202" y="22740"/>
            <a:ext cx="2069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chemeClr val="bg2"/>
                </a:solidFill>
              </a:rPr>
              <a:t>مزايا ومساؤي الاتصال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922829" y="892370"/>
            <a:ext cx="62087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4000" dirty="0">
                <a:solidFill>
                  <a:schemeClr val="bg2"/>
                </a:solidFill>
                <a:cs typeface="MCS Jeddah S_U normal." pitchFamily="2" charset="-78"/>
              </a:rPr>
              <a:t>مزايا </a:t>
            </a:r>
            <a:r>
              <a:rPr lang="ar-SA" sz="4000" dirty="0" smtClean="0">
                <a:solidFill>
                  <a:schemeClr val="bg2"/>
                </a:solidFill>
                <a:cs typeface="MCS Jeddah S_U normal." pitchFamily="2" charset="-78"/>
              </a:rPr>
              <a:t> </a:t>
            </a:r>
            <a:r>
              <a:rPr lang="ar-SA" sz="4000" dirty="0">
                <a:solidFill>
                  <a:schemeClr val="bg2"/>
                </a:solidFill>
                <a:cs typeface="MCS Jeddah S_U normal." pitchFamily="2" charset="-78"/>
              </a:rPr>
              <a:t>الاتصال </a:t>
            </a:r>
            <a:r>
              <a:rPr lang="ar-SA" sz="4000" dirty="0" smtClean="0">
                <a:solidFill>
                  <a:schemeClr val="bg2"/>
                </a:solidFill>
                <a:cs typeface="MCS Jeddah S_U normal." pitchFamily="2" charset="-78"/>
              </a:rPr>
              <a:t>الاداري (الإيجابيات</a:t>
            </a:r>
            <a:r>
              <a:rPr lang="ar-SA" sz="4000" dirty="0">
                <a:solidFill>
                  <a:schemeClr val="bg2"/>
                </a:solidFill>
                <a:cs typeface="MCS Jeddah S_U normal." pitchFamily="2" charset="-78"/>
              </a:rPr>
              <a:t>)</a:t>
            </a:r>
            <a:endParaRPr lang="en-US" sz="4000" dirty="0">
              <a:solidFill>
                <a:schemeClr val="bg2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5536" y="4551226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2-  زيادة الوضوح</a:t>
            </a:r>
          </a:p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يساعد في توضيح الأهداف والسياسات مما يؤدي إلى فهم أفضل للمسؤوليات</a:t>
            </a:r>
            <a:endParaRPr lang="ar-SA" sz="24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80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14680" y="903683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2079" y="480582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3- تعزيز العلاقات</a:t>
            </a:r>
          </a:p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يعزز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العلاقات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بين الأفراد داخل العمل مما يؤدي إلى تحسين روح الفريق وبناء الثقة</a:t>
            </a:r>
            <a:endParaRPr lang="ar-SA" sz="20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40352" y="26097"/>
            <a:ext cx="15007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400" dirty="0">
                <a:solidFill>
                  <a:schemeClr val="bg2"/>
                </a:solidFill>
                <a:cs typeface="MCS Jeddah S_U normal." pitchFamily="2" charset="-78"/>
              </a:rPr>
              <a:t>مزايا وسائل الاتصال </a:t>
            </a:r>
          </a:p>
        </p:txBody>
      </p:sp>
      <p:sp>
        <p:nvSpPr>
          <p:cNvPr id="9" name="Rectangle 8"/>
          <p:cNvSpPr/>
          <p:nvPr/>
        </p:nvSpPr>
        <p:spPr>
          <a:xfrm>
            <a:off x="362078" y="2546760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4-  دعم </a:t>
            </a:r>
            <a:r>
              <a:rPr lang="ar-SA" sz="3600" dirty="0">
                <a:solidFill>
                  <a:prstClr val="black"/>
                </a:solidFill>
                <a:cs typeface="MCS Jeddah S_U normal." pitchFamily="2" charset="-78"/>
              </a:rPr>
              <a:t>اتخاذ </a:t>
            </a:r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القرار</a:t>
            </a:r>
          </a:p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توافر المعلومات بشكل صحيح وفي الوقت المناسب يعين القادة والموظفين على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اتخاذ قرارات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صحيحة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4216" y="4628170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5-  التكيف </a:t>
            </a:r>
            <a:r>
              <a:rPr lang="ar-SA" sz="3600" dirty="0">
                <a:solidFill>
                  <a:prstClr val="black"/>
                </a:solidFill>
                <a:cs typeface="MCS Jeddah S_U normal." pitchFamily="2" charset="-78"/>
              </a:rPr>
              <a:t>مع </a:t>
            </a:r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التغيرات</a:t>
            </a:r>
          </a:p>
          <a:p>
            <a:pPr algn="ctr"/>
            <a:r>
              <a:rPr lang="ar-SA" sz="36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يسهل الاتصال الفعال عملية التكيف مع التغيرات في البيئة التنظيمية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أو السوق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400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6942" y="2132856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1-  الفهم الخاطئ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قد يؤدي سوء تفسير المعلومات إلى اتخاذ قرارات غير صحيحة أو تصرفات غير ملائمة</a:t>
            </a:r>
            <a:endParaRPr lang="ar-SA" sz="20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2544" y="22740"/>
            <a:ext cx="27414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 smtClean="0">
                <a:solidFill>
                  <a:schemeClr val="bg2"/>
                </a:solidFill>
              </a:rPr>
              <a:t>مزايا ومساوي الاتصال </a:t>
            </a:r>
            <a:r>
              <a:rPr lang="ar-SA" sz="2000" b="1" dirty="0">
                <a:solidFill>
                  <a:schemeClr val="bg2"/>
                </a:solidFill>
              </a:rPr>
              <a:t>الاداري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552" y="826018"/>
            <a:ext cx="75632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4000" dirty="0">
                <a:solidFill>
                  <a:schemeClr val="bg2"/>
                </a:solidFill>
                <a:cs typeface="MCS Jeddah S_U normal." pitchFamily="2" charset="-78"/>
              </a:rPr>
              <a:t>مساوئ </a:t>
            </a:r>
            <a:r>
              <a:rPr lang="ar-SA" sz="4000" dirty="0" smtClean="0">
                <a:solidFill>
                  <a:schemeClr val="bg2"/>
                </a:solidFill>
                <a:cs typeface="MCS Jeddah S_U normal." pitchFamily="2" charset="-78"/>
              </a:rPr>
              <a:t>سائل الاتصال الاداري </a:t>
            </a:r>
            <a:r>
              <a:rPr lang="ar-SA" sz="4000" dirty="0">
                <a:solidFill>
                  <a:schemeClr val="bg2"/>
                </a:solidFill>
                <a:cs typeface="MCS Jeddah S_U normal." pitchFamily="2" charset="-78"/>
              </a:rPr>
              <a:t>(السلبيات)</a:t>
            </a:r>
            <a:endParaRPr lang="en-US" sz="4000" dirty="0">
              <a:solidFill>
                <a:schemeClr val="bg2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5536" y="4293096"/>
            <a:ext cx="8220109" cy="2118134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2-  زيادة التعقيد</a:t>
            </a:r>
          </a:p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في بعض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الأحيان قد يؤدي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وجود قنوات اتصال متعددة إلى زيادة التعقيد والتشويش</a:t>
            </a:r>
          </a:p>
        </p:txBody>
      </p:sp>
    </p:spTree>
    <p:extLst>
      <p:ext uri="{BB962C8B-B14F-4D97-AF65-F5344CB8AC3E}">
        <p14:creationId xmlns:p14="http://schemas.microsoft.com/office/powerpoint/2010/main" val="314544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7544" y="795240"/>
            <a:ext cx="8220109" cy="1859962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3-  التأخر </a:t>
            </a:r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في </a:t>
            </a:r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المعلومات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في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حالة عدم توفير المعلومات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بسرعة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قد تتأثر العمليات والقرارات بشكل سلبي</a:t>
            </a:r>
            <a:endParaRPr lang="ar-SA" sz="20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2544" y="22740"/>
            <a:ext cx="27414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 smtClean="0">
                <a:solidFill>
                  <a:schemeClr val="bg2"/>
                </a:solidFill>
              </a:rPr>
              <a:t>مزايا ومساوي الاتصال </a:t>
            </a:r>
            <a:r>
              <a:rPr lang="ar-SA" sz="2000" b="1" dirty="0">
                <a:solidFill>
                  <a:schemeClr val="bg2"/>
                </a:solidFill>
              </a:rPr>
              <a:t>الاداري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544" y="3259758"/>
            <a:ext cx="8220109" cy="273427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4-  المعلومات الزائدة</a:t>
            </a:r>
          </a:p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يمكن أن يؤدي التدفق الكبير للمعلومات إلى فقدان التركيز على الأمور المهمة</a:t>
            </a:r>
          </a:p>
        </p:txBody>
      </p:sp>
    </p:spTree>
    <p:extLst>
      <p:ext uri="{BB962C8B-B14F-4D97-AF65-F5344CB8AC3E}">
        <p14:creationId xmlns:p14="http://schemas.microsoft.com/office/powerpoint/2010/main" val="79081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7544" y="795240"/>
            <a:ext cx="8220109" cy="2491778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5-  علاقات متوترة</a:t>
            </a:r>
          </a:p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إذا لم يتم الاتصال بشكل فعال قد تنشأ مشاكل وضعف في العلاقات بين الأفراد</a:t>
            </a:r>
            <a:endParaRPr lang="en-US" sz="20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2544" y="22740"/>
            <a:ext cx="27414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 smtClean="0">
                <a:solidFill>
                  <a:schemeClr val="bg2"/>
                </a:solidFill>
              </a:rPr>
              <a:t>مزايا ومساوي الاتصال </a:t>
            </a:r>
            <a:r>
              <a:rPr lang="ar-SA" sz="2000" b="1" dirty="0">
                <a:solidFill>
                  <a:schemeClr val="bg2"/>
                </a:solidFill>
              </a:rPr>
              <a:t>الاداري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552" y="3659408"/>
            <a:ext cx="8220109" cy="2664296"/>
          </a:xfrm>
          <a:prstGeom prst="rect">
            <a:avLst/>
          </a:prstGeom>
          <a:solidFill>
            <a:schemeClr val="bg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3600" b="1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عموما  يعتمد نجاح الاتصال الإداري على كيفية </a:t>
            </a:r>
            <a:r>
              <a:rPr lang="ar-SA" sz="3600" b="1" u="sng" dirty="0">
                <a:solidFill>
                  <a:srgbClr val="0000FF"/>
                </a:solidFill>
                <a:cs typeface="MCS Jeddah S_U normal." pitchFamily="2" charset="-78"/>
              </a:rPr>
              <a:t>إدارة</a:t>
            </a:r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هذه </a:t>
            </a:r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المزايا  أو المساوئ </a:t>
            </a:r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لتحقيق بيئة عمل </a:t>
            </a:r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فعالة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254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640" y="34311"/>
            <a:ext cx="77048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         </a:t>
            </a:r>
            <a:r>
              <a:rPr lang="ar-SA" sz="60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أهمية الاتصال الإداري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082" y="2564904"/>
            <a:ext cx="8523820" cy="1590055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1-  تحسين </a:t>
            </a:r>
            <a:r>
              <a:rPr lang="ar-SA" sz="3600" b="1" dirty="0">
                <a:solidFill>
                  <a:srgbClr val="FFFF00"/>
                </a:solidFill>
                <a:cs typeface="MCS Jeddah S_U normal." pitchFamily="2" charset="-78"/>
              </a:rPr>
              <a:t>التنسيق </a:t>
            </a:r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يعزز الاتصال الفعال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التنسيق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بين الفرق والأقسام المختلفة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1196752"/>
            <a:ext cx="85958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للاتصال الاداري اهمية كبيرة في العمل التنظيمي ونجاحه واهمها ما يلي  : 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8082" y="4437112"/>
            <a:ext cx="8523820" cy="137653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2 -   تعزيز </a:t>
            </a:r>
            <a:r>
              <a:rPr lang="ar-SA" sz="3600" b="1" dirty="0">
                <a:solidFill>
                  <a:srgbClr val="FFFF00"/>
                </a:solidFill>
                <a:cs typeface="MCS Jeddah S_U normal." pitchFamily="2" charset="-78"/>
              </a:rPr>
              <a:t>الثقة </a:t>
            </a:r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يساعد في بناء الثقة بين العاملين وقيادة المنظمة</a:t>
            </a:r>
          </a:p>
        </p:txBody>
      </p:sp>
    </p:spTree>
    <p:extLst>
      <p:ext uri="{BB962C8B-B14F-4D97-AF65-F5344CB8AC3E}">
        <p14:creationId xmlns:p14="http://schemas.microsoft.com/office/powerpoint/2010/main" val="40308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أهمية الاتصال الإداري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454" y="2108121"/>
            <a:ext cx="8220109" cy="1896943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4-  حل </a:t>
            </a:r>
            <a:r>
              <a:rPr lang="ar-SA" sz="3600" b="1" dirty="0">
                <a:solidFill>
                  <a:srgbClr val="FFFF00"/>
                </a:solidFill>
                <a:cs typeface="MCS Jeddah S_U normal." pitchFamily="2" charset="-78"/>
              </a:rPr>
              <a:t>المشكلات </a:t>
            </a:r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يسهل التعرف على المشكلات وحلها بشكل أسرع من خلال التواصل الفعال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536" y="404664"/>
            <a:ext cx="8220109" cy="157579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FFFF00"/>
                </a:solidFill>
                <a:cs typeface="MCS Jeddah S_U normal." pitchFamily="2" charset="-78"/>
              </a:rPr>
              <a:t>3-  تعزيز الابتكار </a:t>
            </a:r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يخلق بيئة مفتوحة لتبادل الأفكار الجديدة والمبادرات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9215" y="4132729"/>
            <a:ext cx="8220109" cy="2464623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عموما يعتبر الاتصال الإداري جزءًا لا يتجزأ من نجاح أي منظمة حيث يسهم في خلق بيئة عمل متكاملة تعزز من الفعالية والكفاءة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وفهم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وتطبيق مبادئ الاتصال الإداري يساعد على تحقيق الأهداف الاستراتيجية ويعزز من قدرة المنظمة على التكيف مع التغيرات والمستجدات</a:t>
            </a:r>
          </a:p>
        </p:txBody>
      </p:sp>
    </p:spTree>
    <p:extLst>
      <p:ext uri="{BB962C8B-B14F-4D97-AF65-F5344CB8AC3E}">
        <p14:creationId xmlns:p14="http://schemas.microsoft.com/office/powerpoint/2010/main" val="322222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12576" y="260648"/>
            <a:ext cx="96490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8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B05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مؤشرات عدم فعالية الاتصال</a:t>
            </a:r>
            <a:endParaRPr 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B05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043608" y="3090444"/>
            <a:ext cx="7128792" cy="1584176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إنخفاض الكفاءة الانتاجية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8" y="1860212"/>
            <a:ext cx="74888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للاتصال مؤشرات وعلامات تشير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الي عدم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جودته وعدم فعاليته واهمها هو 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6" name="Flowchart: Multidocument 5"/>
          <p:cNvSpPr/>
          <p:nvPr/>
        </p:nvSpPr>
        <p:spPr>
          <a:xfrm>
            <a:off x="1014349" y="4950745"/>
            <a:ext cx="7128792" cy="1584176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زيادة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معدل تسيب وغياب العاملين</a:t>
            </a:r>
          </a:p>
        </p:txBody>
      </p:sp>
    </p:spTree>
    <p:extLst>
      <p:ext uri="{BB962C8B-B14F-4D97-AF65-F5344CB8AC3E}">
        <p14:creationId xmlns:p14="http://schemas.microsoft.com/office/powerpoint/2010/main" val="3121535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86726" y="0"/>
            <a:ext cx="96490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مؤشرات عدم فعالية الاتصال</a:t>
            </a:r>
            <a:endParaRPr lang="en-US" sz="12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689953" y="479069"/>
            <a:ext cx="7295713" cy="1584176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زيادة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معدل </a:t>
            </a:r>
            <a:r>
              <a:rPr lang="ar-SA" sz="3200" u="sng" dirty="0">
                <a:solidFill>
                  <a:srgbClr val="FFFF00"/>
                </a:solidFill>
                <a:cs typeface="MCS Jeddah S_U normal." pitchFamily="2" charset="-78"/>
              </a:rPr>
              <a:t>دوران العمل</a:t>
            </a:r>
          </a:p>
        </p:txBody>
      </p:sp>
      <p:sp>
        <p:nvSpPr>
          <p:cNvPr id="6" name="Flowchart: Multidocument 5"/>
          <p:cNvSpPr/>
          <p:nvPr/>
        </p:nvSpPr>
        <p:spPr>
          <a:xfrm>
            <a:off x="727501" y="2459289"/>
            <a:ext cx="7220615" cy="1584176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التنسيق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الضعيف بين الاقسام والوحدات داخل التنظيم</a:t>
            </a:r>
          </a:p>
        </p:txBody>
      </p:sp>
      <p:sp>
        <p:nvSpPr>
          <p:cNvPr id="7" name="Flowchart: Multidocument 6"/>
          <p:cNvSpPr/>
          <p:nvPr/>
        </p:nvSpPr>
        <p:spPr>
          <a:xfrm>
            <a:off x="744768" y="4293096"/>
            <a:ext cx="7292623" cy="2304256"/>
          </a:xfrm>
          <a:prstGeom prst="flowChartMultidocumen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المدير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الفعال هو الذي يسعي دوما لنجاح الاتصال بتنظيمه ويتفقد هذه العملية ويعمل علي تطويرها باستمرار </a:t>
            </a:r>
          </a:p>
        </p:txBody>
      </p:sp>
    </p:spTree>
    <p:extLst>
      <p:ext uri="{BB962C8B-B14F-4D97-AF65-F5344CB8AC3E}">
        <p14:creationId xmlns:p14="http://schemas.microsoft.com/office/powerpoint/2010/main" val="1130018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503420" y="31808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3600" dirty="0" smtClean="0">
                <a:solidFill>
                  <a:srgbClr val="FF0000"/>
                </a:solidFill>
                <a:cs typeface="MCS Taybah S_U normal." pitchFamily="2" charset="-78"/>
              </a:rPr>
              <a:t>الاتصال الاداري</a:t>
            </a:r>
            <a:endParaRPr lang="en-US" sz="3600" dirty="0">
              <a:solidFill>
                <a:srgbClr val="FF0000"/>
              </a:solidFill>
              <a:cs typeface="MCS Tayb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9039</TotalTime>
  <Words>481</Words>
  <Application>Microsoft Office PowerPoint</Application>
  <PresentationFormat>On-screen Show (4:3)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1290</cp:revision>
  <dcterms:created xsi:type="dcterms:W3CDTF">2011-08-17T19:43:41Z</dcterms:created>
  <dcterms:modified xsi:type="dcterms:W3CDTF">2026-01-06T16:17:26Z</dcterms:modified>
</cp:coreProperties>
</file>