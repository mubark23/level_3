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F9084-110B-9025-CF4A-675DAE88A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3507D5-A6E7-CB60-6D8A-9E8D86E881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208CD-B7FA-3950-9E9B-1B68F8540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3265F-6401-49B5-BF55-4717F2D136D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B3855-4209-7E05-AE45-A23F41B8C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31799-91F3-53B5-9BCF-2581C05CD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F0BBB-57FF-4F76-B964-253EEB87D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31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1AB21-D608-31C5-1B7E-F45BF751E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30AEB-5E91-DD14-9899-305339437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4B970-5F42-F980-A281-6A695430E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3265F-6401-49B5-BF55-4717F2D136D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E8BC7-4B1D-1560-77DD-1CC266B5D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A1E2B-7F76-5592-3183-06C454DFD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F0BBB-57FF-4F76-B964-253EEB87D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53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A6AFC-13EB-2C0C-AB3F-83EC3E8E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B8A1D-9803-B655-7A4C-6C252F4D2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739FE-C42D-E5AE-56DB-DA032D55C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3265F-6401-49B5-BF55-4717F2D136D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06C3E-40BD-A5E8-D852-07840E419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69D46-1BA7-77A2-559D-6FB924852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F0BBB-57FF-4F76-B964-253EEB87D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60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D6C2-F8C6-6AC4-9D76-138FAA380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E3800-9E17-FDD2-B020-D822497264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543FE0-6F1B-2DDE-0CAB-28A729609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76EB8D-2B73-8A0A-5B88-C0D5A0C92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3265F-6401-49B5-BF55-4717F2D136D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ED4F2D-7B53-08A9-5E55-E524B4C16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800F2-2102-E922-8A44-BE185003A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F0BBB-57FF-4F76-B964-253EEB87D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524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11D4D-5D00-CB4C-44E0-20615B608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08EF9A-4F83-99B8-C931-0D7ABCF11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C70DD8-31AE-5C3F-F3DB-B8659ADC2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A35F80-7E45-FC60-7B9A-18E5CF96C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2A1500-EB0F-5715-0B97-8146B2863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4B898D-661F-70A6-DCFF-146572B8E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3265F-6401-49B5-BF55-4717F2D136D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023A42-CB7C-20D7-5802-D91BA92D1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D685D7-98E1-D671-422F-952069042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F0BBB-57FF-4F76-B964-253EEB87D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906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12871-C212-B29B-0BC5-72AE35C3A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0DE2BF-0FF7-C0CC-3C17-975281FE8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3265F-6401-49B5-BF55-4717F2D136D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BB4682-93F6-520D-5D0B-0EFB1DB15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539238-3390-97CB-6A7A-B23A379C4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F0BBB-57FF-4F76-B964-253EEB87D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204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F729EA-F927-A07E-FC12-FB57A50D4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3265F-6401-49B5-BF55-4717F2D136D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27BD14-2CD2-FA1F-164B-FDC8C545C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FADBF-15B6-7C07-8FE4-1433C2AFA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F0BBB-57FF-4F76-B964-253EEB87D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627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E8B8-29D9-2E5A-D8B2-00C9B8171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9B279-D30F-B01F-F253-DD070734D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D525B2-A22E-E05D-4B48-A8E07936F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A0CDB-D1A7-BCD0-EC04-31A114215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3265F-6401-49B5-BF55-4717F2D136D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947A8-C36B-9184-B8C1-74F8BD88F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44B9B9-24D6-56D3-1EFB-BBBEDBC74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F0BBB-57FF-4F76-B964-253EEB87D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395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419F6-5679-8A88-EBBF-73F1C8D62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271EDB-7AA5-AD72-A95B-1679B84A2C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317EFC-8692-A0F4-7D6E-ABDDC0349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2D83E4-A988-BBC0-00FE-07EBB66FC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3265F-6401-49B5-BF55-4717F2D136D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D2FD89-A29E-2211-DBCC-17471B689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AD82F8-5DF3-9C2E-615F-4082B2F7E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F0BBB-57FF-4F76-B964-253EEB87D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305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EF56B-3561-B278-A614-34711E25C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CA34DC-23DD-1A82-77B0-52C7BD3C0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BAB77-4081-143C-0D66-B637D95A8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3265F-6401-49B5-BF55-4717F2D136D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B75C4-0A90-9662-B6E5-140E7197C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1BE26-E004-E2A1-109A-BA57FB674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F0BBB-57FF-4F76-B964-253EEB87D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18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4E4C70-ACE9-AE1C-CDA8-FA77B5564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98238-74A1-8FA0-29E6-FEE6B3F9A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071E1-B810-3FD4-3979-05EE4BE8A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3265F-6401-49B5-BF55-4717F2D136D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38983-8263-1065-3DBA-6557DE27C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2E685-E128-34BE-DB5B-40C52898B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F0BBB-57FF-4F76-B964-253EEB87D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76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7C3AEC-52D9-B7DD-AE44-2D3350DDE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579711-218A-D915-1C83-5544E2E18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D6384-1CE8-030A-E0CD-5BA9E75C99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B3265F-6401-49B5-BF55-4717F2D136D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F167A-F3E5-50B7-C198-A3F637383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2BC99-8FD7-ED8A-337B-5336BCD4EC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1F0BBB-57FF-4F76-B964-253EEB87D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57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26EC0-A9DC-0A04-DE68-7382900536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IP Adress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A75E7F-21B9-6370-009A-ABD33D8B5D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96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6C024-F09D-9F26-6AD9-F0C3B71F6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IP Address?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5AE1B-16BB-8FF6-0B4B-DB9795F10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dirty="0"/>
              <a:t>· Definition: Internet Protocol Address</a:t>
            </a:r>
          </a:p>
          <a:p>
            <a:pPr marL="0" indent="0" algn="l">
              <a:buNone/>
            </a:pPr>
            <a:r>
              <a:rPr lang="en-US" dirty="0"/>
              <a:t>· Function: Identifies devices on a network</a:t>
            </a:r>
          </a:p>
          <a:p>
            <a:pPr marL="0" indent="0" algn="l">
              <a:buNone/>
            </a:pPr>
            <a:r>
              <a:rPr lang="en-US" dirty="0"/>
              <a:t>· Analogy: Like a phone number for electronic devices</a:t>
            </a:r>
          </a:p>
        </p:txBody>
      </p:sp>
    </p:spTree>
    <p:extLst>
      <p:ext uri="{BB962C8B-B14F-4D97-AF65-F5344CB8AC3E}">
        <p14:creationId xmlns:p14="http://schemas.microsoft.com/office/powerpoint/2010/main" val="3145914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AB3A6-0BF1-EFF0-012D-AF122A59F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IP Addresses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8873C-DC7C-F6FA-2EE8-7262EE1E3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· Device-to-device communication</a:t>
            </a:r>
          </a:p>
          <a:p>
            <a:pPr marL="0" indent="0">
              <a:buNone/>
            </a:pPr>
            <a:r>
              <a:rPr lang="en-US" dirty="0"/>
              <a:t>· Proper data routing</a:t>
            </a:r>
          </a:p>
          <a:p>
            <a:pPr marL="0" indent="0">
              <a:buNone/>
            </a:pPr>
            <a:r>
              <a:rPr lang="en-US" dirty="0"/>
              <a:t>· Efficient network management</a:t>
            </a:r>
          </a:p>
        </p:txBody>
      </p:sp>
    </p:spTree>
    <p:extLst>
      <p:ext uri="{BB962C8B-B14F-4D97-AF65-F5344CB8AC3E}">
        <p14:creationId xmlns:p14="http://schemas.microsoft.com/office/powerpoint/2010/main" val="3475094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390E8-F709-9B4E-2A89-7A85D83BD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IP Addresses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83821-8582-91C5-86E7-4D017CFDD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IPv4:</a:t>
            </a:r>
          </a:p>
          <a:p>
            <a:pPr marL="0" indent="0">
              <a:buNone/>
            </a:pPr>
            <a:r>
              <a:rPr lang="en-US" dirty="0"/>
              <a:t>· Length: 32 bits (4 octets)</a:t>
            </a:r>
          </a:p>
          <a:p>
            <a:pPr marL="0" indent="0">
              <a:buNone/>
            </a:pPr>
            <a:r>
              <a:rPr lang="en-US" dirty="0"/>
              <a:t>· Format: </a:t>
            </a:r>
            <a:r>
              <a:rPr lang="en-US" dirty="0" err="1"/>
              <a:t>xxx.xxx.xxx.xxx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· Example: 192.168.1.1</a:t>
            </a:r>
          </a:p>
          <a:p>
            <a:pPr marL="0" indent="0">
              <a:buNone/>
            </a:pPr>
            <a:r>
              <a:rPr lang="en-US" dirty="0"/>
              <a:t>· Capacity: ~4.3 billion addresses</a:t>
            </a:r>
          </a:p>
          <a:p>
            <a:pPr marL="0" indent="0">
              <a:buNone/>
            </a:pPr>
            <a:r>
              <a:rPr lang="en-US" dirty="0"/>
              <a:t>IPv6:</a:t>
            </a:r>
          </a:p>
          <a:p>
            <a:pPr marL="0" indent="0">
              <a:buNone/>
            </a:pPr>
            <a:r>
              <a:rPr lang="en-US" dirty="0"/>
              <a:t>· Length: 128 bits</a:t>
            </a:r>
          </a:p>
          <a:p>
            <a:pPr marL="0" indent="0">
              <a:buNone/>
            </a:pPr>
            <a:r>
              <a:rPr lang="en-US" dirty="0"/>
              <a:t>· Format: </a:t>
            </a:r>
            <a:r>
              <a:rPr lang="en-US" dirty="0" err="1"/>
              <a:t>xxxx:xxxx:xxxx:xxxx:xxxx:xxxx:xxxx:xxxx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· Example: 2001:0db8:85a3:0000:0000:8a2e:0370:7334</a:t>
            </a:r>
          </a:p>
          <a:p>
            <a:pPr marL="0" indent="0">
              <a:buNone/>
            </a:pPr>
            <a:r>
              <a:rPr lang="en-US" dirty="0"/>
              <a:t>· Capacity: 3.4×10³⁸ addresses</a:t>
            </a:r>
          </a:p>
        </p:txBody>
      </p:sp>
    </p:spTree>
    <p:extLst>
      <p:ext uri="{BB962C8B-B14F-4D97-AF65-F5344CB8AC3E}">
        <p14:creationId xmlns:p14="http://schemas.microsoft.com/office/powerpoint/2010/main" val="2496110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13F58-19EA-3471-13AF-9B8978D98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vs Private Addresses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E41A8-D364-6C82-ED0F-208022AD9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Public Addresses:</a:t>
            </a:r>
          </a:p>
          <a:p>
            <a:pPr marL="0" indent="0">
              <a:buNone/>
            </a:pPr>
            <a:r>
              <a:rPr lang="en-US" dirty="0"/>
              <a:t>· Used on the public internet</a:t>
            </a:r>
          </a:p>
          <a:p>
            <a:pPr marL="0" indent="0">
              <a:buNone/>
            </a:pPr>
            <a:r>
              <a:rPr lang="en-US" dirty="0"/>
              <a:t>· Allocated by organizations like IANA</a:t>
            </a:r>
          </a:p>
          <a:p>
            <a:pPr marL="0" indent="0">
              <a:buNone/>
            </a:pPr>
            <a:r>
              <a:rPr lang="en-US" dirty="0"/>
              <a:t>· Must be globally unique</a:t>
            </a:r>
          </a:p>
          <a:p>
            <a:pPr marL="0" indent="0">
              <a:buNone/>
            </a:pPr>
            <a:r>
              <a:rPr lang="en-US" dirty="0"/>
              <a:t>Private Addresses:</a:t>
            </a:r>
          </a:p>
          <a:p>
            <a:pPr marL="0" indent="0">
              <a:buNone/>
            </a:pPr>
            <a:r>
              <a:rPr lang="en-US" dirty="0"/>
              <a:t>· For internal use</a:t>
            </a:r>
          </a:p>
          <a:p>
            <a:pPr marL="0" indent="0">
              <a:buNone/>
            </a:pPr>
            <a:r>
              <a:rPr lang="en-US" dirty="0"/>
              <a:t>· Three well-known ranges</a:t>
            </a:r>
          </a:p>
          <a:p>
            <a:pPr marL="0" indent="0">
              <a:buNone/>
            </a:pPr>
            <a:r>
              <a:rPr lang="en-US" dirty="0"/>
              <a:t>· Can be reused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450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54B1A-D329-F86B-A49E-D90A51754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02DB1-7CC7-82EE-1518-6BB3A2645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Traditional Classful System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Range Networks Hosts Typical Use</a:t>
            </a:r>
          </a:p>
          <a:p>
            <a:pPr marL="0" indent="0">
              <a:buNone/>
            </a:pPr>
            <a:r>
              <a:rPr lang="en-US" dirty="0"/>
              <a:t>A 0-127          126 16 million Large corporations</a:t>
            </a:r>
          </a:p>
          <a:p>
            <a:pPr marL="0" indent="0">
              <a:buNone/>
            </a:pPr>
            <a:r>
              <a:rPr lang="en-US" dirty="0"/>
              <a:t>B 128-191     16,384 65,534 Universities</a:t>
            </a:r>
          </a:p>
          <a:p>
            <a:pPr marL="0" indent="0">
              <a:buNone/>
            </a:pPr>
            <a:r>
              <a:rPr lang="en-US" dirty="0"/>
              <a:t>C 192-223     2 million 254 Small networks</a:t>
            </a:r>
          </a:p>
          <a:p>
            <a:pPr marL="0" indent="0">
              <a:buNone/>
            </a:pPr>
            <a:r>
              <a:rPr lang="en-US" dirty="0"/>
              <a:t>D 224-239 - - Multicast</a:t>
            </a:r>
          </a:p>
          <a:p>
            <a:pPr marL="0" indent="0">
              <a:buNone/>
            </a:pPr>
            <a:r>
              <a:rPr lang="en-US" dirty="0"/>
              <a:t>E 240-255 - - Experimental</a:t>
            </a:r>
          </a:p>
        </p:txBody>
      </p:sp>
    </p:spTree>
    <p:extLst>
      <p:ext uri="{BB962C8B-B14F-4D97-AF65-F5344CB8AC3E}">
        <p14:creationId xmlns:p14="http://schemas.microsoft.com/office/powerpoint/2010/main" val="1805385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F2102-4E9F-DFFC-CCB7-93D48711E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Classless System (CIDR)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17340-DCC8-7353-2214-CDFE8DCF0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· Notation: Address/Network prefix</a:t>
            </a:r>
          </a:p>
          <a:p>
            <a:pPr marL="0" indent="0">
              <a:buNone/>
            </a:pPr>
            <a:r>
              <a:rPr lang="en-US" dirty="0"/>
              <a:t>· Example: 192.168.1.0/24</a:t>
            </a:r>
          </a:p>
          <a:p>
            <a:pPr marL="0" indent="0">
              <a:buNone/>
            </a:pPr>
            <a:r>
              <a:rPr lang="en-US" dirty="0"/>
              <a:t>· Advantages: More flexibility, reduced waste</a:t>
            </a:r>
          </a:p>
        </p:txBody>
      </p:sp>
    </p:spTree>
    <p:extLst>
      <p:ext uri="{BB962C8B-B14F-4D97-AF65-F5344CB8AC3E}">
        <p14:creationId xmlns:p14="http://schemas.microsoft.com/office/powerpoint/2010/main" val="2148401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C9152-5395-416D-85CA-AEA98014F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pecial</a:t>
            </a:r>
            <a:r>
              <a:rPr lang="en-US" dirty="0"/>
              <a:t> Reserved </a:t>
            </a:r>
            <a:r>
              <a:rPr lang="en-US" dirty="0" err="1"/>
              <a:t>Addresse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7A8CE-76E2-635C-A283-23FCB6442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· 127.0.0.1: Localhost</a:t>
            </a:r>
          </a:p>
          <a:p>
            <a:pPr marL="0" indent="0">
              <a:buNone/>
            </a:pPr>
            <a:r>
              <a:rPr lang="en-US" dirty="0"/>
              <a:t>· 169.254.x.x: APIPA</a:t>
            </a:r>
          </a:p>
          <a:p>
            <a:pPr marL="0" indent="0">
              <a:buNone/>
            </a:pPr>
            <a:r>
              <a:rPr lang="en-US" dirty="0"/>
              <a:t>· 0.0.0.0: Default address</a:t>
            </a:r>
          </a:p>
        </p:txBody>
      </p:sp>
    </p:spTree>
    <p:extLst>
      <p:ext uri="{BB962C8B-B14F-4D97-AF65-F5344CB8AC3E}">
        <p14:creationId xmlns:p14="http://schemas.microsoft.com/office/powerpoint/2010/main" val="1242990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08A1AA-0687-9E7B-1DFF-429CCAA36A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IP Address Allocation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C19274E-09EE-C25F-CF4B-7044D13D47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403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87EE9-BE52-1126-7926-16C37F8C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Assignment: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CF985-0572-A32A-2D48-47173AE78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Manual configuration</a:t>
            </a:r>
          </a:p>
          <a:p>
            <a:pPr marL="0" indent="0">
              <a:buNone/>
            </a:pPr>
            <a:r>
              <a:rPr lang="en-US" dirty="0"/>
              <a:t>· Permanent address</a:t>
            </a:r>
          </a:p>
          <a:p>
            <a:pPr marL="0" indent="0">
              <a:buNone/>
            </a:pPr>
            <a:r>
              <a:rPr lang="en-US" dirty="0"/>
              <a:t>· For servers and critical devices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45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46265-4786-9B34-6B19-2AB183578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Assignment (DHCP):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0822B-5A89-3484-970C-9C347F085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· Automatic from DHCP server</a:t>
            </a:r>
          </a:p>
          <a:p>
            <a:r>
              <a:rPr lang="en-US" dirty="0"/>
              <a:t>· Temporary lease</a:t>
            </a:r>
          </a:p>
          <a:p>
            <a:r>
              <a:rPr lang="en-US" dirty="0"/>
              <a:t>· For regular devices</a:t>
            </a:r>
          </a:p>
        </p:txBody>
      </p:sp>
    </p:spTree>
    <p:extLst>
      <p:ext uri="{BB962C8B-B14F-4D97-AF65-F5344CB8AC3E}">
        <p14:creationId xmlns:p14="http://schemas.microsoft.com/office/powerpoint/2010/main" val="878996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FFA5F-0C7E-A6BD-6E45-A075E1443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Subnetting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0F61E-C295-FCCC-A7E6-1D3B612AE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· Example: 255.255.255.0</a:t>
            </a:r>
          </a:p>
          <a:p>
            <a:pPr marL="0" indent="0">
              <a:buNone/>
            </a:pPr>
            <a:r>
              <a:rPr lang="en-US" dirty="0"/>
              <a:t>· Function: Separates network portion from host portion</a:t>
            </a:r>
          </a:p>
          <a:p>
            <a:pPr marL="0" indent="0">
              <a:buNone/>
            </a:pPr>
            <a:r>
              <a:rPr lang="en-US" dirty="0"/>
              <a:t>· CIDR notation: /24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013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4CB7B-DDFD-879D-058D-4A7CAEBBC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Subnetting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76D74-5C8D-85BA-0C9A-E28E64DDC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· Improved performance</a:t>
            </a:r>
          </a:p>
          <a:p>
            <a:pPr marL="0" indent="0">
              <a:buNone/>
            </a:pPr>
            <a:r>
              <a:rPr lang="en-US" dirty="0"/>
              <a:t>· Enhanced security</a:t>
            </a:r>
          </a:p>
          <a:p>
            <a:pPr marL="0" indent="0">
              <a:buNone/>
            </a:pPr>
            <a:r>
              <a:rPr lang="en-US" dirty="0"/>
              <a:t>· Better organization</a:t>
            </a:r>
          </a:p>
        </p:txBody>
      </p:sp>
    </p:spTree>
    <p:extLst>
      <p:ext uri="{BB962C8B-B14F-4D97-AF65-F5344CB8AC3E}">
        <p14:creationId xmlns:p14="http://schemas.microsoft.com/office/powerpoint/2010/main" val="3762248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6EEEC-43F2-CA70-BF1A-F5335E2BC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3A2F6-A4FE-6B5D-045E-B29F0631B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 Windows</a:t>
            </a:r>
          </a:p>
          <a:p>
            <a:r>
              <a:rPr lang="en-US" dirty="0"/>
              <a:t>ipconfig</a:t>
            </a:r>
          </a:p>
          <a:p>
            <a:r>
              <a:rPr lang="en-US" dirty="0"/>
              <a:t>ping [address]</a:t>
            </a:r>
          </a:p>
          <a:p>
            <a:endParaRPr lang="en-US" dirty="0"/>
          </a:p>
          <a:p>
            <a:r>
              <a:rPr lang="en-US" dirty="0"/>
              <a:t># Linux/Mac</a:t>
            </a:r>
          </a:p>
          <a:p>
            <a:r>
              <a:rPr lang="en-US" dirty="0" err="1"/>
              <a:t>ifconfig</a:t>
            </a:r>
            <a:endParaRPr lang="en-US" dirty="0"/>
          </a:p>
          <a:p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addr</a:t>
            </a:r>
            <a:r>
              <a:rPr lang="en-US" dirty="0"/>
              <a:t> show</a:t>
            </a:r>
          </a:p>
          <a:p>
            <a:r>
              <a:rPr lang="en-US" dirty="0"/>
              <a:t>ping [address]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085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337</Words>
  <Application>Microsoft Office PowerPoint</Application>
  <PresentationFormat>Widescreen</PresentationFormat>
  <Paragraphs>74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IP Adress</vt:lpstr>
      <vt:lpstr>What is an IP Address? </vt:lpstr>
      <vt:lpstr>Importance of IP Addresses</vt:lpstr>
      <vt:lpstr>Types of IP Addresses </vt:lpstr>
      <vt:lpstr>Public vs Private Addresses </vt:lpstr>
      <vt:lpstr>IPv4 Address Classes</vt:lpstr>
      <vt:lpstr>Modern Classless System (CIDR)</vt:lpstr>
      <vt:lpstr>pecial Reserved Addresse</vt:lpstr>
      <vt:lpstr>IP Address Allocation</vt:lpstr>
      <vt:lpstr>Static Assignment:</vt:lpstr>
      <vt:lpstr>Dynamic Assignment (DHCP):</vt:lpstr>
      <vt:lpstr>Subnetting</vt:lpstr>
      <vt:lpstr>Benefits of Subnetting</vt:lpstr>
      <vt:lpstr>Important Commands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</dc:creator>
  <cp:lastModifiedBy>adam</cp:lastModifiedBy>
  <cp:revision>18</cp:revision>
  <dcterms:created xsi:type="dcterms:W3CDTF">2025-12-14T08:07:25Z</dcterms:created>
  <dcterms:modified xsi:type="dcterms:W3CDTF">2025-12-14T08:20:38Z</dcterms:modified>
</cp:coreProperties>
</file>