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25"/>
  </p:notesMasterIdLst>
  <p:sldIdLst>
    <p:sldId id="500" r:id="rId3"/>
    <p:sldId id="601" r:id="rId4"/>
    <p:sldId id="602" r:id="rId5"/>
    <p:sldId id="603" r:id="rId6"/>
    <p:sldId id="604" r:id="rId7"/>
    <p:sldId id="605" r:id="rId8"/>
    <p:sldId id="606" r:id="rId9"/>
    <p:sldId id="607" r:id="rId10"/>
    <p:sldId id="608" r:id="rId11"/>
    <p:sldId id="610" r:id="rId12"/>
    <p:sldId id="512" r:id="rId13"/>
    <p:sldId id="498" r:id="rId14"/>
    <p:sldId id="591" r:id="rId15"/>
    <p:sldId id="583" r:id="rId16"/>
    <p:sldId id="592" r:id="rId17"/>
    <p:sldId id="593" r:id="rId18"/>
    <p:sldId id="594" r:id="rId19"/>
    <p:sldId id="596" r:id="rId20"/>
    <p:sldId id="597" r:id="rId21"/>
    <p:sldId id="598" r:id="rId22"/>
    <p:sldId id="599" r:id="rId23"/>
    <p:sldId id="514" r:id="rId24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479" autoAdjust="0"/>
    <p:restoredTop sz="94849" autoAdjust="0"/>
  </p:normalViewPr>
  <p:slideViewPr>
    <p:cSldViewPr>
      <p:cViewPr varScale="1">
        <p:scale>
          <a:sx n="69" d="100"/>
          <a:sy n="69" d="100"/>
        </p:scale>
        <p:origin x="12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19/06/1447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قضايا أخلاقية ومهنية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8525" y="1988840"/>
            <a:ext cx="813376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Ethical and </a:t>
            </a:r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professional</a:t>
            </a:r>
            <a:endParaRPr lang="ar-SA" sz="54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</a:t>
            </a:r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issues</a:t>
            </a:r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  </a:t>
            </a:r>
            <a:endParaRPr lang="en-US" sz="5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91880" y="6359778"/>
            <a:ext cx="2643672" cy="523220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SA" dirty="0" smtClean="0">
                <a:solidFill>
                  <a:schemeClr val="bg1"/>
                </a:solidFill>
                <a:cs typeface="MCS Jeddah S_U normal." pitchFamily="2" charset="-78"/>
              </a:rPr>
              <a:t>د</a:t>
            </a:r>
            <a:r>
              <a:rPr lang="ar-SA" sz="2800" dirty="0" smtClean="0">
                <a:solidFill>
                  <a:schemeClr val="bg1"/>
                </a:solidFill>
                <a:cs typeface="MCS Jeddah S_U normal." pitchFamily="2" charset="-78"/>
              </a:rPr>
              <a:t>.</a:t>
            </a:r>
            <a:r>
              <a:rPr lang="ar-SA" dirty="0" smtClean="0">
                <a:solidFill>
                  <a:schemeClr val="bg1"/>
                </a:solidFill>
                <a:cs typeface="MCS Jeddah S_U normal." pitchFamily="2" charset="-78"/>
              </a:rPr>
              <a:t>هشام </a:t>
            </a:r>
            <a:r>
              <a:rPr lang="ar-SA" dirty="0">
                <a:solidFill>
                  <a:schemeClr val="bg1"/>
                </a:solidFill>
                <a:cs typeface="MCS Jeddah S_U normal." pitchFamily="2" charset="-78"/>
              </a:rPr>
              <a:t>كمال محمد درونكي</a:t>
            </a:r>
            <a:endParaRPr lang="en-US" sz="28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80" y="3645023"/>
            <a:ext cx="5273040" cy="276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40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السيرة </a:t>
            </a:r>
            <a:r>
              <a:rPr lang="ar-SA" sz="4000" dirty="0" smtClean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الذاتية </a:t>
            </a:r>
            <a:r>
              <a:rPr lang="af-ZA" sz="4000" dirty="0" smtClean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CV </a:t>
            </a:r>
            <a:endParaRPr lang="en-US" sz="40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6572" y="1598655"/>
            <a:ext cx="27061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هشام كمال محمد عبد الرحمن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النشاة والميلاد أمدرمان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9748" y="2650050"/>
            <a:ext cx="2254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مراحل التعليم أمدرمان 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2144" y="3026275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التخصص العام :علوم  إدارية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التخصص الدقيق : إدارة أعمال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6572" y="2206889"/>
            <a:ext cx="3006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متزوج وأب لعدد من الابناء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215120"/>
              </p:ext>
            </p:extLst>
          </p:nvPr>
        </p:nvGraphicFramePr>
        <p:xfrm>
          <a:off x="1907704" y="4061894"/>
          <a:ext cx="5970905" cy="2641473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1267756">
                  <a:extLst>
                    <a:ext uri="{9D8B030D-6E8A-4147-A177-3AD203B41FA5}">
                      <a16:colId xmlns:a16="http://schemas.microsoft.com/office/drawing/2014/main" val="109374803"/>
                    </a:ext>
                  </a:extLst>
                </a:gridCol>
                <a:gridCol w="851774">
                  <a:extLst>
                    <a:ext uri="{9D8B030D-6E8A-4147-A177-3AD203B41FA5}">
                      <a16:colId xmlns:a16="http://schemas.microsoft.com/office/drawing/2014/main" val="3003482540"/>
                    </a:ext>
                  </a:extLst>
                </a:gridCol>
                <a:gridCol w="1901634">
                  <a:extLst>
                    <a:ext uri="{9D8B030D-6E8A-4147-A177-3AD203B41FA5}">
                      <a16:colId xmlns:a16="http://schemas.microsoft.com/office/drawing/2014/main" val="1945758913"/>
                    </a:ext>
                  </a:extLst>
                </a:gridCol>
                <a:gridCol w="843992">
                  <a:extLst>
                    <a:ext uri="{9D8B030D-6E8A-4147-A177-3AD203B41FA5}">
                      <a16:colId xmlns:a16="http://schemas.microsoft.com/office/drawing/2014/main" val="479650235"/>
                    </a:ext>
                  </a:extLst>
                </a:gridCol>
                <a:gridCol w="1105749">
                  <a:extLst>
                    <a:ext uri="{9D8B030D-6E8A-4147-A177-3AD203B41FA5}">
                      <a16:colId xmlns:a16="http://schemas.microsoft.com/office/drawing/2014/main" val="3462504377"/>
                    </a:ext>
                  </a:extLst>
                </a:gridCol>
              </a:tblGrid>
              <a:tr h="72905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الدكتوراه 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جامعة الزعيم الأزهري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السودان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علوم ادارية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 (ادارة اعمال)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9503169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الماجســــتيـر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جامعة كرري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السودان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علوم ادارية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 (ادارة اعمال)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2426186"/>
                  </a:ext>
                </a:extLst>
              </a:tr>
              <a:tr h="4635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 smtClean="0">
                          <a:effectLst/>
                        </a:rPr>
                        <a:t>ا</a:t>
                      </a:r>
                      <a:r>
                        <a:rPr kumimoji="0" lang="ar-SA" sz="18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لبكالوريـوس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جامعة كرري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السودان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علوم ادارية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ar-SA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MCS Jeddah S_U normal." pitchFamily="2" charset="-78"/>
                        </a:rPr>
                        <a:t> (ادارة اعمال)</a:t>
                      </a:r>
                      <a:endParaRPr kumimoji="0" lang="en-US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23291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220072" y="3692562"/>
            <a:ext cx="28404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dirty="0">
                <a:solidFill>
                  <a:srgbClr val="0070C0"/>
                </a:solidFill>
                <a:latin typeface="Calibri"/>
                <a:cs typeface="MCS Jeddah S_U normal." pitchFamily="2" charset="-78"/>
              </a:rPr>
              <a:t>الدرجة العلمية أستاذ مساعد </a:t>
            </a:r>
          </a:p>
        </p:txBody>
      </p:sp>
    </p:spTree>
    <p:extLst>
      <p:ext uri="{BB962C8B-B14F-4D97-AF65-F5344CB8AC3E}">
        <p14:creationId xmlns:p14="http://schemas.microsoft.com/office/powerpoint/2010/main" val="162421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23001"/>
            <a:ext cx="8229600" cy="1143000"/>
          </a:xfrm>
        </p:spPr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السجل الوظيفي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080871"/>
              </p:ext>
            </p:extLst>
          </p:nvPr>
        </p:nvGraphicFramePr>
        <p:xfrm>
          <a:off x="220758" y="1124745"/>
          <a:ext cx="7416824" cy="5548750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959072">
                  <a:extLst>
                    <a:ext uri="{9D8B030D-6E8A-4147-A177-3AD203B41FA5}">
                      <a16:colId xmlns:a16="http://schemas.microsoft.com/office/drawing/2014/main" val="3403535648"/>
                    </a:ext>
                  </a:extLst>
                </a:gridCol>
                <a:gridCol w="1794215">
                  <a:extLst>
                    <a:ext uri="{9D8B030D-6E8A-4147-A177-3AD203B41FA5}">
                      <a16:colId xmlns:a16="http://schemas.microsoft.com/office/drawing/2014/main" val="2117063585"/>
                    </a:ext>
                  </a:extLst>
                </a:gridCol>
                <a:gridCol w="2538581">
                  <a:extLst>
                    <a:ext uri="{9D8B030D-6E8A-4147-A177-3AD203B41FA5}">
                      <a16:colId xmlns:a16="http://schemas.microsoft.com/office/drawing/2014/main" val="4219377083"/>
                    </a:ext>
                  </a:extLst>
                </a:gridCol>
                <a:gridCol w="2124956">
                  <a:extLst>
                    <a:ext uri="{9D8B030D-6E8A-4147-A177-3AD203B41FA5}">
                      <a16:colId xmlns:a16="http://schemas.microsoft.com/office/drawing/2014/main" val="607661678"/>
                    </a:ext>
                  </a:extLst>
                </a:gridCol>
              </a:tblGrid>
              <a:tr h="27044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معيد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معهد المهندسين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2017م -2019م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5942769"/>
                  </a:ext>
                </a:extLst>
              </a:tr>
              <a:tr h="183262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أستاذ مساعد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كلية المقرن للعلوم والتكنولوجيا - كلية إبن خلدون  للعلوم والتكنولوجيا -الكلية السودانية للعلوم والتكنولوجيا- اكاديمية الصفا 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2019م -2024م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7557759"/>
                  </a:ext>
                </a:extLst>
              </a:tr>
              <a:tr h="3263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كبير المعلمين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معهد المهندسين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2018م – 2022م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8721841"/>
                  </a:ext>
                </a:extLst>
              </a:tr>
              <a:tr h="3263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أستاذ مساعد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الكلية السودانية للعلوم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2018م – 2024م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8452158"/>
                  </a:ext>
                </a:extLst>
              </a:tr>
              <a:tr h="32637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محاضر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أكاديمية نميري العليا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2018م – 2022م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4858107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أستاذ مساعد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كلية بن خلدون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2020م – 2024م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6900320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7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الوكيل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الكلية السودانية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2023م -2025م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8640692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المجلس العلمي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الكلية السودانية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2025م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7374304"/>
                  </a:ext>
                </a:extLst>
              </a:tr>
              <a:tr h="61087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بحوث بكلاريوس</a:t>
                      </a:r>
                      <a:endParaRPr lang="en-US" sz="1800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كلية إبن خلدون للعلوم والتكنولوجيا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dirty="0">
                          <a:effectLst/>
                        </a:rPr>
                        <a:t>2024م – 2025م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422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03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63688" y="-99392"/>
            <a:ext cx="5896096" cy="1143000"/>
          </a:xfrm>
        </p:spPr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الـخـبـرات الـعـمـلـيـة والاستشارية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161745"/>
              </p:ext>
            </p:extLst>
          </p:nvPr>
        </p:nvGraphicFramePr>
        <p:xfrm>
          <a:off x="1187624" y="950910"/>
          <a:ext cx="6826682" cy="5706872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379341">
                  <a:extLst>
                    <a:ext uri="{9D8B030D-6E8A-4147-A177-3AD203B41FA5}">
                      <a16:colId xmlns:a16="http://schemas.microsoft.com/office/drawing/2014/main" val="1266340999"/>
                    </a:ext>
                  </a:extLst>
                </a:gridCol>
                <a:gridCol w="4943059">
                  <a:extLst>
                    <a:ext uri="{9D8B030D-6E8A-4147-A177-3AD203B41FA5}">
                      <a16:colId xmlns:a16="http://schemas.microsoft.com/office/drawing/2014/main" val="3326044507"/>
                    </a:ext>
                  </a:extLst>
                </a:gridCol>
                <a:gridCol w="1504282">
                  <a:extLst>
                    <a:ext uri="{9D8B030D-6E8A-4147-A177-3AD203B41FA5}">
                      <a16:colId xmlns:a16="http://schemas.microsoft.com/office/drawing/2014/main" val="2867935798"/>
                    </a:ext>
                  </a:extLst>
                </a:gridCol>
              </a:tblGrid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لجنة وحدة الإختبارات بالكلية السودانية للعلوم والتكنولوجيا</a:t>
                      </a:r>
                      <a:endParaRPr lang="en-US" sz="1800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71755" marR="71755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2019م-2023م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2664633947"/>
                  </a:ext>
                </a:extLst>
              </a:tr>
              <a:tr h="62268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رئيس قسم البحوث بمعهد المهندسين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2019م-2021م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1489360024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محكم أوراق في كلية المقرن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2022م-2023م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1221893571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علي عدد من البحوث بالاكاديمية العسكرية العليا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2018م-2020م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524591882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</a:rPr>
                        <a:t>6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في لجان مناقشة البحوث باكاديمية نميري العليا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2019م-2022م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264006836"/>
                  </a:ext>
                </a:extLst>
              </a:tr>
              <a:tr h="62268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عضو لجنة الجودة الشاملة بمعهد المهندسين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2019م-2022م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686054812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 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بحوث بكلاريوس بكلية المقرن للعلوم والتكنولوجيا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2023م 2025م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792808263"/>
                  </a:ext>
                </a:extLst>
              </a:tr>
              <a:tr h="546764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مشرف بحوث بكلاريوس بكلية اابن خلدون  للعلوم والتكنولوجيا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2355" marR="62355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300" dirty="0">
                          <a:effectLst/>
                        </a:rPr>
                        <a:t>2023م – 2025م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355" marR="62355" marT="0" marB="0"/>
                </a:tc>
                <a:extLst>
                  <a:ext uri="{0D108BD9-81ED-4DB2-BD59-A6C34878D82A}">
                    <a16:rowId xmlns:a16="http://schemas.microsoft.com/office/drawing/2014/main" val="252234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البحوث والأنشطة الـعـلـمـيـة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626594"/>
              </p:ext>
            </p:extLst>
          </p:nvPr>
        </p:nvGraphicFramePr>
        <p:xfrm>
          <a:off x="1115616" y="1196751"/>
          <a:ext cx="6984775" cy="518457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540733">
                  <a:extLst>
                    <a:ext uri="{9D8B030D-6E8A-4147-A177-3AD203B41FA5}">
                      <a16:colId xmlns:a16="http://schemas.microsoft.com/office/drawing/2014/main" val="439481512"/>
                    </a:ext>
                  </a:extLst>
                </a:gridCol>
                <a:gridCol w="6444042">
                  <a:extLst>
                    <a:ext uri="{9D8B030D-6E8A-4147-A177-3AD203B41FA5}">
                      <a16:colId xmlns:a16="http://schemas.microsoft.com/office/drawing/2014/main" val="2537880587"/>
                    </a:ext>
                  </a:extLst>
                </a:gridCol>
              </a:tblGrid>
              <a:tr h="116131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 smtClean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</a:t>
                      </a: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 الجودة الشاملة ورفع كفاءة العاملين بالدولة (بحث تكميلي بدورة معلمين) معهد المهندسين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2585529"/>
                  </a:ext>
                </a:extLst>
              </a:tr>
              <a:tr h="176061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اثر إدارة الجودة الشاملة في تسويق الخدمات المصرفية بالتطبيق علي بنك فيصل الاسلامي(دكتوراة جامعة الزعيم الازهري</a:t>
                      </a:r>
                      <a:r>
                        <a:rPr lang="ar-SA" sz="1800" b="1" kern="120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)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9802561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واقع الخدمات المصرفية بالمصارف السودانية (ماجستير جامعة كرري)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3965076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بحث تطوير العمل الاداري بالمؤسسات الحكومية (بكلاريوس جامعة كرري)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764938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إعداد والمشاركة في العديد من السمنارات العلمية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5775672"/>
                  </a:ext>
                </a:extLst>
              </a:tr>
              <a:tr h="56566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المشاركة في العديد من الندوات العلمية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3519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23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-99392"/>
            <a:ext cx="8229600" cy="1115488"/>
          </a:xfrm>
        </p:spPr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الدورات التدريبية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23246"/>
              </p:ext>
            </p:extLst>
          </p:nvPr>
        </p:nvGraphicFramePr>
        <p:xfrm>
          <a:off x="1619672" y="692696"/>
          <a:ext cx="5840730" cy="576651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45770">
                  <a:extLst>
                    <a:ext uri="{9D8B030D-6E8A-4147-A177-3AD203B41FA5}">
                      <a16:colId xmlns:a16="http://schemas.microsoft.com/office/drawing/2014/main" val="1182256575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712802985"/>
                    </a:ext>
                  </a:extLst>
                </a:gridCol>
              </a:tblGrid>
              <a:tr h="881912">
                <a:tc gridSpan="2"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حضور العديد من الدورات التدريبية :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888282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إستخدام تكنولوجيا التعليم في التدريس الجامعي - مركز جامعة الخرطوم للتدريب المتقدم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644957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أساسيات البحث العلمي والكتابة العلمية - مركز جامعة الخرطوم للتدريب المتقدم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1442664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القياس والتقويم - مركز جامعة الخرطوم للتدريب المتقدم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2393060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أخلاقيات مهنة التعليم الجامعي - مركز جامعة الخرطوم للتدريب المتقدم 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1150580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 الحاسب الالي – معهد نظم المعلومات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9266723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لغة إنجليزية – معهد سلتي الخرطوم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796971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قانون دولي إنساني – الأمم المتحده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200584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فض النزاعات – الامم المتحده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0666004"/>
                  </a:ext>
                </a:extLst>
              </a:tr>
              <a:tr h="4410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إختصاصي تعليم وتدريب الكتروني – البورد العربي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232953"/>
                  </a:ext>
                </a:extLst>
              </a:tr>
              <a:tr h="47749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4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دورة مدربين الصليب الأحمر الدولي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396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15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المؤتمرات والندوات العلمية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90613"/>
              </p:ext>
            </p:extLst>
          </p:nvPr>
        </p:nvGraphicFramePr>
        <p:xfrm>
          <a:off x="1708785" y="1556792"/>
          <a:ext cx="5726430" cy="4176465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01625">
                  <a:extLst>
                    <a:ext uri="{9D8B030D-6E8A-4147-A177-3AD203B41FA5}">
                      <a16:colId xmlns:a16="http://schemas.microsoft.com/office/drawing/2014/main" val="1463919361"/>
                    </a:ext>
                  </a:extLst>
                </a:gridCol>
                <a:gridCol w="5424805">
                  <a:extLst>
                    <a:ext uri="{9D8B030D-6E8A-4147-A177-3AD203B41FA5}">
                      <a16:colId xmlns:a16="http://schemas.microsoft.com/office/drawing/2014/main" val="4219055073"/>
                    </a:ext>
                  </a:extLst>
                </a:gridCol>
              </a:tblGrid>
              <a:tr h="83529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 defTabSz="914400" rtl="1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800" b="1" kern="1200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ندوة تطوير العمل الاداري في ظل العولمة – اكاديمية نميري العليا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700643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مؤتمر واقع الادارة بالمؤسسات الحكومية وتطويره - اكاديمية نميري العليا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296694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ندوة الجودة الشاملة بالمؤسسات التعليمية – معهد المهندسين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9553723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1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ندوة منهجية  البحث العلمي وسبل تطويره – جامعة السودان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03898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80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MCS Jeddah S_U normal." pitchFamily="2" charset="-78"/>
                        </a:rPr>
                        <a:t>مؤتمر الحكم المدني في السودان وتداعياته – الاكاديمية العسكرية العليا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3765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88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النشر العلمي 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52983"/>
              </p:ext>
            </p:extLst>
          </p:nvPr>
        </p:nvGraphicFramePr>
        <p:xfrm>
          <a:off x="1907704" y="1417638"/>
          <a:ext cx="5480050" cy="4532237"/>
        </p:xfrm>
        <a:graphic>
          <a:graphicData uri="http://schemas.openxmlformats.org/drawingml/2006/table">
            <a:tbl>
              <a:tblPr rtl="1" firstRow="1" firstCol="1" bandRow="1"/>
              <a:tblGrid>
                <a:gridCol w="241300">
                  <a:extLst>
                    <a:ext uri="{9D8B030D-6E8A-4147-A177-3AD203B41FA5}">
                      <a16:colId xmlns:a16="http://schemas.microsoft.com/office/drawing/2014/main" val="3949046782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382532175"/>
                    </a:ext>
                  </a:extLst>
                </a:gridCol>
              </a:tblGrid>
              <a:tr h="134516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ورقة </a:t>
                      </a:r>
                      <a:r>
                        <a:rPr lang="ar-SA" sz="24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أثر التحسين المستمر في تسويق الخدمات </a:t>
                      </a: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المصرفية</a:t>
                      </a: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 </a:t>
                      </a:r>
                      <a:r>
                        <a:rPr lang="ar-SA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الناشر مجلة جامعة </a:t>
                      </a:r>
                      <a:r>
                        <a:rPr lang="ar-SA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دنقلا</a:t>
                      </a: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988653"/>
                  </a:ext>
                </a:extLst>
              </a:tr>
              <a:tr h="109161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ورقة </a:t>
                      </a:r>
                      <a:r>
                        <a:rPr lang="ar-SA" sz="24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اثر الجودة الشاملة في تسويق الخدمات المصرفية </a:t>
                      </a:r>
                      <a:endParaRPr lang="ar-SA" sz="2400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MCS Jeddah S_U normal." pitchFamily="2" charset="-78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 </a:t>
                      </a:r>
                      <a:r>
                        <a:rPr lang="ar-SA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الناشر مجلة أكاديمية نميري العليا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204413"/>
                  </a:ext>
                </a:extLst>
              </a:tr>
              <a:tr h="109161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400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SA" sz="1800" b="1" dirty="0" smtClean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algn="r" defTabSz="914400" rtl="1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موضوعات </a:t>
                      </a:r>
                      <a:r>
                        <a:rPr lang="ar-SA" sz="24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علمية بمجلات </a:t>
                      </a:r>
                      <a:r>
                        <a:rPr lang="ar-SA" sz="2400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MCS Jeddah S_U normal." pitchFamily="2" charset="-78"/>
                        </a:rPr>
                        <a:t>محلية مختلفة </a:t>
                      </a:r>
                      <a:endParaRPr lang="en-US" sz="24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MCS Jeddah S_U normal." pitchFamily="2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99263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31975" y="3494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35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dirty="0">
                <a:solidFill>
                  <a:srgbClr val="0070C0"/>
                </a:solidFill>
                <a:latin typeface="+mn-lt"/>
                <a:ea typeface="+mn-ea"/>
                <a:cs typeface="MCS Jeddah S_U normal." pitchFamily="2" charset="-78"/>
              </a:rPr>
              <a:t>المهارات الشخصية</a:t>
            </a:r>
            <a:endParaRPr lang="en-US" sz="2800" dirty="0">
              <a:solidFill>
                <a:srgbClr val="0070C0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1600" y="2636912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- العمل بروح الفريق   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- إعداد العروض التقديمية واستخدام الحاسوب   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- تحمل ضغوط العمل</a:t>
            </a:r>
          </a:p>
        </p:txBody>
      </p:sp>
    </p:spTree>
    <p:extLst>
      <p:ext uri="{BB962C8B-B14F-4D97-AF65-F5344CB8AC3E}">
        <p14:creationId xmlns:p14="http://schemas.microsoft.com/office/powerpoint/2010/main" val="185008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600" b="1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Al hosam"/>
                <a:ea typeface="Times New Roman" pitchFamily="18" charset="0"/>
                <a:cs typeface="AL-Hosam" pitchFamily="2" charset="-78"/>
              </a:rPr>
              <a:t>قضايا أخلاقية ومهنية</a:t>
            </a:r>
            <a:endParaRPr kumimoji="0" lang="en-US" sz="9600" b="1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8525" y="1988840"/>
            <a:ext cx="813376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Ethical and </a:t>
            </a:r>
            <a:r>
              <a:rPr kumimoji="0" lang="en-US" sz="5400" b="1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professional</a:t>
            </a:r>
            <a:endParaRPr kumimoji="0" lang="ar-SA" sz="5400" b="1" i="0" u="none" strike="noStrike" kern="1200" cap="none" spc="0" normalizeH="0" baseline="0" noProof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issues</a:t>
            </a:r>
            <a:r>
              <a:rPr kumimoji="0" lang="ar-SA" sz="5400" b="1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  </a:t>
            </a:r>
            <a:endParaRPr kumimoji="0" lang="en-US" sz="5400" b="1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ar-EG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91880" y="6359778"/>
            <a:ext cx="2643672" cy="523220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د</a:t>
            </a:r>
            <a:r>
              <a:rPr kumimoji="0" lang="ar-SA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.</a:t>
            </a:r>
            <a:r>
              <a:rPr kumimoji="0" lang="ar-S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هشام </a:t>
            </a: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MCS Jeddah S_U normal." pitchFamily="2" charset="-78"/>
              </a:rPr>
              <a:t>كمال محمد درونكي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80" y="3645023"/>
            <a:ext cx="5273040" cy="276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259631" y="1556792"/>
            <a:ext cx="6624737" cy="100811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مقدمة وتمهيد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Flowchart: Multidocument 3"/>
          <p:cNvSpPr/>
          <p:nvPr/>
        </p:nvSpPr>
        <p:spPr>
          <a:xfrm>
            <a:off x="1233992" y="2803194"/>
            <a:ext cx="6624736" cy="936104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أخلاق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المهـنة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Flowchart: Multidocument 6"/>
          <p:cNvSpPr/>
          <p:nvPr/>
        </p:nvSpPr>
        <p:spPr>
          <a:xfrm>
            <a:off x="1233992" y="3977588"/>
            <a:ext cx="6525562" cy="1035588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تحديات أخلاق المهنة </a:t>
            </a:r>
          </a:p>
        </p:txBody>
      </p:sp>
      <p:sp>
        <p:nvSpPr>
          <p:cNvPr id="6" name="Flowchart: Multidocument 5"/>
          <p:cNvSpPr/>
          <p:nvPr/>
        </p:nvSpPr>
        <p:spPr>
          <a:xfrm>
            <a:off x="1333166" y="5445224"/>
            <a:ext cx="6525562" cy="1035588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القضايا </a:t>
            </a:r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المهنية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بمهن الحاسوب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75856" y="-1858683"/>
            <a:ext cx="2608407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تـمـهـــيد</a:t>
            </a:r>
            <a:endParaRPr lang="ar-SA" sz="2400" dirty="0">
              <a:solidFill>
                <a:schemeClr val="bg2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6829" y="1033534"/>
            <a:ext cx="8672252" cy="148753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الحوسبة المهنية مجال متنوع ومتطور يعد من الركائز الأساسية لتقدم التكنولوجيا في العالم المعاصر</a:t>
            </a:r>
            <a:endParaRPr lang="en-US" sz="32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2265" y="2753640"/>
            <a:ext cx="8635855" cy="137889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تشير الحوسبة المهنية إلى استخدام تقنيات الحوسبة في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بيئات العمل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المختلفة بما في ذلك المؤسسات الحكومية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والمنظمات المختلفة 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6829" y="4365104"/>
            <a:ext cx="8568952" cy="230018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تركز الحوسبة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المهنية حول توفير حلول تكنولوجية مبتكرة وفعالة لتلبية احتياجات العمل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72400" y="-1755576"/>
            <a:ext cx="1107996" cy="21544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400" dirty="0" smtClean="0">
                <a:solidFill>
                  <a:srgbClr val="FFFF00"/>
                </a:solidFill>
                <a:cs typeface="MCS Jeddah S_U normal." pitchFamily="2" charset="-78"/>
              </a:rPr>
              <a:t>تـمـهــيد</a:t>
            </a:r>
            <a:endParaRPr lang="ar-SA" sz="1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3377" y="586649"/>
            <a:ext cx="8672252" cy="245327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تعتبر الحوسبة المهنية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محركًا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رئيسيًا للتحول الرقمي حيث تساعد المؤسسات في تبني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استراتيجيات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 جديدة تعتمد على البيانات والتكنولوجيا لتحسين الخدمات المقدمة </a:t>
            </a:r>
            <a:endParaRPr lang="en-US" sz="32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4257" y="3227711"/>
            <a:ext cx="8635855" cy="137889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يمكن القول إن الحوسبة المهنية هي جسر يربط بين المعرفة التقنية والمهارات العملية مما يسهم في خلق بيئات عمل أكثر ذكاءً وفاعلية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160" y="4941168"/>
            <a:ext cx="8568952" cy="172412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مع تزايد الاعتماد على الأنظمة الرقمية يكتسب الأفراد الذين يمتلكون مهارات في الحوسبة المهنية مكانة مهنية بارزة في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سوق العمل </a:t>
            </a:r>
            <a:endParaRPr lang="en-US" sz="2800" u="sng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623532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3284" y="1487808"/>
            <a:ext cx="7200800" cy="25202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أخلاق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المهنة تشير إلى القيم والمبادئ الأخلاقية التي يتعين على الأفراد اتباعها أثناء أداء أعمالهم المهنية</a:t>
            </a:r>
            <a:endParaRPr lang="ar-SA" sz="32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83768" y="116632"/>
            <a:ext cx="412164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6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أخـلاق المهـنة </a:t>
            </a:r>
            <a:endParaRPr lang="ar-SA" sz="6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284" y="4365104"/>
            <a:ext cx="7207494" cy="20539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تعتبر أخلاق المهنة أساسًا سُنة للتصرف السليم والتي تعزز الثقة والمصداقية في العلاقات المهنية</a:t>
            </a:r>
          </a:p>
        </p:txBody>
      </p:sp>
    </p:spTree>
    <p:extLst>
      <p:ext uri="{BB962C8B-B14F-4D97-AF65-F5344CB8AC3E}">
        <p14:creationId xmlns:p14="http://schemas.microsoft.com/office/powerpoint/2010/main" val="178640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7584" y="1988840"/>
            <a:ext cx="7200800" cy="24482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أخلاق المهنة هي مجموعة من القيم الأخلاقية والسلوكيات التي يجب أن يلتزم بها الأفراد في ممارساتهم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المهنية وتشمل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القيم مثل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الأمانة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والنزاهة واحترام الآخرين</a:t>
            </a:r>
            <a:endParaRPr lang="ar-SA" sz="32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90778" y="7991"/>
            <a:ext cx="9605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أخـلاق المهـنة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84" y="4725144"/>
            <a:ext cx="7207494" cy="19099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بناء الثقة ي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ساعد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أخلاق المهنة في بناء الثقة بين العاملين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وأرباب </a:t>
            </a:r>
            <a:r>
              <a:rPr lang="ar-SA" sz="3200" u="sng" dirty="0" smtClean="0">
                <a:solidFill>
                  <a:prstClr val="black"/>
                </a:solidFill>
                <a:cs typeface="MCS Jeddah S_U normal." pitchFamily="2" charset="-78"/>
              </a:rPr>
              <a:t>العمل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وبين الأفراد والعملاء</a:t>
            </a:r>
          </a:p>
          <a:p>
            <a:pPr algn="ctr"/>
            <a:endParaRPr lang="ar-SA" sz="32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42058" y="756165"/>
            <a:ext cx="776526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3200" dirty="0" smtClean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هنالك عدة نقاط توضح </a:t>
            </a:r>
            <a:r>
              <a:rPr lang="ar-SA" sz="3200" dirty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مفهوم أخلاق </a:t>
            </a:r>
            <a:r>
              <a:rPr lang="ar-SA" sz="3200" dirty="0" smtClean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المهنة وتتمثل</a:t>
            </a:r>
          </a:p>
          <a:p>
            <a:r>
              <a:rPr lang="ar-SA" sz="3200" dirty="0" smtClean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 فيما يلي </a:t>
            </a:r>
            <a:endParaRPr lang="en-US" sz="3200" dirty="0">
              <a:solidFill>
                <a:schemeClr val="bg2">
                  <a:lumMod val="75000"/>
                </a:schemeClr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23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79188" y="404664"/>
            <a:ext cx="7200800" cy="17758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تحسين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الأداء يؤدي للالتزام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بالأخلاق المهنية إلى تحسين مستوى الأداء وجودة العمل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3696" y="7991"/>
            <a:ext cx="15376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 smtClean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نقاط تؤكد أخـلاق </a:t>
            </a:r>
            <a:r>
              <a:rPr lang="ar-SA" sz="1200" dirty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المهـنة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875841" y="2552732"/>
            <a:ext cx="7207494" cy="1800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تساهم الأخلاق العالية في تعزيز سمعة المؤسسة وتقديم صورة إيجابية للجمهور</a:t>
            </a:r>
          </a:p>
          <a:p>
            <a:pPr algn="ctr"/>
            <a:endParaRPr lang="ar-SA" sz="32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4643" y="4725142"/>
            <a:ext cx="7207494" cy="194421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ar-SA" sz="3200" dirty="0" smtClean="0">
              <a:solidFill>
                <a:prstClr val="black"/>
              </a:solidFill>
              <a:cs typeface="MCS Jeddah S_U normal." pitchFamily="2" charset="-78"/>
            </a:endParaRPr>
          </a:p>
          <a:p>
            <a:r>
              <a:rPr lang="ar-SA" sz="3200" u="sng" dirty="0" smtClean="0">
                <a:solidFill>
                  <a:prstClr val="black"/>
                </a:solidFill>
                <a:cs typeface="MCS Jeddah S_U normal." pitchFamily="2" charset="-78"/>
              </a:rPr>
              <a:t>الامتثال </a:t>
            </a:r>
            <a:r>
              <a:rPr lang="ar-SA" sz="3200" u="sng" dirty="0">
                <a:solidFill>
                  <a:prstClr val="black"/>
                </a:solidFill>
                <a:cs typeface="MCS Jeddah S_U normal." pitchFamily="2" charset="-78"/>
              </a:rPr>
              <a:t>للقوانين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تساعد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الأخلاق في الالتزام بالقوانين واللوائح المعمول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بها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وتجنب المشاكل القانونية</a:t>
            </a:r>
          </a:p>
          <a:p>
            <a:pPr algn="ctr"/>
            <a:endParaRPr lang="ar-SA" sz="32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8991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1337" y="284991"/>
            <a:ext cx="7200800" cy="17758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الأمانة بتحمل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المسؤولية عن الأفعال وتقديم معلومات دقيقة وصادقة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6768" y="799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1200" dirty="0" smtClean="0">
                <a:solidFill>
                  <a:schemeClr val="bg2">
                    <a:lumMod val="75000"/>
                  </a:schemeClr>
                </a:solidFill>
                <a:cs typeface="MCS Jeddah S_U normal." pitchFamily="2" charset="-78"/>
              </a:rPr>
              <a:t>نقاط اخلاق المهنة</a:t>
            </a:r>
            <a:endParaRPr lang="ar-SA" sz="1200" dirty="0">
              <a:solidFill>
                <a:schemeClr val="bg2">
                  <a:lumMod val="75000"/>
                </a:schemeClr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1337" y="2492896"/>
            <a:ext cx="7207494" cy="1800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النزاهة </a:t>
            </a:r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بالالتزام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بالمبادئ الأخلاقية وعدم التلاعب أو الغش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643" y="4725142"/>
            <a:ext cx="7207494" cy="194421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ar-SA" sz="3200" dirty="0" smtClean="0">
              <a:solidFill>
                <a:prstClr val="black"/>
              </a:solidFill>
              <a:cs typeface="MCS Jeddah S_U normal." pitchFamily="2" charset="-78"/>
            </a:endParaRPr>
          </a:p>
          <a:p>
            <a:r>
              <a:rPr lang="ar-SA" sz="3200" dirty="0" smtClean="0">
                <a:solidFill>
                  <a:prstClr val="black"/>
                </a:solidFill>
                <a:cs typeface="MCS Jeddah S_U normal." pitchFamily="2" charset="-78"/>
              </a:rPr>
              <a:t>العدالة معاملة </a:t>
            </a:r>
            <a:r>
              <a:rPr lang="ar-SA" sz="3200" dirty="0">
                <a:solidFill>
                  <a:prstClr val="black"/>
                </a:solidFill>
                <a:cs typeface="MCS Jeddah S_U normal." pitchFamily="2" charset="-78"/>
              </a:rPr>
              <a:t>جميع الأفراد بالإنصاف واحترام حقوقهم</a:t>
            </a:r>
          </a:p>
          <a:p>
            <a:pPr algn="ctr"/>
            <a:endParaRPr lang="ar-SA" sz="32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79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24544" y="171494"/>
            <a:ext cx="921702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6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القضايا المهنية بالمهن الحاسوبية</a:t>
            </a:r>
            <a:endParaRPr kumimoji="0" lang="en-US" sz="6600" b="1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7544" y="1412776"/>
            <a:ext cx="80648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 smtClean="0">
                <a:solidFill>
                  <a:srgbClr val="FFFF00"/>
                </a:solidFill>
                <a:latin typeface="Constantia"/>
                <a:cs typeface="MCS Jeddah S_U normal." pitchFamily="2" charset="-78"/>
              </a:rPr>
              <a:t>تواجه </a:t>
            </a:r>
            <a:r>
              <a:rPr lang="ar-SA" sz="2800" dirty="0">
                <a:solidFill>
                  <a:srgbClr val="FFFF00"/>
                </a:solidFill>
                <a:latin typeface="Constantia"/>
                <a:cs typeface="MCS Jeddah S_U normal." pitchFamily="2" charset="-78"/>
              </a:rPr>
              <a:t>المهن الحاسوبية العديد من القضايا المهنية التي تتطلب اهتمامًا وحلولًا من قبل المتخصصين في هذا المجال ومن أبرز هذه القضايا </a:t>
            </a:r>
            <a:r>
              <a:rPr lang="ar-SA" sz="2800" dirty="0" smtClean="0">
                <a:solidFill>
                  <a:srgbClr val="FFFF00"/>
                </a:solidFill>
                <a:latin typeface="Constantia"/>
                <a:cs typeface="MCS Jeddah S_U normal." pitchFamily="2" charset="-78"/>
              </a:rPr>
              <a:t>ما يلي :</a:t>
            </a:r>
            <a:endParaRPr lang="en-US" sz="2800" dirty="0">
              <a:solidFill>
                <a:srgbClr val="FFFF00"/>
              </a:solidFill>
              <a:latin typeface="Constantia"/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6245" y="2931057"/>
            <a:ext cx="7207494" cy="3594287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الأخلاقيات في تكنولوجيا المعلومات</a:t>
            </a: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تثير التقنيات الحديثة مثل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الذكاء الاصطناعي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تحديات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أخلاقية تتعلق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بالخصوصية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والتمييز واستخدام البيانات ويجب على المتخصصين في التقنية الالتزام بمعايير أخلاقية قوية لحماية حقوق الأفراد</a:t>
            </a:r>
          </a:p>
        </p:txBody>
      </p:sp>
    </p:spTree>
    <p:extLst>
      <p:ext uri="{BB962C8B-B14F-4D97-AF65-F5344CB8AC3E}">
        <p14:creationId xmlns:p14="http://schemas.microsoft.com/office/powerpoint/2010/main" val="3363314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0"/>
            <a:ext cx="9217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القضايا المهنية </a:t>
            </a:r>
            <a:r>
              <a:rPr lang="ar-SA" sz="1400" dirty="0" smtClean="0">
                <a:solidFill>
                  <a:srgbClr val="FFFF00"/>
                </a:solidFill>
                <a:cs typeface="MCS Jeddah S_U normal." pitchFamily="2" charset="-78"/>
              </a:rPr>
              <a:t>بمهن الحاسوب</a:t>
            </a:r>
            <a:endParaRPr lang="en-US" sz="1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91680" y="1196752"/>
            <a:ext cx="5904656" cy="453650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التطوير المستمر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للمهارات</a:t>
            </a:r>
          </a:p>
          <a:p>
            <a:pPr algn="ctr"/>
            <a:endParaRPr lang="ar-SA" sz="32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يعتبر عالم الحوسبة مجالًا متغيرًا بسرعة مما يتطلب من المحترفين الاستمرار في تحديث مهاراتهم ومعرفتهم لذا يجب عليهم الانخراط في التعليم المستمر وتعلم تقنيات جديدة</a:t>
            </a:r>
          </a:p>
        </p:txBody>
      </p:sp>
    </p:spTree>
    <p:extLst>
      <p:ext uri="{BB962C8B-B14F-4D97-AF65-F5344CB8AC3E}">
        <p14:creationId xmlns:p14="http://schemas.microsoft.com/office/powerpoint/2010/main" val="1117714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0"/>
            <a:ext cx="9217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القضايا المهنية </a:t>
            </a:r>
            <a:r>
              <a:rPr lang="ar-SA" sz="1400" dirty="0" smtClean="0">
                <a:solidFill>
                  <a:srgbClr val="FFFF00"/>
                </a:solidFill>
                <a:cs typeface="MCS Jeddah S_U normal." pitchFamily="2" charset="-78"/>
              </a:rPr>
              <a:t>بمهن الحاسوب</a:t>
            </a:r>
            <a:endParaRPr lang="en-US" sz="1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2896" y="603510"/>
            <a:ext cx="7207494" cy="280831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التنوع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والشمولية</a:t>
            </a:r>
            <a:endParaRPr lang="ar-SA" sz="32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تعاني بعض مجالات التكنولوجيا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نقص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في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التنوع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مما يؤثر على الابتكار والإبداع ومن الضروري تعزيز الشمولية في الفرق التقنية لخلق بيئات عمل أكثر تنوعًا وتمثيلًا للجميع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3608" y="3789040"/>
            <a:ext cx="7207494" cy="280831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التوازن بين الحياة العملية والحياة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الشخصية</a:t>
            </a:r>
            <a:endParaRPr lang="ar-SA" sz="32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قد يؤدي ضغط العمل في مجالات تكنولوجيا المعلومات إلى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الاحتراق</a:t>
            </a:r>
            <a:r>
              <a:rPr lang="en-US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والضغط 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النفسي ويجب أن تعمل المؤسسات على توفير بيئات عمل تدعم التوازن بين الحياة المهنية والشخصية</a:t>
            </a:r>
          </a:p>
        </p:txBody>
      </p:sp>
    </p:spTree>
    <p:extLst>
      <p:ext uri="{BB962C8B-B14F-4D97-AF65-F5344CB8AC3E}">
        <p14:creationId xmlns:p14="http://schemas.microsoft.com/office/powerpoint/2010/main" val="3893137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0"/>
            <a:ext cx="9217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400" dirty="0">
                <a:solidFill>
                  <a:srgbClr val="FFFF00"/>
                </a:solidFill>
                <a:cs typeface="MCS Jeddah S_U normal." pitchFamily="2" charset="-78"/>
              </a:rPr>
              <a:t>القضايا المهنية </a:t>
            </a:r>
            <a:r>
              <a:rPr lang="ar-SA" sz="1400" dirty="0" smtClean="0">
                <a:solidFill>
                  <a:srgbClr val="FFFF00"/>
                </a:solidFill>
                <a:cs typeface="MCS Jeddah S_U normal." pitchFamily="2" charset="-78"/>
              </a:rPr>
              <a:t>بمهن الحاسوب</a:t>
            </a:r>
            <a:endParaRPr lang="en-US" sz="1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5028" y="404664"/>
            <a:ext cx="7207494" cy="223224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أثر الأتمتة والذكاء الاصطناعي على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الوظائف</a:t>
            </a:r>
            <a:endParaRPr lang="ar-SA" sz="32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تزايد اعتماد الشركات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والمنظمات على </a:t>
            </a:r>
            <a:r>
              <a:rPr lang="ar-SA" sz="2400" u="sng" dirty="0">
                <a:solidFill>
                  <a:srgbClr val="FFFF00"/>
                </a:solidFill>
                <a:cs typeface="MCS Jeddah S_U normal." pitchFamily="2" charset="-78"/>
              </a:rPr>
              <a:t>الأتمتة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 والذكاء الاصطناعي قد يؤدي إلى تغيير هيكل سوق العمل ويتعين على المتخصصين البقاء </a:t>
            </a:r>
            <a:r>
              <a:rPr lang="ar-SA" sz="2400" u="sng" dirty="0">
                <a:solidFill>
                  <a:srgbClr val="FFFF00"/>
                </a:solidFill>
                <a:cs typeface="MCS Jeddah S_U normal." pitchFamily="2" charset="-78"/>
              </a:rPr>
              <a:t>مرنين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 وقادرين على التكيف مع هذه التغيرات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588" y="2922336"/>
            <a:ext cx="7207494" cy="2162847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قضايا الملكية </a:t>
            </a:r>
            <a:r>
              <a:rPr lang="ar-SA" sz="3200" dirty="0" smtClean="0">
                <a:solidFill>
                  <a:schemeClr val="bg1"/>
                </a:solidFill>
                <a:cs typeface="MCS Jeddah S_U normal." pitchFamily="2" charset="-78"/>
              </a:rPr>
              <a:t>الفكرية</a:t>
            </a:r>
            <a:endParaRPr lang="ar-SA" sz="32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chemeClr val="bg1"/>
                </a:solidFill>
                <a:cs typeface="MCS Jeddah S_U normal." pitchFamily="2" charset="-78"/>
              </a:rPr>
              <a:t>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يتعامل العاملون في الحوسبة مع مسائل تتعلق بحقوق </a:t>
            </a:r>
            <a:r>
              <a:rPr lang="ar-SA" sz="2400" u="sng" dirty="0">
                <a:solidFill>
                  <a:srgbClr val="FFFF00"/>
                </a:solidFill>
                <a:cs typeface="MCS Jeddah S_U normal." pitchFamily="2" charset="-78"/>
              </a:rPr>
              <a:t>الملكية الفكرية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 لتطوير البرمجيات والمحتويات ومن المهم فهم القوانين المتعلقة بحقوق النشر والبراءات لضمان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حماية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الابتكارات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8862" y="5301208"/>
            <a:ext cx="7207494" cy="136815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تتطلب </a:t>
            </a:r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هذه القضايا من محترفي الحوسبة أن يكونوا على دراية بالتغيرات السريعة في مجالهم وأن يتحلوا بروح المبادرة والابتكار لمواجهة التحديات </a:t>
            </a:r>
            <a:r>
              <a:rPr lang="ar-SA" sz="2400" dirty="0" smtClean="0">
                <a:solidFill>
                  <a:srgbClr val="FFFF00"/>
                </a:solidFill>
                <a:cs typeface="MCS Jeddah S_U normal." pitchFamily="2" charset="-78"/>
              </a:rPr>
              <a:t>المستقبلية</a:t>
            </a:r>
            <a:endParaRPr lang="ar-SA" sz="2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3213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423224" y="46246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2400" dirty="0">
                <a:solidFill>
                  <a:srgbClr val="FF0000"/>
                </a:solidFill>
                <a:cs typeface="MCS Taybah S_U normal." pitchFamily="2" charset="-78"/>
              </a:rPr>
              <a:t>قضايا أخلاقية ومهنية</a:t>
            </a: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8282</TotalTime>
  <Words>1020</Words>
  <Application>Microsoft Office PowerPoint</Application>
  <PresentationFormat>On-screen Show (4:3)</PresentationFormat>
  <Paragraphs>227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8" baseType="lpstr">
      <vt:lpstr>SimSun</vt:lpstr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السيرة الذاتية CV </vt:lpstr>
      <vt:lpstr>السجل الوظيفي</vt:lpstr>
      <vt:lpstr>الـخـبـرات الـعـمـلـيـة والاستشارية</vt:lpstr>
      <vt:lpstr>البحوث والأنشطة الـعـلـمـيـة</vt:lpstr>
      <vt:lpstr>الدورات التدريبية</vt:lpstr>
      <vt:lpstr>المؤتمرات والندوات العلمية</vt:lpstr>
      <vt:lpstr>النشر العلمي </vt:lpstr>
      <vt:lpstr>المهارات الشخصية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1214</cp:revision>
  <dcterms:created xsi:type="dcterms:W3CDTF">2011-08-17T19:43:41Z</dcterms:created>
  <dcterms:modified xsi:type="dcterms:W3CDTF">2025-12-09T15:51:37Z</dcterms:modified>
</cp:coreProperties>
</file>