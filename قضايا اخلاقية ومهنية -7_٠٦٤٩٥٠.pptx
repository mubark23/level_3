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86" r:id="rId2"/>
  </p:sldMasterIdLst>
  <p:notesMasterIdLst>
    <p:notesMasterId r:id="rId18"/>
  </p:notesMasterIdLst>
  <p:sldIdLst>
    <p:sldId id="500" r:id="rId3"/>
    <p:sldId id="608" r:id="rId4"/>
    <p:sldId id="512" r:id="rId5"/>
    <p:sldId id="498" r:id="rId6"/>
    <p:sldId id="609" r:id="rId7"/>
    <p:sldId id="648" r:id="rId8"/>
    <p:sldId id="649" r:id="rId9"/>
    <p:sldId id="650" r:id="rId10"/>
    <p:sldId id="596" r:id="rId11"/>
    <p:sldId id="639" r:id="rId12"/>
    <p:sldId id="651" r:id="rId13"/>
    <p:sldId id="652" r:id="rId14"/>
    <p:sldId id="653" r:id="rId15"/>
    <p:sldId id="654" r:id="rId16"/>
    <p:sldId id="514" r:id="rId17"/>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00FF"/>
    <a:srgbClr val="003217"/>
    <a:srgbClr val="00682F"/>
    <a:srgbClr val="57EFF3"/>
    <a:srgbClr val="24DFE8"/>
    <a:srgbClr val="00FF00"/>
    <a:srgbClr val="CC0099"/>
    <a:srgbClr val="4FF3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479" autoAdjust="0"/>
    <p:restoredTop sz="94849" autoAdjust="0"/>
  </p:normalViewPr>
  <p:slideViewPr>
    <p:cSldViewPr>
      <p:cViewPr varScale="1">
        <p:scale>
          <a:sx n="81" d="100"/>
          <a:sy n="81" d="100"/>
        </p:scale>
        <p:origin x="880" y="56"/>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6B4217-A0A8-494C-8F3C-C58D3904B278}" type="datetimeFigureOut">
              <a:rPr lang="en-US" smtClean="0"/>
              <a:t>1/17/2026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F9FA61-F536-4629-9F1E-E9543B5E70D5}" type="slidenum">
              <a:rPr lang="en-US" smtClean="0"/>
              <a:t>‹#›</a:t>
            </a:fld>
            <a:endParaRPr lang="en-US"/>
          </a:p>
        </p:txBody>
      </p:sp>
    </p:spTree>
    <p:extLst>
      <p:ext uri="{BB962C8B-B14F-4D97-AF65-F5344CB8AC3E}">
        <p14:creationId xmlns:p14="http://schemas.microsoft.com/office/powerpoint/2010/main" val="36261977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ar-SA"/>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ar-SA"/>
          </a:p>
        </p:txBody>
      </p:sp>
      <p:sp>
        <p:nvSpPr>
          <p:cNvPr id="4" name="Date Placeholder 3"/>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r">
              <a:defRPr sz="4000" b="1" cap="all"/>
            </a:lvl1pPr>
          </a:lstStyle>
          <a:p>
            <a:r>
              <a:rPr lang="en-US" smtClean="0"/>
              <a:t>Click to edit Master title style</a:t>
            </a:r>
            <a:endParaRPr lang="ar-S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Date Placeholder 4"/>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ar-S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7" name="Date Placeholder 6"/>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Date Placeholder 2"/>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r">
              <a:defRPr sz="2000" b="1"/>
            </a:lvl1pPr>
          </a:lstStyle>
          <a:p>
            <a:r>
              <a:rPr lang="en-US" smtClean="0"/>
              <a:t>Click to edit Master title style</a:t>
            </a:r>
            <a:endParaRPr lang="ar-S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r">
              <a:defRPr sz="2000" b="1"/>
            </a:lvl1pPr>
          </a:lstStyle>
          <a:p>
            <a:r>
              <a:rPr lang="en-US" smtClean="0"/>
              <a:t>Click to edit Master title style</a:t>
            </a:r>
            <a:endParaRPr lang="ar-S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ar-SA"/>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ar-S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10"/>
          </p:nvPr>
        </p:nvSpPr>
        <p:spPr/>
        <p:txBody>
          <a:bodyPr/>
          <a:lstStyle/>
          <a:p>
            <a:fld id="{1B31C97E-72D8-47FC-9606-7FBCA28DE213}" type="datetimeFigureOut">
              <a:rPr lang="ar-SA" smtClean="0"/>
              <a:pPr/>
              <a:t>29/07/1447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D90A85A1-D85A-4F68-A422-756A8E5D1103}" type="slidenum">
              <a:rPr lang="ar-SA" smtClean="0"/>
              <a:pPr/>
              <a:t>‹#›</a:t>
            </a:fld>
            <a:endParaRPr lang="ar-S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smtClean="0"/>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solidFill>
                <a:srgbClr val="DBF5F9">
                  <a:shade val="90000"/>
                </a:srgbClr>
              </a:solidFill>
            </a:endParaRPr>
          </a:p>
        </p:txBody>
      </p:sp>
      <p:sp>
        <p:nvSpPr>
          <p:cNvPr id="5" name="Footer Placeholder 18"/>
          <p:cNvSpPr>
            <a:spLocks noGrp="1"/>
          </p:cNvSpPr>
          <p:nvPr>
            <p:ph type="ftr" sz="quarter" idx="11"/>
          </p:nvPr>
        </p:nvSpPr>
        <p:spPr/>
        <p:txBody>
          <a:bodyPr/>
          <a:lstStyle>
            <a:lvl1pPr>
              <a:defRPr/>
            </a:lvl1pPr>
          </a:lstStyle>
          <a:p>
            <a:pPr>
              <a:defRPr/>
            </a:pPr>
            <a:endParaRPr lang="en-US">
              <a:solidFill>
                <a:srgbClr val="DBF5F9">
                  <a:shade val="90000"/>
                </a:srgbClr>
              </a:solidFill>
            </a:endParaRPr>
          </a:p>
        </p:txBody>
      </p:sp>
      <p:sp>
        <p:nvSpPr>
          <p:cNvPr id="6" name="Slide Number Placeholder 26"/>
          <p:cNvSpPr>
            <a:spLocks noGrp="1"/>
          </p:cNvSpPr>
          <p:nvPr>
            <p:ph type="sldNum" sz="quarter" idx="12"/>
          </p:nvPr>
        </p:nvSpPr>
        <p:spPr/>
        <p:txBody>
          <a:bodyPr/>
          <a:lstStyle>
            <a:lvl1pPr>
              <a:defRPr>
                <a:solidFill>
                  <a:srgbClr val="D1EAEE"/>
                </a:solidFill>
              </a:defRPr>
            </a:lvl1pPr>
          </a:lstStyle>
          <a:p>
            <a:fld id="{94A41472-F0B0-467A-A593-37B8E299A31D}" type="slidenum">
              <a:rPr lang="ar-SA"/>
              <a:pPr/>
              <a:t>‹#›</a:t>
            </a:fld>
            <a:endParaRPr lang="en-US"/>
          </a:p>
        </p:txBody>
      </p:sp>
    </p:spTree>
    <p:extLst>
      <p:ext uri="{BB962C8B-B14F-4D97-AF65-F5344CB8AC3E}">
        <p14:creationId xmlns:p14="http://schemas.microsoft.com/office/powerpoint/2010/main" val="3421530301"/>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9FF79BEF-7EFA-4FF7-9F29-9241EBE7F107}" type="slidenum">
              <a:rPr lang="ar-SA"/>
              <a:pPr/>
              <a:t>‹#›</a:t>
            </a:fld>
            <a:endParaRPr lang="en-US"/>
          </a:p>
        </p:txBody>
      </p:sp>
    </p:spTree>
    <p:extLst>
      <p:ext uri="{BB962C8B-B14F-4D97-AF65-F5344CB8AC3E}">
        <p14:creationId xmlns:p14="http://schemas.microsoft.com/office/powerpoint/2010/main" val="1213276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solidFill>
                <a:srgbClr val="DBF5F9">
                  <a:shade val="90000"/>
                </a:srgb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srgbClr val="DBF5F9">
                  <a:shade val="90000"/>
                </a:srgbClr>
              </a:solidFill>
            </a:endParaRPr>
          </a:p>
        </p:txBody>
      </p:sp>
      <p:sp>
        <p:nvSpPr>
          <p:cNvPr id="6" name="Slide Number Placeholder 5"/>
          <p:cNvSpPr>
            <a:spLocks noGrp="1"/>
          </p:cNvSpPr>
          <p:nvPr>
            <p:ph type="sldNum" sz="quarter" idx="12"/>
          </p:nvPr>
        </p:nvSpPr>
        <p:spPr/>
        <p:txBody>
          <a:bodyPr/>
          <a:lstStyle>
            <a:lvl1pPr>
              <a:defRPr>
                <a:solidFill>
                  <a:srgbClr val="D1EAEE"/>
                </a:solidFill>
              </a:defRPr>
            </a:lvl1pPr>
          </a:lstStyle>
          <a:p>
            <a:fld id="{EDE3FB8F-BDE8-4CCC-A469-DE6F17931555}" type="slidenum">
              <a:rPr lang="ar-SA"/>
              <a:pPr/>
              <a:t>‹#›</a:t>
            </a:fld>
            <a:endParaRPr lang="en-US"/>
          </a:p>
        </p:txBody>
      </p:sp>
    </p:spTree>
    <p:extLst>
      <p:ext uri="{BB962C8B-B14F-4D97-AF65-F5344CB8AC3E}">
        <p14:creationId xmlns:p14="http://schemas.microsoft.com/office/powerpoint/2010/main" val="2936122865"/>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6"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7" name="Slide Number Placeholder 17"/>
          <p:cNvSpPr>
            <a:spLocks noGrp="1"/>
          </p:cNvSpPr>
          <p:nvPr>
            <p:ph type="sldNum" sz="quarter" idx="12"/>
          </p:nvPr>
        </p:nvSpPr>
        <p:spPr/>
        <p:txBody>
          <a:bodyPr/>
          <a:lstStyle>
            <a:lvl1pPr>
              <a:defRPr/>
            </a:lvl1pPr>
          </a:lstStyle>
          <a:p>
            <a:fld id="{053BE122-3D7B-4707-96E7-614BA48F07E0}" type="slidenum">
              <a:rPr lang="ar-SA"/>
              <a:pPr/>
              <a:t>‹#›</a:t>
            </a:fld>
            <a:endParaRPr lang="en-US"/>
          </a:p>
        </p:txBody>
      </p:sp>
    </p:spTree>
    <p:extLst>
      <p:ext uri="{BB962C8B-B14F-4D97-AF65-F5344CB8AC3E}">
        <p14:creationId xmlns:p14="http://schemas.microsoft.com/office/powerpoint/2010/main" val="404681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8"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9" name="Slide Number Placeholder 17"/>
          <p:cNvSpPr>
            <a:spLocks noGrp="1"/>
          </p:cNvSpPr>
          <p:nvPr>
            <p:ph type="sldNum" sz="quarter" idx="12"/>
          </p:nvPr>
        </p:nvSpPr>
        <p:spPr/>
        <p:txBody>
          <a:bodyPr/>
          <a:lstStyle>
            <a:lvl1pPr>
              <a:defRPr/>
            </a:lvl1pPr>
          </a:lstStyle>
          <a:p>
            <a:fld id="{5E96A632-6AB5-4859-8114-90C4D3EB68D4}" type="slidenum">
              <a:rPr lang="ar-SA"/>
              <a:pPr/>
              <a:t>‹#›</a:t>
            </a:fld>
            <a:endParaRPr lang="en-US"/>
          </a:p>
        </p:txBody>
      </p:sp>
    </p:spTree>
    <p:extLst>
      <p:ext uri="{BB962C8B-B14F-4D97-AF65-F5344CB8AC3E}">
        <p14:creationId xmlns:p14="http://schemas.microsoft.com/office/powerpoint/2010/main" val="1957989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4"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5" name="Slide Number Placeholder 17"/>
          <p:cNvSpPr>
            <a:spLocks noGrp="1"/>
          </p:cNvSpPr>
          <p:nvPr>
            <p:ph type="sldNum" sz="quarter" idx="12"/>
          </p:nvPr>
        </p:nvSpPr>
        <p:spPr/>
        <p:txBody>
          <a:bodyPr/>
          <a:lstStyle>
            <a:lvl1pPr>
              <a:defRPr/>
            </a:lvl1pPr>
          </a:lstStyle>
          <a:p>
            <a:fld id="{7C133895-8EE1-4B38-9D21-0495C3DA4F31}" type="slidenum">
              <a:rPr lang="ar-SA"/>
              <a:pPr/>
              <a:t>‹#›</a:t>
            </a:fld>
            <a:endParaRPr lang="en-US"/>
          </a:p>
        </p:txBody>
      </p:sp>
    </p:spTree>
    <p:extLst>
      <p:ext uri="{BB962C8B-B14F-4D97-AF65-F5344CB8AC3E}">
        <p14:creationId xmlns:p14="http://schemas.microsoft.com/office/powerpoint/2010/main" val="2219395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3"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4" name="Slide Number Placeholder 17"/>
          <p:cNvSpPr>
            <a:spLocks noGrp="1"/>
          </p:cNvSpPr>
          <p:nvPr>
            <p:ph type="sldNum" sz="quarter" idx="12"/>
          </p:nvPr>
        </p:nvSpPr>
        <p:spPr/>
        <p:txBody>
          <a:bodyPr/>
          <a:lstStyle>
            <a:lvl1pPr>
              <a:defRPr/>
            </a:lvl1pPr>
          </a:lstStyle>
          <a:p>
            <a:fld id="{274EA471-183B-4601-BB62-62FFB82AE24D}" type="slidenum">
              <a:rPr lang="ar-SA"/>
              <a:pPr/>
              <a:t>‹#›</a:t>
            </a:fld>
            <a:endParaRPr lang="en-US"/>
          </a:p>
        </p:txBody>
      </p:sp>
    </p:spTree>
    <p:extLst>
      <p:ext uri="{BB962C8B-B14F-4D97-AF65-F5344CB8AC3E}">
        <p14:creationId xmlns:p14="http://schemas.microsoft.com/office/powerpoint/2010/main" val="2240531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smtClean="0"/>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6"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7" name="Slide Number Placeholder 17"/>
          <p:cNvSpPr>
            <a:spLocks noGrp="1"/>
          </p:cNvSpPr>
          <p:nvPr>
            <p:ph type="sldNum" sz="quarter" idx="12"/>
          </p:nvPr>
        </p:nvSpPr>
        <p:spPr/>
        <p:txBody>
          <a:bodyPr/>
          <a:lstStyle>
            <a:lvl1pPr>
              <a:defRPr/>
            </a:lvl1pPr>
          </a:lstStyle>
          <a:p>
            <a:fld id="{46FA9468-1196-4B2A-9F8D-F3AF3814B4AA}" type="slidenum">
              <a:rPr lang="ar-SA"/>
              <a:pPr/>
              <a:t>‹#›</a:t>
            </a:fld>
            <a:endParaRPr lang="en-US"/>
          </a:p>
        </p:txBody>
      </p:sp>
    </p:spTree>
    <p:extLst>
      <p:ext uri="{BB962C8B-B14F-4D97-AF65-F5344CB8AC3E}">
        <p14:creationId xmlns:p14="http://schemas.microsoft.com/office/powerpoint/2010/main" val="42355796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rtl="0" fontAlgn="base">
              <a:spcBef>
                <a:spcPct val="0"/>
              </a:spcBef>
              <a:spcAft>
                <a:spcPct val="0"/>
              </a:spcAft>
              <a:defRPr/>
            </a:pPr>
            <a:endParaRPr lang="en-US">
              <a:solidFill>
                <a:prstClr val="black"/>
              </a:solidFill>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rtl="0" fontAlgn="base">
              <a:spcBef>
                <a:spcPct val="0"/>
              </a:spcBef>
              <a:spcAft>
                <a:spcPct val="0"/>
              </a:spcAft>
              <a:defRPr/>
            </a:pPr>
            <a:endParaRPr lang="en-US">
              <a:solidFill>
                <a:prstClr val="black"/>
              </a:solidFill>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smtClean="0"/>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smtClean="0"/>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smtClean="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10" name="Footer Placeholder 5"/>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fld id="{7038D2FF-1E85-435D-B78E-CC6A1B8062AE}" type="slidenum">
              <a:rPr lang="ar-SA"/>
              <a:pPr/>
              <a:t>‹#›</a:t>
            </a:fld>
            <a:endParaRPr lang="en-US"/>
          </a:p>
        </p:txBody>
      </p:sp>
    </p:spTree>
    <p:extLst>
      <p:ext uri="{BB962C8B-B14F-4D97-AF65-F5344CB8AC3E}">
        <p14:creationId xmlns:p14="http://schemas.microsoft.com/office/powerpoint/2010/main" val="39520849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C3CC9652-B3F6-4E6D-8B91-B25A2A2A5715}" type="slidenum">
              <a:rPr lang="ar-SA"/>
              <a:pPr/>
              <a:t>‹#›</a:t>
            </a:fld>
            <a:endParaRPr lang="en-US"/>
          </a:p>
        </p:txBody>
      </p:sp>
    </p:spTree>
    <p:extLst>
      <p:ext uri="{BB962C8B-B14F-4D97-AF65-F5344CB8AC3E}">
        <p14:creationId xmlns:p14="http://schemas.microsoft.com/office/powerpoint/2010/main" val="3337678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solidFill>
                <a:srgbClr val="04617B">
                  <a:shade val="90000"/>
                </a:srgbClr>
              </a:solidFill>
            </a:endParaRPr>
          </a:p>
        </p:txBody>
      </p:sp>
      <p:sp>
        <p:nvSpPr>
          <p:cNvPr id="5" name="Footer Placeholder 21"/>
          <p:cNvSpPr>
            <a:spLocks noGrp="1"/>
          </p:cNvSpPr>
          <p:nvPr>
            <p:ph type="ftr" sz="quarter" idx="11"/>
          </p:nvPr>
        </p:nvSpPr>
        <p:spPr/>
        <p:txBody>
          <a:bodyPr/>
          <a:lstStyle>
            <a:lvl1pPr>
              <a:defRPr/>
            </a:lvl1pPr>
          </a:lstStyle>
          <a:p>
            <a:pPr>
              <a:defRPr/>
            </a:pPr>
            <a:endParaRPr lang="en-US">
              <a:solidFill>
                <a:srgbClr val="04617B">
                  <a:shade val="90000"/>
                </a:srgbClr>
              </a:solidFill>
            </a:endParaRPr>
          </a:p>
        </p:txBody>
      </p:sp>
      <p:sp>
        <p:nvSpPr>
          <p:cNvPr id="6" name="Slide Number Placeholder 17"/>
          <p:cNvSpPr>
            <a:spLocks noGrp="1"/>
          </p:cNvSpPr>
          <p:nvPr>
            <p:ph type="sldNum" sz="quarter" idx="12"/>
          </p:nvPr>
        </p:nvSpPr>
        <p:spPr/>
        <p:txBody>
          <a:bodyPr/>
          <a:lstStyle>
            <a:lvl1pPr>
              <a:defRPr/>
            </a:lvl1pPr>
          </a:lstStyle>
          <a:p>
            <a:fld id="{DCEBF5F8-6727-4F2A-AD6F-6A8A895EF881}" type="slidenum">
              <a:rPr lang="ar-SA"/>
              <a:pPr/>
              <a:t>‹#›</a:t>
            </a:fld>
            <a:endParaRPr lang="en-US"/>
          </a:p>
        </p:txBody>
      </p:sp>
    </p:spTree>
    <p:extLst>
      <p:ext uri="{BB962C8B-B14F-4D97-AF65-F5344CB8AC3E}">
        <p14:creationId xmlns:p14="http://schemas.microsoft.com/office/powerpoint/2010/main" val="3822380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en-US" smtClean="0"/>
              <a:t>Click to edit Master title style</a:t>
            </a:r>
            <a:endParaRPr lang="ar-SA"/>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SA"/>
          </a:p>
        </p:txBody>
      </p:sp>
      <p:sp>
        <p:nvSpPr>
          <p:cNvPr id="4" name="Date Placeholder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B31C97E-72D8-47FC-9606-7FBCA28DE213}" type="datetimeFigureOut">
              <a:rPr lang="ar-SA" smtClean="0"/>
              <a:pPr/>
              <a:t>29/07/1447</a:t>
            </a:fld>
            <a:endParaRPr lang="ar-SA"/>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D90A85A1-D85A-4F68-A422-756A8E5D1103}" type="slidenum">
              <a:rPr lang="ar-SA" smtClean="0"/>
              <a:pPr/>
              <a:t>‹#›</a:t>
            </a:fld>
            <a:endParaRPr lang="ar-S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lgn="l" rtl="0" fontAlgn="base">
              <a:spcBef>
                <a:spcPct val="0"/>
              </a:spcBef>
              <a:spcAft>
                <a:spcPct val="0"/>
              </a:spcAft>
              <a:defRPr/>
            </a:pPr>
            <a:endParaRPr lang="en-US">
              <a:solidFill>
                <a:prstClr val="black"/>
              </a:solidFill>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lgn="l" rtl="0" fontAlgn="base">
              <a:spcBef>
                <a:spcPct val="0"/>
              </a:spcBef>
              <a:spcAft>
                <a:spcPct val="0"/>
              </a:spcAft>
              <a:defRPr/>
            </a:pPr>
            <a:endParaRPr lang="en-US">
              <a:solidFill>
                <a:prstClr val="black"/>
              </a:solidFill>
            </a:endParaRPr>
          </a:p>
        </p:txBody>
      </p:sp>
      <p:sp>
        <p:nvSpPr>
          <p:cNvPr id="1028" name="Title Placeholder 8"/>
          <p:cNvSpPr>
            <a:spLocks noGrp="1"/>
          </p:cNvSpPr>
          <p:nvPr>
            <p:ph type="title"/>
          </p:nvPr>
        </p:nvSpPr>
        <p:spPr bwMode="auto">
          <a:xfrm>
            <a:off x="457200" y="7048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0" numCol="1" anchor="b" anchorCtr="0" compatLnSpc="1">
            <a:prstTxWarp prst="textNoShape">
              <a:avLst/>
            </a:prstTxWarp>
          </a:bodyPr>
          <a:lstStyle/>
          <a:p>
            <a:pPr lvl="0"/>
            <a:r>
              <a:rPr lang="en-US" smtClean="0"/>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fontAlgn="base">
              <a:spcBef>
                <a:spcPct val="0"/>
              </a:spcBef>
              <a:spcAft>
                <a:spcPct val="0"/>
              </a:spcAft>
              <a:defRPr/>
            </a:pPr>
            <a:endParaRPr lang="en-US">
              <a:solidFill>
                <a:srgbClr val="04617B">
                  <a:shade val="90000"/>
                </a:srgbClr>
              </a:solidFill>
              <a:latin typeface="Arial" panose="020B0604020202020204" pitchFamily="34" charset="0"/>
              <a:cs typeface="Arial" panose="020B0604020202020204" pitchFamily="34" charset="0"/>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fontAlgn="base">
              <a:spcBef>
                <a:spcPct val="0"/>
              </a:spcBef>
              <a:spcAft>
                <a:spcPct val="0"/>
              </a:spcAft>
              <a:defRPr/>
            </a:pPr>
            <a:endParaRPr lang="en-US">
              <a:solidFill>
                <a:srgbClr val="04617B">
                  <a:shade val="90000"/>
                </a:srgbClr>
              </a:solidFill>
              <a:latin typeface="Arial" panose="020B0604020202020204" pitchFamily="34" charset="0"/>
              <a:cs typeface="Arial" panose="020B0604020202020204" pitchFamily="34" charset="0"/>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wrap="square" lIns="0" tIns="0" rIns="0" bIns="0" numCol="1" anchor="b" anchorCtr="0" compatLnSpc="1">
            <a:prstTxWarp prst="textNoShape">
              <a:avLst/>
            </a:prstTxWarp>
          </a:bodyPr>
          <a:lstStyle>
            <a:lvl1pPr algn="r">
              <a:defRPr sz="1200">
                <a:solidFill>
                  <a:srgbClr val="045C75"/>
                </a:solidFill>
              </a:defRPr>
            </a:lvl1pPr>
          </a:lstStyle>
          <a:p>
            <a:pPr fontAlgn="base">
              <a:spcBef>
                <a:spcPct val="0"/>
              </a:spcBef>
              <a:spcAft>
                <a:spcPct val="0"/>
              </a:spcAft>
            </a:pPr>
            <a:fld id="{97275AD6-72D9-449A-B94E-E9AA82FCFB7E}" type="slidenum">
              <a:rPr lang="ar-SA" smtClean="0">
                <a:latin typeface="Arial" panose="020B0604020202020204" pitchFamily="34" charset="0"/>
                <a:cs typeface="Arial" panose="020B0604020202020204" pitchFamily="34" charset="0"/>
              </a:rPr>
              <a:pPr fontAlgn="base">
                <a:spcBef>
                  <a:spcPct val="0"/>
                </a:spcBef>
                <a:spcAft>
                  <a:spcPct val="0"/>
                </a:spcAft>
              </a:pPr>
              <a:t>‹#›</a:t>
            </a:fld>
            <a:endParaRPr lang="en-US" smtClean="0">
              <a:latin typeface="Arial" panose="020B0604020202020204" pitchFamily="34" charset="0"/>
              <a:cs typeface="Arial" panose="020B0604020202020204" pitchFamily="34" charset="0"/>
            </a:endParaRPr>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lgn="ctr" fontAlgn="base">
                <a:spcBef>
                  <a:spcPct val="0"/>
                </a:spcBef>
                <a:spcAft>
                  <a:spcPct val="0"/>
                </a:spcAft>
                <a:defRPr/>
              </a:pPr>
              <a:endParaRPr lang="en-US">
                <a:solidFill>
                  <a:prstClr val="black"/>
                </a:solidFill>
                <a:latin typeface="Arial" panose="020B0604020202020204" pitchFamily="34" charset="0"/>
                <a:cs typeface="Arial" panose="020B0604020202020204" pitchFamily="34" charset="0"/>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lgn="ctr" fontAlgn="base">
                <a:spcBef>
                  <a:spcPct val="0"/>
                </a:spcBef>
                <a:spcAft>
                  <a:spcPct val="0"/>
                </a:spcAft>
                <a:defRPr/>
              </a:pPr>
              <a:endParaRPr lang="en-US">
                <a:solidFill>
                  <a:prstClr val="black"/>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73096142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txStyles>
    <p:titleStyle>
      <a:lvl1pPr algn="l" rtl="1" fontAlgn="base">
        <a:spcBef>
          <a:spcPct val="0"/>
        </a:spcBef>
        <a:spcAft>
          <a:spcPct val="0"/>
        </a:spcAft>
        <a:defRPr sz="5000" kern="1200">
          <a:solidFill>
            <a:schemeClr val="tx2"/>
          </a:solidFill>
          <a:latin typeface="+mj-lt"/>
          <a:ea typeface="+mj-ea"/>
          <a:cs typeface="+mj-cs"/>
        </a:defRPr>
      </a:lvl1pPr>
      <a:lvl2pPr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2pPr>
      <a:lvl3pPr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3pPr>
      <a:lvl4pPr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4pPr>
      <a:lvl5pPr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5pPr>
      <a:lvl6pPr marL="457200"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6pPr>
      <a:lvl7pPr marL="914400"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7pPr>
      <a:lvl8pPr marL="1371600"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8pPr>
      <a:lvl9pPr marL="1828800" algn="l" rtl="1" fontAlgn="base">
        <a:spcBef>
          <a:spcPct val="0"/>
        </a:spcBef>
        <a:spcAft>
          <a:spcPct val="0"/>
        </a:spcAft>
        <a:defRPr sz="5000">
          <a:solidFill>
            <a:schemeClr val="tx2"/>
          </a:solidFill>
          <a:latin typeface="Calibri" panose="020F0502020204030204" pitchFamily="34" charset="0"/>
          <a:cs typeface="Traditional Arabic" panose="02010000000000000000" pitchFamily="2" charset="-78"/>
        </a:defRPr>
      </a:lvl9pPr>
    </p:titleStyle>
    <p:bodyStyle>
      <a:lvl1pPr marL="273050" indent="-273050" algn="r" rtl="1" fontAlgn="base">
        <a:spcBef>
          <a:spcPct val="20000"/>
        </a:spcBef>
        <a:spcAft>
          <a:spcPct val="0"/>
        </a:spcAft>
        <a:buClr>
          <a:srgbClr val="0BD0D9"/>
        </a:buClr>
        <a:buSzPct val="95000"/>
        <a:buFont typeface="Wingdings 2" panose="05020102010507070707" pitchFamily="18" charset="2"/>
        <a:buChar char=""/>
        <a:defRPr sz="2600" kern="1200">
          <a:solidFill>
            <a:schemeClr val="tx1"/>
          </a:solidFill>
          <a:latin typeface="+mn-lt"/>
          <a:ea typeface="Majalla UI"/>
          <a:cs typeface="+mn-cs"/>
        </a:defRPr>
      </a:lvl1pPr>
      <a:lvl2pPr marL="639763" indent="-246063" algn="r" rtl="1" fontAlgn="base">
        <a:spcBef>
          <a:spcPct val="20000"/>
        </a:spcBef>
        <a:spcAft>
          <a:spcPct val="0"/>
        </a:spcAft>
        <a:buClr>
          <a:schemeClr val="accent1"/>
        </a:buClr>
        <a:buSzPct val="85000"/>
        <a:buFont typeface="Wingdings 2" panose="05020102010507070707" pitchFamily="18" charset="2"/>
        <a:buChar char=""/>
        <a:defRPr sz="2400" kern="1200">
          <a:solidFill>
            <a:schemeClr val="tx1"/>
          </a:solidFill>
          <a:latin typeface="+mn-lt"/>
          <a:ea typeface="Majalla UI"/>
          <a:cs typeface="+mn-cs"/>
        </a:defRPr>
      </a:lvl2pPr>
      <a:lvl3pPr marL="914400" indent="-246063" algn="r" rtl="1" fontAlgn="base">
        <a:spcBef>
          <a:spcPct val="20000"/>
        </a:spcBef>
        <a:spcAft>
          <a:spcPct val="0"/>
        </a:spcAft>
        <a:buClr>
          <a:schemeClr val="accent2"/>
        </a:buClr>
        <a:buSzPct val="70000"/>
        <a:buFont typeface="Wingdings 2" panose="05020102010507070707" pitchFamily="18" charset="2"/>
        <a:buChar char=""/>
        <a:defRPr sz="2100" kern="1200">
          <a:solidFill>
            <a:schemeClr val="tx1"/>
          </a:solidFill>
          <a:latin typeface="+mn-lt"/>
          <a:ea typeface="Majalla UI"/>
          <a:cs typeface="+mn-cs"/>
        </a:defRPr>
      </a:lvl3pPr>
      <a:lvl4pPr marL="1187450" indent="-209550" algn="r" rtl="1" fontAlgn="base">
        <a:spcBef>
          <a:spcPct val="20000"/>
        </a:spcBef>
        <a:spcAft>
          <a:spcPct val="0"/>
        </a:spcAft>
        <a:buClr>
          <a:srgbClr val="0BD0D9"/>
        </a:buClr>
        <a:buSzPct val="65000"/>
        <a:buFont typeface="Wingdings 2" panose="05020102010507070707" pitchFamily="18" charset="2"/>
        <a:buChar char=""/>
        <a:defRPr sz="2000" kern="1200">
          <a:solidFill>
            <a:schemeClr val="tx1"/>
          </a:solidFill>
          <a:latin typeface="+mn-lt"/>
          <a:ea typeface="Majalla UI"/>
          <a:cs typeface="+mn-cs"/>
        </a:defRPr>
      </a:lvl4pPr>
      <a:lvl5pPr marL="1462088" indent="-209550" algn="r" rtl="1" fontAlgn="base">
        <a:spcBef>
          <a:spcPct val="20000"/>
        </a:spcBef>
        <a:spcAft>
          <a:spcPct val="0"/>
        </a:spcAft>
        <a:buClr>
          <a:srgbClr val="10CF9B"/>
        </a:buClr>
        <a:buSzPct val="65000"/>
        <a:buFont typeface="Wingdings 2" panose="05020102010507070707" pitchFamily="18" charset="2"/>
        <a:buChar char=""/>
        <a:defRPr sz="2000" kern="1200">
          <a:solidFill>
            <a:schemeClr val="tx1"/>
          </a:solidFill>
          <a:latin typeface="+mn-lt"/>
          <a:ea typeface="Majalla UI"/>
          <a:cs typeface="+mn-cs"/>
        </a:defRPr>
      </a:lvl5pPr>
      <a:lvl6pPr marL="1737360" indent="-210312" algn="r" rtl="1"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r" rtl="1"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r" rtl="1"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r" rtl="1"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p:cNvSpPr/>
          <p:nvPr/>
        </p:nvSpPr>
        <p:spPr>
          <a:xfrm>
            <a:off x="-108520" y="347172"/>
            <a:ext cx="9145016" cy="1569660"/>
          </a:xfrm>
          <a:prstGeom prst="rect">
            <a:avLst/>
          </a:prstGeom>
        </p:spPr>
        <p:txBody>
          <a:bodyPr wrap="square">
            <a:spAutoFit/>
          </a:bodyPr>
          <a:lstStyle/>
          <a:p>
            <a:pPr algn="ctr" fontAlgn="base">
              <a:spcBef>
                <a:spcPct val="0"/>
              </a:spcBef>
              <a:spcAft>
                <a:spcPct val="0"/>
              </a:spcAft>
              <a:defRPr/>
            </a:pPr>
            <a:r>
              <a:rPr lang="ar-SA" sz="9600" b="1" dirty="0">
                <a:ln w="18415" cmpd="sng">
                  <a:solidFill>
                    <a:srgbClr val="FFFFFF"/>
                  </a:solidFill>
                  <a:prstDash val="solid"/>
                </a:ln>
                <a:solidFill>
                  <a:srgbClr val="0000FF"/>
                </a:solidFill>
                <a:effectLst>
                  <a:glow rad="63500">
                    <a:srgbClr val="FFFF00"/>
                  </a:glow>
                  <a:outerShdw blurRad="63500" dir="3600000" algn="tl" rotWithShape="0">
                    <a:srgbClr val="000000">
                      <a:alpha val="70000"/>
                    </a:srgbClr>
                  </a:outerShdw>
                </a:effectLst>
                <a:latin typeface="Al hosam"/>
                <a:ea typeface="Times New Roman" pitchFamily="18" charset="0"/>
                <a:cs typeface="AL-Hosam" pitchFamily="2" charset="-78"/>
              </a:rPr>
              <a:t>قضايا أخلاقية ومهنية</a:t>
            </a:r>
            <a:endParaRPr lang="en-US" sz="9600" b="1" dirty="0">
              <a:ln w="18415" cmpd="sng">
                <a:solidFill>
                  <a:srgbClr val="FFFFFF"/>
                </a:solidFill>
                <a:prstDash val="solid"/>
              </a:ln>
              <a:solidFill>
                <a:srgbClr val="0000FF"/>
              </a:solidFill>
              <a:effectLst>
                <a:glow rad="635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p:txBody>
      </p:sp>
      <p:sp>
        <p:nvSpPr>
          <p:cNvPr id="4" name="Rectangle 3"/>
          <p:cNvSpPr/>
          <p:nvPr/>
        </p:nvSpPr>
        <p:spPr>
          <a:xfrm>
            <a:off x="467544" y="1916832"/>
            <a:ext cx="8480014" cy="1754326"/>
          </a:xfrm>
          <a:prstGeom prst="rect">
            <a:avLst/>
          </a:prstGeom>
        </p:spPr>
        <p:txBody>
          <a:bodyPr wrap="none">
            <a:spAutoFit/>
          </a:bodyPr>
          <a:lstStyle/>
          <a:p>
            <a:pPr algn="ctr"/>
            <a:r>
              <a:rPr lang="en-US" sz="5400" b="1" dirty="0" smtClean="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rPr>
              <a:t>Ethical  and  professional</a:t>
            </a:r>
            <a:endParaRPr lang="ar-SA" sz="5400" b="1" dirty="0" smtClean="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endParaRPr>
          </a:p>
          <a:p>
            <a:pPr algn="ctr"/>
            <a:r>
              <a:rPr lang="en-US" sz="5400" b="1" dirty="0" smtClean="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rPr>
              <a:t> </a:t>
            </a:r>
            <a:r>
              <a:rPr lang="en-US" sz="5400" b="1" dirty="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rPr>
              <a:t>issues</a:t>
            </a:r>
            <a:r>
              <a:rPr lang="ar-SA" sz="5400" b="1" dirty="0" smtClean="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rPr>
              <a:t>   </a:t>
            </a:r>
            <a:endParaRPr lang="en-US" sz="5400" b="1" dirty="0">
              <a:ln w="18415" cmpd="sng">
                <a:solidFill>
                  <a:srgbClr val="FFFFFF"/>
                </a:solidFill>
                <a:prstDash val="solid"/>
              </a:ln>
              <a:solidFill>
                <a:srgbClr val="FF0000"/>
              </a:solidFill>
              <a:effectLst>
                <a:glow rad="127000">
                  <a:srgbClr val="FFFF00"/>
                </a:glow>
                <a:outerShdw blurRad="63500" dir="3600000" algn="tl" rotWithShape="0">
                  <a:srgbClr val="000000">
                    <a:alpha val="70000"/>
                  </a:srgbClr>
                </a:outerShdw>
              </a:effectLst>
              <a:latin typeface="Franklin Gothic Heavy" panose="020B0903020102020204" pitchFamily="34" charset="0"/>
              <a:ea typeface="Times New Roman" pitchFamily="18" charset="0"/>
              <a:cs typeface="Aharoni" panose="02010803020104030203" pitchFamily="2" charset="-79"/>
            </a:endParaRPr>
          </a:p>
        </p:txBody>
      </p:sp>
      <p:sp>
        <p:nvSpPr>
          <p:cNvPr id="3" name="Rectangle 2"/>
          <p:cNvSpPr/>
          <p:nvPr/>
        </p:nvSpPr>
        <p:spPr>
          <a:xfrm>
            <a:off x="6691525" y="5293657"/>
            <a:ext cx="184731" cy="307777"/>
          </a:xfrm>
          <a:prstGeom prst="rect">
            <a:avLst/>
          </a:prstGeom>
        </p:spPr>
        <p:txBody>
          <a:bodyPr wrap="none">
            <a:spAutoFit/>
          </a:bodyPr>
          <a:lstStyle/>
          <a:p>
            <a:endParaRPr lang="en-US" sz="1400" dirty="0">
              <a:solidFill>
                <a:srgbClr val="FF0000"/>
              </a:solidFill>
            </a:endParaRPr>
          </a:p>
        </p:txBody>
      </p:sp>
      <p:sp>
        <p:nvSpPr>
          <p:cNvPr id="6" name="Rectangle 5"/>
          <p:cNvSpPr/>
          <p:nvPr/>
        </p:nvSpPr>
        <p:spPr>
          <a:xfrm>
            <a:off x="467544" y="6119563"/>
            <a:ext cx="7128792" cy="707886"/>
          </a:xfrm>
          <a:prstGeom prst="rect">
            <a:avLst/>
          </a:prstGeom>
        </p:spPr>
        <p:txBody>
          <a:bodyPr wrap="square">
            <a:spAutoFit/>
          </a:bodyPr>
          <a:lstStyle/>
          <a:p>
            <a:pPr algn="ctr" fontAlgn="base">
              <a:spcBef>
                <a:spcPct val="0"/>
              </a:spcBef>
              <a:spcAft>
                <a:spcPct val="0"/>
              </a:spcAft>
              <a:defRPr/>
            </a:pPr>
            <a:endParaRPr lang="ar-EG" altLang="en-US" sz="4000" dirty="0">
              <a:solidFill>
                <a:srgbClr val="FFFF00"/>
              </a:solidFill>
              <a:cs typeface="MCS Taybah S_U normal." pitchFamily="2" charset="-78"/>
            </a:endParaRPr>
          </a:p>
        </p:txBody>
      </p:sp>
      <p:sp>
        <p:nvSpPr>
          <p:cNvPr id="7" name="Rectangle 6"/>
          <p:cNvSpPr/>
          <p:nvPr/>
        </p:nvSpPr>
        <p:spPr>
          <a:xfrm>
            <a:off x="3831716" y="6359778"/>
            <a:ext cx="2303836" cy="461665"/>
          </a:xfrm>
          <a:prstGeom prst="rect">
            <a:avLst/>
          </a:prstGeom>
          <a:effectLst>
            <a:glow rad="139700">
              <a:schemeClr val="accent1">
                <a:alpha val="53000"/>
              </a:schemeClr>
            </a:glow>
          </a:effectLst>
        </p:spPr>
        <p:txBody>
          <a:bodyPr wrap="none">
            <a:spAutoFit/>
          </a:bodyPr>
          <a:lstStyle/>
          <a:p>
            <a:r>
              <a:rPr lang="ar-SA" sz="1600" dirty="0" smtClean="0">
                <a:solidFill>
                  <a:srgbClr val="FFFF00"/>
                </a:solidFill>
                <a:cs typeface="MCS Jeddah S_U normal." pitchFamily="2" charset="-78"/>
              </a:rPr>
              <a:t>د</a:t>
            </a:r>
            <a:r>
              <a:rPr lang="ar-SA" sz="2400" dirty="0" smtClean="0">
                <a:solidFill>
                  <a:srgbClr val="FFFF00"/>
                </a:solidFill>
                <a:cs typeface="MCS Jeddah S_U normal." pitchFamily="2" charset="-78"/>
              </a:rPr>
              <a:t>.</a:t>
            </a:r>
            <a:r>
              <a:rPr lang="ar-SA" sz="1600" dirty="0" smtClean="0">
                <a:solidFill>
                  <a:srgbClr val="FFFF00"/>
                </a:solidFill>
                <a:cs typeface="MCS Jeddah S_U normal." pitchFamily="2" charset="-78"/>
              </a:rPr>
              <a:t>هشام </a:t>
            </a:r>
            <a:r>
              <a:rPr lang="ar-SA" sz="1600" dirty="0">
                <a:solidFill>
                  <a:srgbClr val="FFFF00"/>
                </a:solidFill>
                <a:cs typeface="MCS Jeddah S_U normal." pitchFamily="2" charset="-78"/>
              </a:rPr>
              <a:t>كمال محمد درونكي</a:t>
            </a:r>
            <a:endParaRPr lang="en-US" sz="2400" dirty="0">
              <a:solidFill>
                <a:srgbClr val="FFFF00"/>
              </a:solidFill>
              <a:cs typeface="MCS Jeddah S_U normal." pitchFamily="2" charset="-78"/>
            </a:endParaRPr>
          </a:p>
        </p:txBody>
      </p:sp>
      <p:pic>
        <p:nvPicPr>
          <p:cNvPr id="9" name="Picture 8"/>
          <p:cNvPicPr/>
          <p:nvPr/>
        </p:nvPicPr>
        <p:blipFill>
          <a:blip r:embed="rId3">
            <a:extLst>
              <a:ext uri="{28A0092B-C50C-407E-A947-70E740481C1C}">
                <a14:useLocalDpi xmlns:a14="http://schemas.microsoft.com/office/drawing/2010/main" val="0"/>
              </a:ext>
            </a:extLst>
          </a:blip>
          <a:stretch>
            <a:fillRect/>
          </a:stretch>
        </p:blipFill>
        <p:spPr>
          <a:xfrm>
            <a:off x="2071031" y="3599249"/>
            <a:ext cx="5273040" cy="2760529"/>
          </a:xfrm>
          <a:prstGeom prst="rect">
            <a:avLst/>
          </a:prstGeom>
        </p:spPr>
      </p:pic>
      <p:sp>
        <p:nvSpPr>
          <p:cNvPr id="5" name="Oval 4"/>
          <p:cNvSpPr/>
          <p:nvPr/>
        </p:nvSpPr>
        <p:spPr>
          <a:xfrm>
            <a:off x="0" y="6482415"/>
            <a:ext cx="1525960" cy="277946"/>
          </a:xfrm>
          <a:prstGeom prst="ellipse">
            <a:avLst/>
          </a:prstGeom>
          <a:solidFill>
            <a:srgbClr val="0070C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7575290" y="6486942"/>
            <a:ext cx="1525960" cy="277946"/>
          </a:xfrm>
          <a:prstGeom prst="ellipse">
            <a:avLst/>
          </a:prstGeom>
          <a:solidFill>
            <a:srgbClr val="0070C0"/>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56740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243408"/>
            <a:ext cx="8229600" cy="1143000"/>
          </a:xfrm>
        </p:spPr>
        <p:txBody>
          <a:bodyPr>
            <a:normAutofit/>
          </a:bodyPr>
          <a:lstStyle/>
          <a:p>
            <a:r>
              <a:rPr lang="ar-SA" sz="4000" dirty="0" smtClean="0">
                <a:solidFill>
                  <a:srgbClr val="0000FF"/>
                </a:solidFill>
                <a:latin typeface="+mn-lt"/>
                <a:ea typeface="+mn-ea"/>
                <a:cs typeface="MCS Jeddah S_U normal." pitchFamily="2" charset="-78"/>
              </a:rPr>
              <a:t>المحاضرة السابقة</a:t>
            </a:r>
            <a:endParaRPr lang="en-US" sz="4000" dirty="0">
              <a:solidFill>
                <a:srgbClr val="0000FF"/>
              </a:solidFill>
              <a:latin typeface="+mn-lt"/>
              <a:ea typeface="+mn-ea"/>
              <a:cs typeface="MCS Jeddah S_U normal." pitchFamily="2" charset="-78"/>
            </a:endParaRPr>
          </a:p>
        </p:txBody>
      </p:sp>
      <p:sp>
        <p:nvSpPr>
          <p:cNvPr id="2" name="Rectangle 1"/>
          <p:cNvSpPr/>
          <p:nvPr/>
        </p:nvSpPr>
        <p:spPr>
          <a:xfrm>
            <a:off x="-180528" y="692696"/>
            <a:ext cx="9180511" cy="5386090"/>
          </a:xfrm>
          <a:prstGeom prst="rect">
            <a:avLst/>
          </a:prstGeom>
        </p:spPr>
        <p:txBody>
          <a:bodyPr wrap="square">
            <a:spAutoFit/>
          </a:bodyPr>
          <a:lstStyle/>
          <a:p>
            <a:pPr>
              <a:spcBef>
                <a:spcPct val="0"/>
              </a:spcBef>
              <a:defRPr/>
            </a:pPr>
            <a:r>
              <a:rPr lang="ar-SA" sz="2800" dirty="0">
                <a:cs typeface="MCS Jeddah S_U normal." pitchFamily="2" charset="-78"/>
              </a:rPr>
              <a:t>تأثير أهداف العمل على أخلاق العمل</a:t>
            </a:r>
          </a:p>
          <a:p>
            <a:pPr lvl="0">
              <a:spcBef>
                <a:spcPct val="0"/>
              </a:spcBef>
              <a:defRPr/>
            </a:pPr>
            <a:r>
              <a:rPr lang="ar-SA" sz="2000" dirty="0">
                <a:solidFill>
                  <a:srgbClr val="0070C0"/>
                </a:solidFill>
                <a:cs typeface="MCS Jeddah S_U normal." pitchFamily="2" charset="-78"/>
              </a:rPr>
              <a:t>يمكن لأهداف العمل أن تُنتج سلوكياتٍ غير أخلاقية فان الأهداف غير المنطقية تغري الموظفين بأن يبعدوا عن الحقيقة</a:t>
            </a:r>
          </a:p>
          <a:p>
            <a:pPr lvl="0">
              <a:spcBef>
                <a:spcPct val="0"/>
              </a:spcBef>
              <a:defRPr/>
            </a:pPr>
            <a:r>
              <a:rPr lang="ar-SA" sz="2000" dirty="0">
                <a:solidFill>
                  <a:srgbClr val="0070C0"/>
                </a:solidFill>
                <a:cs typeface="MCS Jeddah S_U normal." pitchFamily="2" charset="-78"/>
              </a:rPr>
              <a:t>الموظفين القريبين من تحقيق هدفٍ صعب يواجهون إغراءً قوياً بأن يتصرّفوا بطريقةٍ لا أخلاقية</a:t>
            </a:r>
            <a:endParaRPr lang="en-US" sz="2000" dirty="0" smtClean="0">
              <a:solidFill>
                <a:srgbClr val="0070C0"/>
              </a:solidFill>
              <a:cs typeface="MCS Jeddah S_U normal." pitchFamily="2" charset="-78"/>
            </a:endParaRPr>
          </a:p>
          <a:p>
            <a:pPr lvl="0">
              <a:spcBef>
                <a:spcPct val="0"/>
              </a:spcBef>
              <a:defRPr/>
            </a:pPr>
            <a:r>
              <a:rPr lang="ar-SA" sz="2000" dirty="0" smtClean="0">
                <a:solidFill>
                  <a:srgbClr val="0070C0"/>
                </a:solidFill>
                <a:cs typeface="MCS Jeddah S_U normal." pitchFamily="2" charset="-78"/>
              </a:rPr>
              <a:t> </a:t>
            </a:r>
            <a:r>
              <a:rPr lang="ar-SA" sz="2000" dirty="0">
                <a:solidFill>
                  <a:srgbClr val="0070C0"/>
                </a:solidFill>
                <a:cs typeface="MCS Jeddah S_U normal." pitchFamily="2" charset="-78"/>
              </a:rPr>
              <a:t>أهداف الإنتاج غير المنطقية تؤثّر على مشرفي الإنتاج فيجرون اختباراتٍ غير ملائمة وغير كاملة للتحقّق من جودة </a:t>
            </a:r>
            <a:r>
              <a:rPr lang="ar-SA" sz="2000" dirty="0" smtClean="0">
                <a:solidFill>
                  <a:srgbClr val="0070C0"/>
                </a:solidFill>
                <a:cs typeface="MCS Jeddah S_U normal." pitchFamily="2" charset="-78"/>
              </a:rPr>
              <a:t>المنتج</a:t>
            </a:r>
            <a:endParaRPr lang="en-US" sz="2000" dirty="0" smtClean="0">
              <a:solidFill>
                <a:srgbClr val="0070C0"/>
              </a:solidFill>
              <a:cs typeface="MCS Jeddah S_U normal." pitchFamily="2" charset="-78"/>
            </a:endParaRPr>
          </a:p>
          <a:p>
            <a:pPr lvl="0">
              <a:spcBef>
                <a:spcPct val="0"/>
              </a:spcBef>
              <a:defRPr/>
            </a:pPr>
            <a:endParaRPr lang="ar-SA" sz="2000" dirty="0">
              <a:solidFill>
                <a:srgbClr val="0070C0"/>
              </a:solidFill>
              <a:cs typeface="MCS Jeddah S_U normal." pitchFamily="2" charset="-78"/>
            </a:endParaRPr>
          </a:p>
          <a:p>
            <a:pPr lvl="0">
              <a:spcBef>
                <a:spcPct val="0"/>
              </a:spcBef>
              <a:defRPr/>
            </a:pPr>
            <a:r>
              <a:rPr lang="ar-SA" sz="2800" dirty="0">
                <a:cs typeface="MCS Jeddah S_U normal." pitchFamily="2" charset="-78"/>
              </a:rPr>
              <a:t>المخاطر المهنية بالحوسبة</a:t>
            </a:r>
          </a:p>
          <a:p>
            <a:pPr lvl="0">
              <a:spcBef>
                <a:spcPct val="0"/>
              </a:spcBef>
              <a:defRPr/>
            </a:pPr>
            <a:r>
              <a:rPr lang="ar-SA" sz="2800" dirty="0" smtClean="0">
                <a:cs typeface="MCS Jeddah S_U normal." pitchFamily="2" charset="-78"/>
              </a:rPr>
              <a:t> </a:t>
            </a:r>
            <a:r>
              <a:rPr lang="ar-SA" sz="2000" dirty="0" smtClean="0">
                <a:solidFill>
                  <a:srgbClr val="0070C0"/>
                </a:solidFill>
                <a:cs typeface="MCS Jeddah S_U normal." pitchFamily="2" charset="-78"/>
              </a:rPr>
              <a:t>الإجهاد الرقمي</a:t>
            </a:r>
            <a:r>
              <a:rPr lang="en-US" sz="2000" dirty="0" smtClean="0">
                <a:solidFill>
                  <a:srgbClr val="0070C0"/>
                </a:solidFill>
                <a:cs typeface="MCS Jeddah S_U normal." pitchFamily="2" charset="-78"/>
              </a:rPr>
              <a:t> </a:t>
            </a:r>
            <a:r>
              <a:rPr lang="ar-SA" sz="2000" dirty="0" smtClean="0">
                <a:solidFill>
                  <a:srgbClr val="0070C0"/>
                </a:solidFill>
                <a:cs typeface="MCS Jeddah S_U normal." pitchFamily="2" charset="-78"/>
              </a:rPr>
              <a:t>حيث العمل </a:t>
            </a:r>
            <a:r>
              <a:rPr lang="ar-SA" sz="2000" dirty="0">
                <a:solidFill>
                  <a:srgbClr val="0070C0"/>
                </a:solidFill>
                <a:cs typeface="MCS Jeddah S_U normal." pitchFamily="2" charset="-78"/>
              </a:rPr>
              <a:t>لفترات طويلة ب</a:t>
            </a:r>
            <a:r>
              <a:rPr lang="ar-SA" sz="2000" dirty="0" smtClean="0">
                <a:solidFill>
                  <a:srgbClr val="0070C0"/>
                </a:solidFill>
                <a:cs typeface="MCS Jeddah S_U normal." pitchFamily="2" charset="-78"/>
              </a:rPr>
              <a:t>الحاسوب </a:t>
            </a:r>
            <a:r>
              <a:rPr lang="ar-SA" sz="2000" dirty="0">
                <a:solidFill>
                  <a:srgbClr val="0070C0"/>
                </a:solidFill>
                <a:cs typeface="MCS Jeddah S_U normal." pitchFamily="2" charset="-78"/>
              </a:rPr>
              <a:t>يؤدي إلى إرهاق العينين وآلام الظهر والصداع</a:t>
            </a:r>
          </a:p>
          <a:p>
            <a:pPr lvl="0">
              <a:spcBef>
                <a:spcPct val="0"/>
              </a:spcBef>
              <a:defRPr/>
            </a:pPr>
            <a:r>
              <a:rPr lang="ar-SA" sz="2000" dirty="0">
                <a:solidFill>
                  <a:srgbClr val="0070C0"/>
                </a:solidFill>
                <a:cs typeface="MCS Jeddah S_U normal." pitchFamily="2" charset="-78"/>
              </a:rPr>
              <a:t>الإرهاق </a:t>
            </a:r>
            <a:r>
              <a:rPr lang="ar-SA" sz="2000" dirty="0" smtClean="0">
                <a:solidFill>
                  <a:srgbClr val="0070C0"/>
                </a:solidFill>
                <a:cs typeface="MCS Jeddah S_U normal." pitchFamily="2" charset="-78"/>
              </a:rPr>
              <a:t>النفسي </a:t>
            </a:r>
            <a:r>
              <a:rPr lang="ar-SA" sz="2000" dirty="0">
                <a:solidFill>
                  <a:srgbClr val="0070C0"/>
                </a:solidFill>
                <a:cs typeface="MCS Jeddah S_U normal." pitchFamily="2" charset="-78"/>
              </a:rPr>
              <a:t>يشعر العديد من المتخصصين في الحوسبة بالضغط نتيجة </a:t>
            </a:r>
            <a:r>
              <a:rPr lang="ar-SA" sz="2000" dirty="0" smtClean="0">
                <a:solidFill>
                  <a:srgbClr val="0070C0"/>
                </a:solidFill>
                <a:cs typeface="MCS Jeddah S_U normal." pitchFamily="2" charset="-78"/>
              </a:rPr>
              <a:t>توقعات </a:t>
            </a:r>
            <a:r>
              <a:rPr lang="ar-SA" sz="2000" dirty="0">
                <a:solidFill>
                  <a:srgbClr val="0070C0"/>
                </a:solidFill>
                <a:cs typeface="MCS Jeddah S_U normal." pitchFamily="2" charset="-78"/>
              </a:rPr>
              <a:t>الأداء </a:t>
            </a:r>
            <a:r>
              <a:rPr lang="ar-SA" sz="2000" dirty="0" smtClean="0">
                <a:solidFill>
                  <a:srgbClr val="0070C0"/>
                </a:solidFill>
                <a:cs typeface="MCS Jeddah S_U normal." pitchFamily="2" charset="-78"/>
              </a:rPr>
              <a:t>العالية</a:t>
            </a:r>
          </a:p>
          <a:p>
            <a:pPr lvl="0">
              <a:spcBef>
                <a:spcPct val="0"/>
              </a:spcBef>
              <a:defRPr/>
            </a:pPr>
            <a:r>
              <a:rPr lang="ar-SA" sz="2000" dirty="0">
                <a:solidFill>
                  <a:srgbClr val="0070C0"/>
                </a:solidFill>
                <a:cs typeface="MCS Jeddah S_U normal." pitchFamily="2" charset="-78"/>
              </a:rPr>
              <a:t> الاعتداء السيبراني </a:t>
            </a:r>
          </a:p>
          <a:p>
            <a:pPr lvl="0">
              <a:spcBef>
                <a:spcPct val="0"/>
              </a:spcBef>
              <a:defRPr/>
            </a:pPr>
            <a:r>
              <a:rPr lang="ar-SA" sz="2000" dirty="0">
                <a:solidFill>
                  <a:srgbClr val="0070C0"/>
                </a:solidFill>
                <a:cs typeface="MCS Jeddah S_U normal." pitchFamily="2" charset="-78"/>
              </a:rPr>
              <a:t>المخاطر الصحية المرتبطة بالجلوس لفترات طويلة </a:t>
            </a:r>
          </a:p>
          <a:p>
            <a:pPr lvl="0">
              <a:spcBef>
                <a:spcPct val="0"/>
              </a:spcBef>
              <a:defRPr/>
            </a:pPr>
            <a:r>
              <a:rPr lang="ar-SA" sz="2000" dirty="0">
                <a:solidFill>
                  <a:srgbClr val="0070C0"/>
                </a:solidFill>
                <a:cs typeface="MCS Jeddah S_U normal." pitchFamily="2" charset="-78"/>
              </a:rPr>
              <a:t>العزلة الاجتماعية</a:t>
            </a:r>
          </a:p>
          <a:p>
            <a:pPr lvl="0">
              <a:spcBef>
                <a:spcPct val="0"/>
              </a:spcBef>
              <a:defRPr/>
            </a:pPr>
            <a:r>
              <a:rPr lang="ar-SA" sz="2000" dirty="0">
                <a:solidFill>
                  <a:srgbClr val="0070C0"/>
                </a:solidFill>
                <a:cs typeface="MCS Jeddah S_U normal." pitchFamily="2" charset="-78"/>
              </a:rPr>
              <a:t>الاعتماد المفرط على التكنولوجيا </a:t>
            </a:r>
          </a:p>
          <a:p>
            <a:pPr lvl="0">
              <a:spcBef>
                <a:spcPct val="0"/>
              </a:spcBef>
              <a:defRPr/>
            </a:pPr>
            <a:r>
              <a:rPr lang="ar-SA" sz="2000" dirty="0">
                <a:solidFill>
                  <a:srgbClr val="0070C0"/>
                </a:solidFill>
                <a:cs typeface="MCS Jeddah S_U normal." pitchFamily="2" charset="-78"/>
              </a:rPr>
              <a:t>المسؤولية تجاه الأخطاء البرمجية </a:t>
            </a:r>
          </a:p>
          <a:p>
            <a:pPr lvl="0">
              <a:spcBef>
                <a:spcPct val="0"/>
              </a:spcBef>
              <a:defRPr/>
            </a:pPr>
            <a:r>
              <a:rPr lang="ar-SA" sz="2000" dirty="0">
                <a:solidFill>
                  <a:srgbClr val="0070C0"/>
                </a:solidFill>
                <a:cs typeface="MCS Jeddah S_U normal." pitchFamily="2" charset="-78"/>
              </a:rPr>
              <a:t>المشكلات </a:t>
            </a:r>
            <a:r>
              <a:rPr lang="ar-SA" sz="2000" dirty="0" smtClean="0">
                <a:solidFill>
                  <a:srgbClr val="0070C0"/>
                </a:solidFill>
                <a:cs typeface="MCS Jeddah S_U normal." pitchFamily="2" charset="-78"/>
              </a:rPr>
              <a:t>الأخلاقية فقد </a:t>
            </a:r>
            <a:r>
              <a:rPr lang="ar-SA" sz="2000" dirty="0">
                <a:solidFill>
                  <a:srgbClr val="0070C0"/>
                </a:solidFill>
                <a:cs typeface="MCS Jeddah S_U normal." pitchFamily="2" charset="-78"/>
              </a:rPr>
              <a:t>يواجه المهنيون قضايا تتعلق بالخصوصية والأخلاقيات في استخدام البيانات </a:t>
            </a:r>
          </a:p>
        </p:txBody>
      </p:sp>
    </p:spTree>
    <p:extLst>
      <p:ext uri="{BB962C8B-B14F-4D97-AF65-F5344CB8AC3E}">
        <p14:creationId xmlns:p14="http://schemas.microsoft.com/office/powerpoint/2010/main" val="185008782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p:cTn id="7" dur="500" fill="hold"/>
                                        <p:tgtEl>
                                          <p:spTgt spid="2">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2">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2">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 calcmode="lin" valueType="num">
                                      <p:cBhvr>
                                        <p:cTn id="14" dur="500" fill="hold"/>
                                        <p:tgtEl>
                                          <p:spTgt spid="2">
                                            <p:txEl>
                                              <p:pRg st="2" end="2"/>
                                            </p:txEl>
                                          </p:spTgt>
                                        </p:tgtEl>
                                        <p:attrNameLst>
                                          <p:attrName>ppt_w</p:attrName>
                                        </p:attrNameLst>
                                      </p:cBhvr>
                                      <p:tavLst>
                                        <p:tav tm="0">
                                          <p:val>
                                            <p:fltVal val="0"/>
                                          </p:val>
                                        </p:tav>
                                        <p:tav tm="100000">
                                          <p:val>
                                            <p:strVal val="#ppt_w"/>
                                          </p:val>
                                        </p:tav>
                                      </p:tavLst>
                                    </p:anim>
                                    <p:anim calcmode="lin" valueType="num">
                                      <p:cBhvr>
                                        <p:cTn id="15" dur="500" fill="hold"/>
                                        <p:tgtEl>
                                          <p:spTgt spid="2">
                                            <p:txEl>
                                              <p:pRg st="2" end="2"/>
                                            </p:txEl>
                                          </p:spTgt>
                                        </p:tgtEl>
                                        <p:attrNameLst>
                                          <p:attrName>ppt_h</p:attrName>
                                        </p:attrNameLst>
                                      </p:cBhvr>
                                      <p:tavLst>
                                        <p:tav tm="0">
                                          <p:val>
                                            <p:fltVal val="0"/>
                                          </p:val>
                                        </p:tav>
                                        <p:tav tm="100000">
                                          <p:val>
                                            <p:strVal val="#ppt_h"/>
                                          </p:val>
                                        </p:tav>
                                      </p:tavLst>
                                    </p:anim>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
                                            <p:txEl>
                                              <p:pRg st="3" end="3"/>
                                            </p:txEl>
                                          </p:spTgt>
                                        </p:tgtEl>
                                        <p:attrNameLst>
                                          <p:attrName>style.visibility</p:attrName>
                                        </p:attrNameLst>
                                      </p:cBhvr>
                                      <p:to>
                                        <p:strVal val="visible"/>
                                      </p:to>
                                    </p:set>
                                    <p:anim calcmode="lin" valueType="num">
                                      <p:cBhvr>
                                        <p:cTn id="21" dur="500" fill="hold"/>
                                        <p:tgtEl>
                                          <p:spTgt spid="2">
                                            <p:txEl>
                                              <p:pRg st="3" end="3"/>
                                            </p:txEl>
                                          </p:spTgt>
                                        </p:tgtEl>
                                        <p:attrNameLst>
                                          <p:attrName>ppt_w</p:attrName>
                                        </p:attrNameLst>
                                      </p:cBhvr>
                                      <p:tavLst>
                                        <p:tav tm="0">
                                          <p:val>
                                            <p:fltVal val="0"/>
                                          </p:val>
                                        </p:tav>
                                        <p:tav tm="100000">
                                          <p:val>
                                            <p:strVal val="#ppt_w"/>
                                          </p:val>
                                        </p:tav>
                                      </p:tavLst>
                                    </p:anim>
                                    <p:anim calcmode="lin" valueType="num">
                                      <p:cBhvr>
                                        <p:cTn id="22" dur="500" fill="hold"/>
                                        <p:tgtEl>
                                          <p:spTgt spid="2">
                                            <p:txEl>
                                              <p:pRg st="3" end="3"/>
                                            </p:txEl>
                                          </p:spTgt>
                                        </p:tgtEl>
                                        <p:attrNameLst>
                                          <p:attrName>ppt_h</p:attrName>
                                        </p:attrNameLst>
                                      </p:cBhvr>
                                      <p:tavLst>
                                        <p:tav tm="0">
                                          <p:val>
                                            <p:fltVal val="0"/>
                                          </p:val>
                                        </p:tav>
                                        <p:tav tm="100000">
                                          <p:val>
                                            <p:strVal val="#ppt_h"/>
                                          </p:val>
                                        </p:tav>
                                      </p:tavLst>
                                    </p:anim>
                                    <p:animEffect transition="in" filter="fade">
                                      <p:cBhvr>
                                        <p:cTn id="23" dur="500"/>
                                        <p:tgtEl>
                                          <p:spTgt spid="2">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
                                            <p:txEl>
                                              <p:pRg st="5" end="5"/>
                                            </p:txEl>
                                          </p:spTgt>
                                        </p:tgtEl>
                                        <p:attrNameLst>
                                          <p:attrName>style.visibility</p:attrName>
                                        </p:attrNameLst>
                                      </p:cBhvr>
                                      <p:to>
                                        <p:strVal val="visible"/>
                                      </p:to>
                                    </p:set>
                                    <p:anim calcmode="lin" valueType="num">
                                      <p:cBhvr>
                                        <p:cTn id="28" dur="500" fill="hold"/>
                                        <p:tgtEl>
                                          <p:spTgt spid="2">
                                            <p:txEl>
                                              <p:pRg st="5" end="5"/>
                                            </p:txEl>
                                          </p:spTgt>
                                        </p:tgtEl>
                                        <p:attrNameLst>
                                          <p:attrName>ppt_w</p:attrName>
                                        </p:attrNameLst>
                                      </p:cBhvr>
                                      <p:tavLst>
                                        <p:tav tm="0">
                                          <p:val>
                                            <p:fltVal val="0"/>
                                          </p:val>
                                        </p:tav>
                                        <p:tav tm="100000">
                                          <p:val>
                                            <p:strVal val="#ppt_w"/>
                                          </p:val>
                                        </p:tav>
                                      </p:tavLst>
                                    </p:anim>
                                    <p:anim calcmode="lin" valueType="num">
                                      <p:cBhvr>
                                        <p:cTn id="29" dur="500" fill="hold"/>
                                        <p:tgtEl>
                                          <p:spTgt spid="2">
                                            <p:txEl>
                                              <p:pRg st="5" end="5"/>
                                            </p:txEl>
                                          </p:spTgt>
                                        </p:tgtEl>
                                        <p:attrNameLst>
                                          <p:attrName>ppt_h</p:attrName>
                                        </p:attrNameLst>
                                      </p:cBhvr>
                                      <p:tavLst>
                                        <p:tav tm="0">
                                          <p:val>
                                            <p:fltVal val="0"/>
                                          </p:val>
                                        </p:tav>
                                        <p:tav tm="100000">
                                          <p:val>
                                            <p:strVal val="#ppt_h"/>
                                          </p:val>
                                        </p:tav>
                                      </p:tavLst>
                                    </p:anim>
                                    <p:animEffect transition="in" filter="fade">
                                      <p:cBhvr>
                                        <p:cTn id="30" dur="500"/>
                                        <p:tgtEl>
                                          <p:spTgt spid="2">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2">
                                            <p:txEl>
                                              <p:pRg st="6" end="6"/>
                                            </p:txEl>
                                          </p:spTgt>
                                        </p:tgtEl>
                                        <p:attrNameLst>
                                          <p:attrName>style.visibility</p:attrName>
                                        </p:attrNameLst>
                                      </p:cBhvr>
                                      <p:to>
                                        <p:strVal val="visible"/>
                                      </p:to>
                                    </p:set>
                                    <p:anim calcmode="lin" valueType="num">
                                      <p:cBhvr>
                                        <p:cTn id="35" dur="500" fill="hold"/>
                                        <p:tgtEl>
                                          <p:spTgt spid="2">
                                            <p:txEl>
                                              <p:pRg st="6" end="6"/>
                                            </p:txEl>
                                          </p:spTgt>
                                        </p:tgtEl>
                                        <p:attrNameLst>
                                          <p:attrName>ppt_w</p:attrName>
                                        </p:attrNameLst>
                                      </p:cBhvr>
                                      <p:tavLst>
                                        <p:tav tm="0">
                                          <p:val>
                                            <p:fltVal val="0"/>
                                          </p:val>
                                        </p:tav>
                                        <p:tav tm="100000">
                                          <p:val>
                                            <p:strVal val="#ppt_w"/>
                                          </p:val>
                                        </p:tav>
                                      </p:tavLst>
                                    </p:anim>
                                    <p:anim calcmode="lin" valueType="num">
                                      <p:cBhvr>
                                        <p:cTn id="36" dur="500" fill="hold"/>
                                        <p:tgtEl>
                                          <p:spTgt spid="2">
                                            <p:txEl>
                                              <p:pRg st="6" end="6"/>
                                            </p:txEl>
                                          </p:spTgt>
                                        </p:tgtEl>
                                        <p:attrNameLst>
                                          <p:attrName>ppt_h</p:attrName>
                                        </p:attrNameLst>
                                      </p:cBhvr>
                                      <p:tavLst>
                                        <p:tav tm="0">
                                          <p:val>
                                            <p:fltVal val="0"/>
                                          </p:val>
                                        </p:tav>
                                        <p:tav tm="100000">
                                          <p:val>
                                            <p:strVal val="#ppt_h"/>
                                          </p:val>
                                        </p:tav>
                                      </p:tavLst>
                                    </p:anim>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 calcmode="lin" valueType="num">
                                      <p:cBhvr>
                                        <p:cTn id="42" dur="500" fill="hold"/>
                                        <p:tgtEl>
                                          <p:spTgt spid="2">
                                            <p:txEl>
                                              <p:pRg st="7" end="7"/>
                                            </p:txEl>
                                          </p:spTgt>
                                        </p:tgtEl>
                                        <p:attrNameLst>
                                          <p:attrName>ppt_w</p:attrName>
                                        </p:attrNameLst>
                                      </p:cBhvr>
                                      <p:tavLst>
                                        <p:tav tm="0">
                                          <p:val>
                                            <p:fltVal val="0"/>
                                          </p:val>
                                        </p:tav>
                                        <p:tav tm="100000">
                                          <p:val>
                                            <p:strVal val="#ppt_w"/>
                                          </p:val>
                                        </p:tav>
                                      </p:tavLst>
                                    </p:anim>
                                    <p:anim calcmode="lin" valueType="num">
                                      <p:cBhvr>
                                        <p:cTn id="43" dur="500" fill="hold"/>
                                        <p:tgtEl>
                                          <p:spTgt spid="2">
                                            <p:txEl>
                                              <p:pRg st="7" end="7"/>
                                            </p:txEl>
                                          </p:spTgt>
                                        </p:tgtEl>
                                        <p:attrNameLst>
                                          <p:attrName>ppt_h</p:attrName>
                                        </p:attrNameLst>
                                      </p:cBhvr>
                                      <p:tavLst>
                                        <p:tav tm="0">
                                          <p:val>
                                            <p:fltVal val="0"/>
                                          </p:val>
                                        </p:tav>
                                        <p:tav tm="100000">
                                          <p:val>
                                            <p:strVal val="#ppt_h"/>
                                          </p:val>
                                        </p:tav>
                                      </p:tavLst>
                                    </p:anim>
                                    <p:animEffect transition="in" filter="fade">
                                      <p:cBhvr>
                                        <p:cTn id="44" dur="500"/>
                                        <p:tgtEl>
                                          <p:spTgt spid="2">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nodeType="clickEffect">
                                  <p:stCondLst>
                                    <p:cond delay="0"/>
                                  </p:stCondLst>
                                  <p:childTnLst>
                                    <p:set>
                                      <p:cBhvr>
                                        <p:cTn id="48" dur="1" fill="hold">
                                          <p:stCondLst>
                                            <p:cond delay="0"/>
                                          </p:stCondLst>
                                        </p:cTn>
                                        <p:tgtEl>
                                          <p:spTgt spid="2">
                                            <p:txEl>
                                              <p:pRg st="8" end="8"/>
                                            </p:txEl>
                                          </p:spTgt>
                                        </p:tgtEl>
                                        <p:attrNameLst>
                                          <p:attrName>style.visibility</p:attrName>
                                        </p:attrNameLst>
                                      </p:cBhvr>
                                      <p:to>
                                        <p:strVal val="visible"/>
                                      </p:to>
                                    </p:set>
                                    <p:anim calcmode="lin" valueType="num">
                                      <p:cBhvr>
                                        <p:cTn id="49" dur="500" fill="hold"/>
                                        <p:tgtEl>
                                          <p:spTgt spid="2">
                                            <p:txEl>
                                              <p:pRg st="8" end="8"/>
                                            </p:txEl>
                                          </p:spTgt>
                                        </p:tgtEl>
                                        <p:attrNameLst>
                                          <p:attrName>ppt_w</p:attrName>
                                        </p:attrNameLst>
                                      </p:cBhvr>
                                      <p:tavLst>
                                        <p:tav tm="0">
                                          <p:val>
                                            <p:fltVal val="0"/>
                                          </p:val>
                                        </p:tav>
                                        <p:tav tm="100000">
                                          <p:val>
                                            <p:strVal val="#ppt_w"/>
                                          </p:val>
                                        </p:tav>
                                      </p:tavLst>
                                    </p:anim>
                                    <p:anim calcmode="lin" valueType="num">
                                      <p:cBhvr>
                                        <p:cTn id="50" dur="500" fill="hold"/>
                                        <p:tgtEl>
                                          <p:spTgt spid="2">
                                            <p:txEl>
                                              <p:pRg st="8" end="8"/>
                                            </p:txEl>
                                          </p:spTgt>
                                        </p:tgtEl>
                                        <p:attrNameLst>
                                          <p:attrName>ppt_h</p:attrName>
                                        </p:attrNameLst>
                                      </p:cBhvr>
                                      <p:tavLst>
                                        <p:tav tm="0">
                                          <p:val>
                                            <p:fltVal val="0"/>
                                          </p:val>
                                        </p:tav>
                                        <p:tav tm="100000">
                                          <p:val>
                                            <p:strVal val="#ppt_h"/>
                                          </p:val>
                                        </p:tav>
                                      </p:tavLst>
                                    </p:anim>
                                    <p:animEffect transition="in" filter="fade">
                                      <p:cBhvr>
                                        <p:cTn id="51" dur="500"/>
                                        <p:tgtEl>
                                          <p:spTgt spid="2">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nodeType="clickEffect">
                                  <p:stCondLst>
                                    <p:cond delay="0"/>
                                  </p:stCondLst>
                                  <p:childTnLst>
                                    <p:set>
                                      <p:cBhvr>
                                        <p:cTn id="55" dur="1" fill="hold">
                                          <p:stCondLst>
                                            <p:cond delay="0"/>
                                          </p:stCondLst>
                                        </p:cTn>
                                        <p:tgtEl>
                                          <p:spTgt spid="2">
                                            <p:txEl>
                                              <p:pRg st="9" end="9"/>
                                            </p:txEl>
                                          </p:spTgt>
                                        </p:tgtEl>
                                        <p:attrNameLst>
                                          <p:attrName>style.visibility</p:attrName>
                                        </p:attrNameLst>
                                      </p:cBhvr>
                                      <p:to>
                                        <p:strVal val="visible"/>
                                      </p:to>
                                    </p:set>
                                    <p:anim calcmode="lin" valueType="num">
                                      <p:cBhvr>
                                        <p:cTn id="56" dur="500" fill="hold"/>
                                        <p:tgtEl>
                                          <p:spTgt spid="2">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2">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2">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nodeType="clickEffect">
                                  <p:stCondLst>
                                    <p:cond delay="0"/>
                                  </p:stCondLst>
                                  <p:childTnLst>
                                    <p:set>
                                      <p:cBhvr>
                                        <p:cTn id="62" dur="1" fill="hold">
                                          <p:stCondLst>
                                            <p:cond delay="0"/>
                                          </p:stCondLst>
                                        </p:cTn>
                                        <p:tgtEl>
                                          <p:spTgt spid="2">
                                            <p:txEl>
                                              <p:pRg st="10" end="10"/>
                                            </p:txEl>
                                          </p:spTgt>
                                        </p:tgtEl>
                                        <p:attrNameLst>
                                          <p:attrName>style.visibility</p:attrName>
                                        </p:attrNameLst>
                                      </p:cBhvr>
                                      <p:to>
                                        <p:strVal val="visible"/>
                                      </p:to>
                                    </p:set>
                                    <p:anim calcmode="lin" valueType="num">
                                      <p:cBhvr>
                                        <p:cTn id="63" dur="500" fill="hold"/>
                                        <p:tgtEl>
                                          <p:spTgt spid="2">
                                            <p:txEl>
                                              <p:pRg st="10" end="10"/>
                                            </p:txEl>
                                          </p:spTgt>
                                        </p:tgtEl>
                                        <p:attrNameLst>
                                          <p:attrName>ppt_w</p:attrName>
                                        </p:attrNameLst>
                                      </p:cBhvr>
                                      <p:tavLst>
                                        <p:tav tm="0">
                                          <p:val>
                                            <p:fltVal val="0"/>
                                          </p:val>
                                        </p:tav>
                                        <p:tav tm="100000">
                                          <p:val>
                                            <p:strVal val="#ppt_w"/>
                                          </p:val>
                                        </p:tav>
                                      </p:tavLst>
                                    </p:anim>
                                    <p:anim calcmode="lin" valueType="num">
                                      <p:cBhvr>
                                        <p:cTn id="64" dur="500" fill="hold"/>
                                        <p:tgtEl>
                                          <p:spTgt spid="2">
                                            <p:txEl>
                                              <p:pRg st="10" end="10"/>
                                            </p:txEl>
                                          </p:spTgt>
                                        </p:tgtEl>
                                        <p:attrNameLst>
                                          <p:attrName>ppt_h</p:attrName>
                                        </p:attrNameLst>
                                      </p:cBhvr>
                                      <p:tavLst>
                                        <p:tav tm="0">
                                          <p:val>
                                            <p:fltVal val="0"/>
                                          </p:val>
                                        </p:tav>
                                        <p:tav tm="100000">
                                          <p:val>
                                            <p:strVal val="#ppt_h"/>
                                          </p:val>
                                        </p:tav>
                                      </p:tavLst>
                                    </p:anim>
                                    <p:animEffect transition="in" filter="fade">
                                      <p:cBhvr>
                                        <p:cTn id="65" dur="500"/>
                                        <p:tgtEl>
                                          <p:spTgt spid="2">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nodeType="clickEffect">
                                  <p:stCondLst>
                                    <p:cond delay="0"/>
                                  </p:stCondLst>
                                  <p:childTnLst>
                                    <p:set>
                                      <p:cBhvr>
                                        <p:cTn id="69" dur="1" fill="hold">
                                          <p:stCondLst>
                                            <p:cond delay="0"/>
                                          </p:stCondLst>
                                        </p:cTn>
                                        <p:tgtEl>
                                          <p:spTgt spid="2">
                                            <p:txEl>
                                              <p:pRg st="11" end="11"/>
                                            </p:txEl>
                                          </p:spTgt>
                                        </p:tgtEl>
                                        <p:attrNameLst>
                                          <p:attrName>style.visibility</p:attrName>
                                        </p:attrNameLst>
                                      </p:cBhvr>
                                      <p:to>
                                        <p:strVal val="visible"/>
                                      </p:to>
                                    </p:set>
                                    <p:anim calcmode="lin" valueType="num">
                                      <p:cBhvr>
                                        <p:cTn id="70" dur="500" fill="hold"/>
                                        <p:tgtEl>
                                          <p:spTgt spid="2">
                                            <p:txEl>
                                              <p:pRg st="11" end="11"/>
                                            </p:txEl>
                                          </p:spTgt>
                                        </p:tgtEl>
                                        <p:attrNameLst>
                                          <p:attrName>ppt_w</p:attrName>
                                        </p:attrNameLst>
                                      </p:cBhvr>
                                      <p:tavLst>
                                        <p:tav tm="0">
                                          <p:val>
                                            <p:fltVal val="0"/>
                                          </p:val>
                                        </p:tav>
                                        <p:tav tm="100000">
                                          <p:val>
                                            <p:strVal val="#ppt_w"/>
                                          </p:val>
                                        </p:tav>
                                      </p:tavLst>
                                    </p:anim>
                                    <p:anim calcmode="lin" valueType="num">
                                      <p:cBhvr>
                                        <p:cTn id="71" dur="500" fill="hold"/>
                                        <p:tgtEl>
                                          <p:spTgt spid="2">
                                            <p:txEl>
                                              <p:pRg st="11" end="11"/>
                                            </p:txEl>
                                          </p:spTgt>
                                        </p:tgtEl>
                                        <p:attrNameLst>
                                          <p:attrName>ppt_h</p:attrName>
                                        </p:attrNameLst>
                                      </p:cBhvr>
                                      <p:tavLst>
                                        <p:tav tm="0">
                                          <p:val>
                                            <p:fltVal val="0"/>
                                          </p:val>
                                        </p:tav>
                                        <p:tav tm="100000">
                                          <p:val>
                                            <p:strVal val="#ppt_h"/>
                                          </p:val>
                                        </p:tav>
                                      </p:tavLst>
                                    </p:anim>
                                    <p:animEffect transition="in" filter="fade">
                                      <p:cBhvr>
                                        <p:cTn id="72" dur="500"/>
                                        <p:tgtEl>
                                          <p:spTgt spid="2">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nodeType="clickEffect">
                                  <p:stCondLst>
                                    <p:cond delay="0"/>
                                  </p:stCondLst>
                                  <p:childTnLst>
                                    <p:set>
                                      <p:cBhvr>
                                        <p:cTn id="76" dur="1" fill="hold">
                                          <p:stCondLst>
                                            <p:cond delay="0"/>
                                          </p:stCondLst>
                                        </p:cTn>
                                        <p:tgtEl>
                                          <p:spTgt spid="2">
                                            <p:txEl>
                                              <p:pRg st="12" end="12"/>
                                            </p:txEl>
                                          </p:spTgt>
                                        </p:tgtEl>
                                        <p:attrNameLst>
                                          <p:attrName>style.visibility</p:attrName>
                                        </p:attrNameLst>
                                      </p:cBhvr>
                                      <p:to>
                                        <p:strVal val="visible"/>
                                      </p:to>
                                    </p:set>
                                    <p:anim calcmode="lin" valueType="num">
                                      <p:cBhvr>
                                        <p:cTn id="77" dur="500" fill="hold"/>
                                        <p:tgtEl>
                                          <p:spTgt spid="2">
                                            <p:txEl>
                                              <p:pRg st="12" end="12"/>
                                            </p:txEl>
                                          </p:spTgt>
                                        </p:tgtEl>
                                        <p:attrNameLst>
                                          <p:attrName>ppt_w</p:attrName>
                                        </p:attrNameLst>
                                      </p:cBhvr>
                                      <p:tavLst>
                                        <p:tav tm="0">
                                          <p:val>
                                            <p:fltVal val="0"/>
                                          </p:val>
                                        </p:tav>
                                        <p:tav tm="100000">
                                          <p:val>
                                            <p:strVal val="#ppt_w"/>
                                          </p:val>
                                        </p:tav>
                                      </p:tavLst>
                                    </p:anim>
                                    <p:anim calcmode="lin" valueType="num">
                                      <p:cBhvr>
                                        <p:cTn id="78" dur="500" fill="hold"/>
                                        <p:tgtEl>
                                          <p:spTgt spid="2">
                                            <p:txEl>
                                              <p:pRg st="12" end="12"/>
                                            </p:txEl>
                                          </p:spTgt>
                                        </p:tgtEl>
                                        <p:attrNameLst>
                                          <p:attrName>ppt_h</p:attrName>
                                        </p:attrNameLst>
                                      </p:cBhvr>
                                      <p:tavLst>
                                        <p:tav tm="0">
                                          <p:val>
                                            <p:fltVal val="0"/>
                                          </p:val>
                                        </p:tav>
                                        <p:tav tm="100000">
                                          <p:val>
                                            <p:strVal val="#ppt_h"/>
                                          </p:val>
                                        </p:tav>
                                      </p:tavLst>
                                    </p:anim>
                                    <p:animEffect transition="in" filter="fade">
                                      <p:cBhvr>
                                        <p:cTn id="79" dur="500"/>
                                        <p:tgtEl>
                                          <p:spTgt spid="2">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nodeType="clickEffect">
                                  <p:stCondLst>
                                    <p:cond delay="0"/>
                                  </p:stCondLst>
                                  <p:childTnLst>
                                    <p:set>
                                      <p:cBhvr>
                                        <p:cTn id="83" dur="1" fill="hold">
                                          <p:stCondLst>
                                            <p:cond delay="0"/>
                                          </p:stCondLst>
                                        </p:cTn>
                                        <p:tgtEl>
                                          <p:spTgt spid="2">
                                            <p:txEl>
                                              <p:pRg st="13" end="13"/>
                                            </p:txEl>
                                          </p:spTgt>
                                        </p:tgtEl>
                                        <p:attrNameLst>
                                          <p:attrName>style.visibility</p:attrName>
                                        </p:attrNameLst>
                                      </p:cBhvr>
                                      <p:to>
                                        <p:strVal val="visible"/>
                                      </p:to>
                                    </p:set>
                                    <p:anim calcmode="lin" valueType="num">
                                      <p:cBhvr>
                                        <p:cTn id="84" dur="500" fill="hold"/>
                                        <p:tgtEl>
                                          <p:spTgt spid="2">
                                            <p:txEl>
                                              <p:pRg st="13" end="13"/>
                                            </p:txEl>
                                          </p:spTgt>
                                        </p:tgtEl>
                                        <p:attrNameLst>
                                          <p:attrName>ppt_w</p:attrName>
                                        </p:attrNameLst>
                                      </p:cBhvr>
                                      <p:tavLst>
                                        <p:tav tm="0">
                                          <p:val>
                                            <p:fltVal val="0"/>
                                          </p:val>
                                        </p:tav>
                                        <p:tav tm="100000">
                                          <p:val>
                                            <p:strVal val="#ppt_w"/>
                                          </p:val>
                                        </p:tav>
                                      </p:tavLst>
                                    </p:anim>
                                    <p:anim calcmode="lin" valueType="num">
                                      <p:cBhvr>
                                        <p:cTn id="85" dur="500" fill="hold"/>
                                        <p:tgtEl>
                                          <p:spTgt spid="2">
                                            <p:txEl>
                                              <p:pRg st="13" end="13"/>
                                            </p:txEl>
                                          </p:spTgt>
                                        </p:tgtEl>
                                        <p:attrNameLst>
                                          <p:attrName>ppt_h</p:attrName>
                                        </p:attrNameLst>
                                      </p:cBhvr>
                                      <p:tavLst>
                                        <p:tav tm="0">
                                          <p:val>
                                            <p:fltVal val="0"/>
                                          </p:val>
                                        </p:tav>
                                        <p:tav tm="100000">
                                          <p:val>
                                            <p:strVal val="#ppt_h"/>
                                          </p:val>
                                        </p:tav>
                                      </p:tavLst>
                                    </p:anim>
                                    <p:animEffect transition="in" filter="fade">
                                      <p:cBhvr>
                                        <p:cTn id="86" dur="500"/>
                                        <p:tgtEl>
                                          <p:spTgt spid="2">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468560" y="592812"/>
            <a:ext cx="7704856" cy="1107996"/>
          </a:xfrm>
          <a:prstGeom prst="rect">
            <a:avLst/>
          </a:prstGeom>
        </p:spPr>
        <p:txBody>
          <a:bodyPr wrap="square">
            <a:spAutoFit/>
          </a:bodyPr>
          <a:lstStyle/>
          <a:p>
            <a:pPr>
              <a:defRPr/>
            </a:pPr>
            <a:r>
              <a:rPr lang="ar-SA" sz="6600" b="1" dirty="0" smtClean="0">
                <a:ln w="18415" cmpd="sng">
                  <a:solidFill>
                    <a:srgbClr val="FFFFFF"/>
                  </a:solidFill>
                  <a:prstDash val="solid"/>
                </a:ln>
                <a:solidFill>
                  <a:srgbClr val="FF0000"/>
                </a:solidFill>
                <a:effectLst>
                  <a:glow rad="76200">
                    <a:srgbClr val="FFFF00"/>
                  </a:glow>
                  <a:outerShdw blurRad="63500" dir="3600000" algn="tl" rotWithShape="0">
                    <a:srgbClr val="000000">
                      <a:alpha val="70000"/>
                    </a:srgbClr>
                  </a:outerShdw>
                </a:effectLst>
                <a:latin typeface="Al hosam"/>
                <a:ea typeface="Times New Roman" pitchFamily="18" charset="0"/>
                <a:cs typeface="AL-Hosam" pitchFamily="2" charset="-78"/>
              </a:rPr>
              <a:t>موضوعات  المحاضرة </a:t>
            </a:r>
            <a:endParaRPr lang="en-US" sz="6600" b="1" dirty="0">
              <a:ln w="18415" cmpd="sng">
                <a:solidFill>
                  <a:srgbClr val="FFFFFF"/>
                </a:solidFill>
                <a:prstDash val="solid"/>
              </a:ln>
              <a:solidFill>
                <a:srgbClr val="FF0000"/>
              </a:solidFill>
              <a:effectLst>
                <a:glow rad="762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p:txBody>
      </p:sp>
      <p:sp>
        <p:nvSpPr>
          <p:cNvPr id="3" name="Flowchart: Multidocument 2"/>
          <p:cNvSpPr/>
          <p:nvPr/>
        </p:nvSpPr>
        <p:spPr>
          <a:xfrm>
            <a:off x="899592" y="2420888"/>
            <a:ext cx="7257473" cy="1296144"/>
          </a:xfrm>
          <a:prstGeom prst="flowChartMultidocument">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600" dirty="0">
                <a:solidFill>
                  <a:srgbClr val="FFFF00"/>
                </a:solidFill>
                <a:cs typeface="MCS Jeddah S_U normal." pitchFamily="2" charset="-78"/>
              </a:rPr>
              <a:t>الملكية الفكرية بالحوسبة</a:t>
            </a:r>
          </a:p>
        </p:txBody>
      </p:sp>
      <p:sp>
        <p:nvSpPr>
          <p:cNvPr id="4" name="Flowchart: Multidocument 3"/>
          <p:cNvSpPr/>
          <p:nvPr/>
        </p:nvSpPr>
        <p:spPr>
          <a:xfrm>
            <a:off x="981905" y="4121204"/>
            <a:ext cx="7175160" cy="1656184"/>
          </a:xfrm>
          <a:prstGeom prst="flowChartMultidocument">
            <a:avLst/>
          </a:prstGeom>
          <a:solidFill>
            <a:srgbClr val="FF00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ar-SA" sz="3200" dirty="0">
                <a:solidFill>
                  <a:srgbClr val="FFFF00"/>
                </a:solidFill>
                <a:cs typeface="MCS Jeddah S_U normal." pitchFamily="2" charset="-78"/>
              </a:rPr>
              <a:t>عمليات تامين الحوسبة المهنية</a:t>
            </a:r>
          </a:p>
        </p:txBody>
      </p:sp>
    </p:spTree>
    <p:extLst>
      <p:ext uri="{BB962C8B-B14F-4D97-AF65-F5344CB8AC3E}">
        <p14:creationId xmlns:p14="http://schemas.microsoft.com/office/powerpoint/2010/main" val="19122997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1487756" y="-1400384"/>
            <a:ext cx="6017994" cy="2800767"/>
          </a:xfrm>
          <a:prstGeom prst="rect">
            <a:avLst/>
          </a:prstGeom>
        </p:spPr>
        <p:txBody>
          <a:bodyPr wrap="none">
            <a:spAutoFit/>
          </a:bodyPr>
          <a:lstStyle/>
          <a:p>
            <a:pPr algn="ctr">
              <a:defRPr/>
            </a:pP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a:p>
            <a:pPr algn="ctr">
              <a:defRPr/>
            </a:pPr>
            <a:endParaRPr lang="en-US" sz="7200" b="1" dirty="0" smtClean="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a:p>
            <a:pPr algn="ctr">
              <a:defRPr/>
            </a:pPr>
            <a:r>
              <a:rPr lang="ar-SA" sz="6000" dirty="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rPr>
              <a:t>الملكية الفكرية بالحوسبة</a:t>
            </a:r>
          </a:p>
        </p:txBody>
      </p:sp>
      <p:sp>
        <p:nvSpPr>
          <p:cNvPr id="5" name="Rectangle 4"/>
          <p:cNvSpPr/>
          <p:nvPr/>
        </p:nvSpPr>
        <p:spPr>
          <a:xfrm>
            <a:off x="2267745" y="2132856"/>
            <a:ext cx="4824535" cy="2308324"/>
          </a:xfrm>
          <a:prstGeom prst="rect">
            <a:avLst/>
          </a:prstGeom>
        </p:spPr>
        <p:txBody>
          <a:bodyPr wrap="square">
            <a:spAutoFit/>
          </a:bodyPr>
          <a:lstStyle/>
          <a:p>
            <a:pPr algn="ctr"/>
            <a:endParaRPr lang="ar-SA" sz="7200" dirty="0" smtClean="0">
              <a:cs typeface="MCS Jeddah S_U normal." pitchFamily="2" charset="-78"/>
            </a:endParaRPr>
          </a:p>
          <a:p>
            <a:pPr algn="ctr"/>
            <a:endParaRPr lang="en-US" sz="7200" dirty="0">
              <a:cs typeface="MCS Jeddah S_U normal." pitchFamily="2" charset="-78"/>
            </a:endParaRPr>
          </a:p>
        </p:txBody>
      </p:sp>
      <p:sp>
        <p:nvSpPr>
          <p:cNvPr id="6" name="Rectangle 5"/>
          <p:cNvSpPr/>
          <p:nvPr/>
        </p:nvSpPr>
        <p:spPr>
          <a:xfrm>
            <a:off x="611560" y="2270482"/>
            <a:ext cx="8208912" cy="769441"/>
          </a:xfrm>
          <a:prstGeom prst="rect">
            <a:avLst/>
          </a:prstGeom>
        </p:spPr>
        <p:txBody>
          <a:bodyPr wrap="square">
            <a:spAutoFit/>
          </a:bodyPr>
          <a:lstStyle/>
          <a:p>
            <a:pPr algn="ct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p:txBody>
      </p:sp>
      <p:sp>
        <p:nvSpPr>
          <p:cNvPr id="8" name="Rectangle 7"/>
          <p:cNvSpPr/>
          <p:nvPr/>
        </p:nvSpPr>
        <p:spPr>
          <a:xfrm>
            <a:off x="1013484" y="4042639"/>
            <a:ext cx="6906290" cy="2445116"/>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حقوق الطبع </a:t>
            </a:r>
            <a:r>
              <a:rPr lang="ar-SA" sz="4000" dirty="0" smtClean="0">
                <a:solidFill>
                  <a:prstClr val="black"/>
                </a:solidFill>
                <a:cs typeface="MCS Jeddah S_U normal." pitchFamily="2" charset="-78"/>
              </a:rPr>
              <a:t>والنشر</a:t>
            </a:r>
          </a:p>
          <a:p>
            <a:r>
              <a:rPr lang="ar-SA" sz="2800" dirty="0" smtClean="0">
                <a:solidFill>
                  <a:prstClr val="black"/>
                </a:solidFill>
                <a:cs typeface="MCS Jeddah S_U normal." pitchFamily="2" charset="-78"/>
              </a:rPr>
              <a:t>تُستخدم </a:t>
            </a:r>
            <a:r>
              <a:rPr lang="ar-SA" sz="2800" dirty="0">
                <a:solidFill>
                  <a:prstClr val="black"/>
                </a:solidFill>
                <a:cs typeface="MCS Jeddah S_U normal." pitchFamily="2" charset="-78"/>
              </a:rPr>
              <a:t>لحماية الأعمال الأصلية مثل البرمجيات </a:t>
            </a:r>
            <a:r>
              <a:rPr lang="ar-SA" sz="2800" dirty="0" smtClean="0">
                <a:solidFill>
                  <a:prstClr val="black"/>
                </a:solidFill>
                <a:cs typeface="MCS Jeddah S_U normal." pitchFamily="2" charset="-78"/>
              </a:rPr>
              <a:t>ومن </a:t>
            </a:r>
            <a:r>
              <a:rPr lang="ar-SA" sz="2800" dirty="0">
                <a:solidFill>
                  <a:prstClr val="black"/>
                </a:solidFill>
                <a:cs typeface="MCS Jeddah S_U normal." pitchFamily="2" charset="-78"/>
              </a:rPr>
              <a:t>خلال حقوق الطبع والنشر يُمنح المبدعون حق التحكم في كيفية استخدام أعمالهم وتوزيعها</a:t>
            </a:r>
          </a:p>
        </p:txBody>
      </p:sp>
      <p:sp>
        <p:nvSpPr>
          <p:cNvPr id="3" name="Rectangle 2"/>
          <p:cNvSpPr/>
          <p:nvPr/>
        </p:nvSpPr>
        <p:spPr>
          <a:xfrm>
            <a:off x="358934" y="1658244"/>
            <a:ext cx="7560840" cy="2246769"/>
          </a:xfrm>
          <a:prstGeom prst="rect">
            <a:avLst/>
          </a:prstGeom>
        </p:spPr>
        <p:txBody>
          <a:bodyPr wrap="square">
            <a:spAutoFit/>
          </a:bodyPr>
          <a:lstStyle/>
          <a:p>
            <a:r>
              <a:rPr lang="ar-SA" sz="2800" dirty="0" smtClean="0">
                <a:solidFill>
                  <a:srgbClr val="FFFF00"/>
                </a:solidFill>
                <a:cs typeface="MCS Jeddah S_U normal." pitchFamily="2" charset="-78"/>
              </a:rPr>
              <a:t>بتعني </a:t>
            </a:r>
            <a:r>
              <a:rPr lang="ar-SA" sz="2800" dirty="0">
                <a:solidFill>
                  <a:srgbClr val="FFFF00"/>
                </a:solidFill>
                <a:cs typeface="MCS Jeddah S_U normal." pitchFamily="2" charset="-78"/>
              </a:rPr>
              <a:t>الملكية الفكرية إلى حقوق الأفراد والشركات في حماية </a:t>
            </a:r>
            <a:r>
              <a:rPr lang="ar-SA" sz="2800" dirty="0" smtClean="0">
                <a:solidFill>
                  <a:srgbClr val="FFFF00"/>
                </a:solidFill>
                <a:cs typeface="MCS Jeddah S_U normal." pitchFamily="2" charset="-78"/>
              </a:rPr>
              <a:t>المنتجات والابتكارات </a:t>
            </a:r>
            <a:r>
              <a:rPr lang="ar-SA" sz="2800" dirty="0">
                <a:solidFill>
                  <a:srgbClr val="FFFF00"/>
                </a:solidFill>
                <a:cs typeface="MCS Jeddah S_U normal." pitchFamily="2" charset="-78"/>
              </a:rPr>
              <a:t>والأعمال التي </a:t>
            </a:r>
            <a:r>
              <a:rPr lang="ar-SA" sz="2800" dirty="0" smtClean="0">
                <a:solidFill>
                  <a:srgbClr val="FFFF00"/>
                </a:solidFill>
                <a:cs typeface="MCS Jeddah S_U normal." pitchFamily="2" charset="-78"/>
              </a:rPr>
              <a:t>ينشئونها ويطورونها  في </a:t>
            </a:r>
            <a:r>
              <a:rPr lang="ar-SA" sz="2800" dirty="0">
                <a:solidFill>
                  <a:srgbClr val="FFFF00"/>
                </a:solidFill>
                <a:cs typeface="MCS Jeddah S_U normal." pitchFamily="2" charset="-78"/>
              </a:rPr>
              <a:t>مجالات البرمجيات والتطبيقات  والمحتوى الرقمي والتقنيات </a:t>
            </a:r>
            <a:r>
              <a:rPr lang="ar-SA" sz="2800" dirty="0" smtClean="0">
                <a:solidFill>
                  <a:srgbClr val="FFFF00"/>
                </a:solidFill>
                <a:cs typeface="MCS Jeddah S_U normal." pitchFamily="2" charset="-78"/>
              </a:rPr>
              <a:t> الأخرى </a:t>
            </a:r>
            <a:r>
              <a:rPr lang="ar-SA" sz="2800" dirty="0">
                <a:solidFill>
                  <a:srgbClr val="FFFF00"/>
                </a:solidFill>
                <a:cs typeface="MCS Jeddah S_U normal." pitchFamily="2" charset="-78"/>
              </a:rPr>
              <a:t>ويشمل ذلك عدة مجالات رئيسية لحماية الملكية الفكرية واهمها هو  :</a:t>
            </a:r>
          </a:p>
        </p:txBody>
      </p:sp>
    </p:spTree>
    <p:extLst>
      <p:ext uri="{BB962C8B-B14F-4D97-AF65-F5344CB8AC3E}">
        <p14:creationId xmlns:p14="http://schemas.microsoft.com/office/powerpoint/2010/main" val="2482292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7425914" y="-1694984"/>
            <a:ext cx="1712327" cy="2092881"/>
          </a:xfrm>
          <a:prstGeom prst="rect">
            <a:avLst/>
          </a:prstGeom>
        </p:spPr>
        <p:txBody>
          <a:bodyPr wrap="none">
            <a:spAutoFit/>
          </a:bodyPr>
          <a:lstStyle/>
          <a:p>
            <a:pPr algn="ctr">
              <a:defRPr/>
            </a:pP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a:p>
            <a:pPr algn="ctr">
              <a:defRPr/>
            </a:pPr>
            <a:endParaRPr lang="en-US" sz="7200" b="1" dirty="0" smtClean="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a:p>
            <a:pPr algn="ctr">
              <a:defRPr/>
            </a:pPr>
            <a:r>
              <a:rPr lang="ar-SA" sz="1400" dirty="0">
                <a:solidFill>
                  <a:srgbClr val="FFFF00"/>
                </a:solidFill>
                <a:cs typeface="MCS Jeddah S_U normal." pitchFamily="2" charset="-78"/>
              </a:rPr>
              <a:t>الملكية الفكرية بالحوسبة</a:t>
            </a:r>
          </a:p>
        </p:txBody>
      </p:sp>
      <p:sp>
        <p:nvSpPr>
          <p:cNvPr id="5" name="Rectangle 4"/>
          <p:cNvSpPr/>
          <p:nvPr/>
        </p:nvSpPr>
        <p:spPr>
          <a:xfrm>
            <a:off x="2267745" y="2132856"/>
            <a:ext cx="4824535" cy="2308324"/>
          </a:xfrm>
          <a:prstGeom prst="rect">
            <a:avLst/>
          </a:prstGeom>
        </p:spPr>
        <p:txBody>
          <a:bodyPr wrap="square">
            <a:spAutoFit/>
          </a:bodyPr>
          <a:lstStyle/>
          <a:p>
            <a:pPr algn="ctr"/>
            <a:endParaRPr lang="ar-SA" sz="7200" dirty="0" smtClean="0">
              <a:cs typeface="MCS Jeddah S_U normal." pitchFamily="2" charset="-78"/>
            </a:endParaRPr>
          </a:p>
          <a:p>
            <a:pPr algn="ctr"/>
            <a:endParaRPr lang="en-US" sz="7200" dirty="0">
              <a:cs typeface="MCS Jeddah S_U normal." pitchFamily="2" charset="-78"/>
            </a:endParaRPr>
          </a:p>
        </p:txBody>
      </p:sp>
      <p:sp>
        <p:nvSpPr>
          <p:cNvPr id="6" name="Rectangle 5"/>
          <p:cNvSpPr/>
          <p:nvPr/>
        </p:nvSpPr>
        <p:spPr>
          <a:xfrm>
            <a:off x="611560" y="2270482"/>
            <a:ext cx="8208912" cy="769441"/>
          </a:xfrm>
          <a:prstGeom prst="rect">
            <a:avLst/>
          </a:prstGeom>
        </p:spPr>
        <p:txBody>
          <a:bodyPr wrap="square">
            <a:spAutoFit/>
          </a:bodyPr>
          <a:lstStyle/>
          <a:p>
            <a:pPr algn="ct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p:txBody>
      </p:sp>
      <p:sp>
        <p:nvSpPr>
          <p:cNvPr id="8" name="Rectangle 7"/>
          <p:cNvSpPr/>
          <p:nvPr/>
        </p:nvSpPr>
        <p:spPr>
          <a:xfrm>
            <a:off x="971600" y="620688"/>
            <a:ext cx="7416824" cy="2736304"/>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البراءات </a:t>
            </a:r>
            <a:endParaRPr lang="ar-SA" sz="4000" dirty="0" smtClean="0">
              <a:solidFill>
                <a:prstClr val="black"/>
              </a:solidFill>
              <a:cs typeface="MCS Jeddah S_U normal." pitchFamily="2" charset="-78"/>
            </a:endParaRPr>
          </a:p>
          <a:p>
            <a:r>
              <a:rPr lang="ar-SA" sz="2800" dirty="0" smtClean="0">
                <a:solidFill>
                  <a:prstClr val="black"/>
                </a:solidFill>
                <a:cs typeface="MCS Jeddah S_U normal." pitchFamily="2" charset="-78"/>
              </a:rPr>
              <a:t>تعطي </a:t>
            </a:r>
            <a:r>
              <a:rPr lang="ar-SA" sz="2800" dirty="0">
                <a:solidFill>
                  <a:prstClr val="black"/>
                </a:solidFill>
                <a:cs typeface="MCS Jeddah S_U normal." pitchFamily="2" charset="-78"/>
              </a:rPr>
              <a:t>الحق للمخترع في استغلال اختراعه بشكل حصري لفترة محددة </a:t>
            </a:r>
            <a:r>
              <a:rPr lang="ar-SA" sz="2800" dirty="0" smtClean="0">
                <a:solidFill>
                  <a:prstClr val="black"/>
                </a:solidFill>
                <a:cs typeface="MCS Jeddah S_U normal." pitchFamily="2" charset="-78"/>
              </a:rPr>
              <a:t>وتُطبَّق </a:t>
            </a:r>
            <a:r>
              <a:rPr lang="ar-SA" sz="2800" dirty="0">
                <a:solidFill>
                  <a:prstClr val="black"/>
                </a:solidFill>
                <a:cs typeface="MCS Jeddah S_U normal." pitchFamily="2" charset="-78"/>
              </a:rPr>
              <a:t>البراءات على الاختراعات التكنولوجية التي </a:t>
            </a:r>
            <a:r>
              <a:rPr lang="ar-SA" sz="2800" dirty="0" smtClean="0">
                <a:solidFill>
                  <a:prstClr val="black"/>
                </a:solidFill>
                <a:cs typeface="MCS Jeddah S_U normal." pitchFamily="2" charset="-78"/>
              </a:rPr>
              <a:t>الجدّيدة </a:t>
            </a:r>
            <a:r>
              <a:rPr lang="ar-SA" sz="2800" dirty="0">
                <a:solidFill>
                  <a:prstClr val="black"/>
                </a:solidFill>
                <a:cs typeface="MCS Jeddah S_U normal." pitchFamily="2" charset="-78"/>
              </a:rPr>
              <a:t>والابتكار في سياق الحوسبة </a:t>
            </a:r>
            <a:r>
              <a:rPr lang="ar-SA" sz="2800" dirty="0" smtClean="0">
                <a:solidFill>
                  <a:prstClr val="black"/>
                </a:solidFill>
                <a:cs typeface="MCS Jeddah S_U normal." pitchFamily="2" charset="-78"/>
              </a:rPr>
              <a:t>وتشمل </a:t>
            </a:r>
            <a:r>
              <a:rPr lang="ar-SA" sz="2800" dirty="0">
                <a:solidFill>
                  <a:prstClr val="black"/>
                </a:solidFill>
                <a:cs typeface="MCS Jeddah S_U normal." pitchFamily="2" charset="-78"/>
              </a:rPr>
              <a:t>البراءات </a:t>
            </a:r>
            <a:r>
              <a:rPr lang="ar-SA" sz="2800" dirty="0" smtClean="0">
                <a:solidFill>
                  <a:prstClr val="black"/>
                </a:solidFill>
                <a:cs typeface="MCS Jeddah S_U normal." pitchFamily="2" charset="-78"/>
              </a:rPr>
              <a:t>تقنيات وبرامج جديدة أو </a:t>
            </a:r>
            <a:r>
              <a:rPr lang="ar-SA" sz="2800" dirty="0">
                <a:solidFill>
                  <a:prstClr val="black"/>
                </a:solidFill>
                <a:cs typeface="MCS Jeddah S_U normal." pitchFamily="2" charset="-78"/>
              </a:rPr>
              <a:t>طرق جديدة لمعالجة المعلومات</a:t>
            </a:r>
          </a:p>
        </p:txBody>
      </p:sp>
      <p:sp>
        <p:nvSpPr>
          <p:cNvPr id="10" name="Rectangle 9"/>
          <p:cNvSpPr/>
          <p:nvPr/>
        </p:nvSpPr>
        <p:spPr>
          <a:xfrm>
            <a:off x="971600" y="3602630"/>
            <a:ext cx="7416824" cy="2808312"/>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2800" dirty="0">
              <a:solidFill>
                <a:prstClr val="black"/>
              </a:solidFill>
              <a:cs typeface="MCS Jeddah S_U normal." pitchFamily="2" charset="-78"/>
            </a:endParaRPr>
          </a:p>
          <a:p>
            <a:pPr algn="ctr"/>
            <a:r>
              <a:rPr lang="ar-SA" sz="4000" dirty="0">
                <a:solidFill>
                  <a:prstClr val="black"/>
                </a:solidFill>
                <a:cs typeface="MCS Jeddah S_U normal." pitchFamily="2" charset="-78"/>
              </a:rPr>
              <a:t>العلامات التجارية </a:t>
            </a:r>
            <a:endParaRPr lang="ar-SA" sz="4000" dirty="0" smtClean="0">
              <a:solidFill>
                <a:prstClr val="black"/>
              </a:solidFill>
              <a:cs typeface="MCS Jeddah S_U normal." pitchFamily="2" charset="-78"/>
            </a:endParaRPr>
          </a:p>
          <a:p>
            <a:pPr algn="ctr"/>
            <a:r>
              <a:rPr lang="ar-SA" sz="2800" dirty="0" smtClean="0">
                <a:solidFill>
                  <a:prstClr val="black"/>
                </a:solidFill>
                <a:cs typeface="MCS Jeddah S_U normal." pitchFamily="2" charset="-78"/>
              </a:rPr>
              <a:t>تستخدم </a:t>
            </a:r>
            <a:r>
              <a:rPr lang="ar-SA" sz="2800" dirty="0">
                <a:solidFill>
                  <a:prstClr val="black"/>
                </a:solidFill>
                <a:cs typeface="MCS Jeddah S_U normal." pitchFamily="2" charset="-78"/>
              </a:rPr>
              <a:t>لحماية الأسماء التجارية والشعارات والتصاميم التي يمكن أن تميز المنتجات </a:t>
            </a:r>
            <a:r>
              <a:rPr lang="ar-SA" sz="2800" dirty="0" smtClean="0">
                <a:solidFill>
                  <a:prstClr val="black"/>
                </a:solidFill>
                <a:cs typeface="MCS Jeddah S_U normal." pitchFamily="2" charset="-78"/>
              </a:rPr>
              <a:t>في </a:t>
            </a:r>
            <a:r>
              <a:rPr lang="ar-SA" sz="2800" dirty="0">
                <a:solidFill>
                  <a:prstClr val="black"/>
                </a:solidFill>
                <a:cs typeface="MCS Jeddah S_U normal." pitchFamily="2" charset="-78"/>
              </a:rPr>
              <a:t>مجال الحوسبة وقد تُستخدم العلامات التجارية لحماية أسماء البرمجيات أو التطبيقات</a:t>
            </a:r>
          </a:p>
        </p:txBody>
      </p:sp>
    </p:spTree>
    <p:extLst>
      <p:ext uri="{BB962C8B-B14F-4D97-AF65-F5344CB8AC3E}">
        <p14:creationId xmlns:p14="http://schemas.microsoft.com/office/powerpoint/2010/main" val="880759784"/>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7425914" y="-1694984"/>
            <a:ext cx="1712327" cy="2092881"/>
          </a:xfrm>
          <a:prstGeom prst="rect">
            <a:avLst/>
          </a:prstGeom>
        </p:spPr>
        <p:txBody>
          <a:bodyPr wrap="none">
            <a:spAutoFit/>
          </a:bodyPr>
          <a:lstStyle/>
          <a:p>
            <a:pPr algn="ctr">
              <a:defRPr/>
            </a:pP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a:p>
            <a:pPr algn="ctr">
              <a:defRPr/>
            </a:pPr>
            <a:endParaRPr lang="en-US" sz="7200" b="1" dirty="0" smtClean="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a:p>
            <a:pPr algn="ctr">
              <a:defRPr/>
            </a:pPr>
            <a:r>
              <a:rPr lang="ar-SA" sz="1400" dirty="0">
                <a:solidFill>
                  <a:srgbClr val="FFFF00"/>
                </a:solidFill>
                <a:cs typeface="MCS Jeddah S_U normal." pitchFamily="2" charset="-78"/>
              </a:rPr>
              <a:t>الملكية الفكرية بالحوسبة</a:t>
            </a:r>
          </a:p>
        </p:txBody>
      </p:sp>
      <p:sp>
        <p:nvSpPr>
          <p:cNvPr id="5" name="Rectangle 4"/>
          <p:cNvSpPr/>
          <p:nvPr/>
        </p:nvSpPr>
        <p:spPr>
          <a:xfrm>
            <a:off x="2267745" y="2132856"/>
            <a:ext cx="4824535" cy="2308324"/>
          </a:xfrm>
          <a:prstGeom prst="rect">
            <a:avLst/>
          </a:prstGeom>
        </p:spPr>
        <p:txBody>
          <a:bodyPr wrap="square">
            <a:spAutoFit/>
          </a:bodyPr>
          <a:lstStyle/>
          <a:p>
            <a:pPr algn="ctr"/>
            <a:endParaRPr lang="ar-SA" sz="7200" dirty="0" smtClean="0">
              <a:cs typeface="MCS Jeddah S_U normal." pitchFamily="2" charset="-78"/>
            </a:endParaRPr>
          </a:p>
          <a:p>
            <a:pPr algn="ctr"/>
            <a:endParaRPr lang="en-US" sz="7200" dirty="0">
              <a:cs typeface="MCS Jeddah S_U normal." pitchFamily="2" charset="-78"/>
            </a:endParaRPr>
          </a:p>
        </p:txBody>
      </p:sp>
      <p:sp>
        <p:nvSpPr>
          <p:cNvPr id="6" name="Rectangle 5"/>
          <p:cNvSpPr/>
          <p:nvPr/>
        </p:nvSpPr>
        <p:spPr>
          <a:xfrm>
            <a:off x="611560" y="2270482"/>
            <a:ext cx="8208912" cy="769441"/>
          </a:xfrm>
          <a:prstGeom prst="rect">
            <a:avLst/>
          </a:prstGeom>
        </p:spPr>
        <p:txBody>
          <a:bodyPr wrap="square">
            <a:spAutoFit/>
          </a:bodyPr>
          <a:lstStyle/>
          <a:p>
            <a:pPr algn="ct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p:txBody>
      </p:sp>
      <p:sp>
        <p:nvSpPr>
          <p:cNvPr id="8" name="Rectangle 7"/>
          <p:cNvSpPr/>
          <p:nvPr/>
        </p:nvSpPr>
        <p:spPr>
          <a:xfrm>
            <a:off x="467544" y="620688"/>
            <a:ext cx="7920880" cy="2736304"/>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الأسرار </a:t>
            </a:r>
            <a:r>
              <a:rPr lang="ar-SA" sz="4000" dirty="0" smtClean="0">
                <a:solidFill>
                  <a:prstClr val="black"/>
                </a:solidFill>
                <a:cs typeface="MCS Jeddah S_U normal." pitchFamily="2" charset="-78"/>
              </a:rPr>
              <a:t>التجارية</a:t>
            </a:r>
            <a:endParaRPr lang="ar-SA" sz="4000" dirty="0">
              <a:solidFill>
                <a:prstClr val="black"/>
              </a:solidFill>
              <a:cs typeface="MCS Jeddah S_U normal." pitchFamily="2" charset="-78"/>
            </a:endParaRPr>
          </a:p>
          <a:p>
            <a:pPr algn="ctr"/>
            <a:r>
              <a:rPr lang="ar-SA" sz="4000" dirty="0">
                <a:solidFill>
                  <a:prstClr val="black"/>
                </a:solidFill>
                <a:cs typeface="MCS Jeddah S_U normal." pitchFamily="2" charset="-78"/>
              </a:rPr>
              <a:t> </a:t>
            </a:r>
            <a:r>
              <a:rPr lang="ar-SA" sz="2800" dirty="0">
                <a:solidFill>
                  <a:prstClr val="black"/>
                </a:solidFill>
                <a:cs typeface="MCS Jeddah S_U normal." pitchFamily="2" charset="-78"/>
              </a:rPr>
              <a:t>تتعلق بالمعلومات المختلفة مثل تقنيات التصنيع أو </a:t>
            </a:r>
            <a:r>
              <a:rPr lang="ar-SA" sz="2800" u="sng" dirty="0">
                <a:solidFill>
                  <a:prstClr val="black"/>
                </a:solidFill>
                <a:cs typeface="MCS Jeddah S_U normal." pitchFamily="2" charset="-78"/>
              </a:rPr>
              <a:t>استراتيجيات التسويق</a:t>
            </a:r>
            <a:r>
              <a:rPr lang="ar-SA" sz="2800" dirty="0">
                <a:solidFill>
                  <a:prstClr val="black"/>
                </a:solidFill>
                <a:cs typeface="MCS Jeddah S_U normal." pitchFamily="2" charset="-78"/>
              </a:rPr>
              <a:t> </a:t>
            </a:r>
            <a:r>
              <a:rPr lang="ar-SA" sz="2800" dirty="0" smtClean="0">
                <a:solidFill>
                  <a:prstClr val="black"/>
                </a:solidFill>
                <a:cs typeface="MCS Jeddah S_U normal." pitchFamily="2" charset="-78"/>
              </a:rPr>
              <a:t> أو </a:t>
            </a:r>
            <a:r>
              <a:rPr lang="ar-SA" sz="2800" dirty="0">
                <a:solidFill>
                  <a:prstClr val="black"/>
                </a:solidFill>
                <a:cs typeface="MCS Jeddah S_U normal." pitchFamily="2" charset="-78"/>
              </a:rPr>
              <a:t>أي معرفة تعتبر ذات قيمة ولا يجب الكشف عنها ويمكن أن تشمل الأسرار التجارية تقنيات البرمجة </a:t>
            </a:r>
            <a:r>
              <a:rPr lang="ar-SA" sz="2800" dirty="0" smtClean="0">
                <a:solidFill>
                  <a:prstClr val="black"/>
                </a:solidFill>
                <a:cs typeface="MCS Jeddah S_U normal." pitchFamily="2" charset="-78"/>
              </a:rPr>
              <a:t>التي </a:t>
            </a:r>
            <a:r>
              <a:rPr lang="ar-SA" sz="2800" dirty="0">
                <a:solidFill>
                  <a:prstClr val="black"/>
                </a:solidFill>
                <a:cs typeface="MCS Jeddah S_U normal." pitchFamily="2" charset="-78"/>
              </a:rPr>
              <a:t>لا يرغب أصحابها في الإفصاح عنها</a:t>
            </a:r>
          </a:p>
        </p:txBody>
      </p:sp>
      <p:sp>
        <p:nvSpPr>
          <p:cNvPr id="10" name="Rectangle 9"/>
          <p:cNvSpPr/>
          <p:nvPr/>
        </p:nvSpPr>
        <p:spPr>
          <a:xfrm>
            <a:off x="395536" y="3602630"/>
            <a:ext cx="7992888" cy="3066730"/>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4000" dirty="0" smtClean="0">
              <a:solidFill>
                <a:prstClr val="black"/>
              </a:solidFill>
              <a:cs typeface="MCS Jeddah S_U normal." pitchFamily="2" charset="-78"/>
            </a:endParaRPr>
          </a:p>
          <a:p>
            <a:pPr algn="ctr"/>
            <a:r>
              <a:rPr lang="ar-SA" sz="4000" dirty="0" smtClean="0">
                <a:solidFill>
                  <a:prstClr val="black"/>
                </a:solidFill>
                <a:cs typeface="MCS Jeddah S_U normal." pitchFamily="2" charset="-78"/>
              </a:rPr>
              <a:t>اتفاقيات </a:t>
            </a:r>
            <a:r>
              <a:rPr lang="ar-SA" sz="4000" dirty="0" smtClean="0">
                <a:solidFill>
                  <a:prstClr val="black"/>
                </a:solidFill>
                <a:cs typeface="MCS Jeddah S_U normal." pitchFamily="2" charset="-78"/>
              </a:rPr>
              <a:t>الترخيص</a:t>
            </a:r>
            <a:endParaRPr lang="ar-SA" sz="4000" dirty="0">
              <a:solidFill>
                <a:prstClr val="black"/>
              </a:solidFill>
              <a:cs typeface="MCS Jeddah S_U normal." pitchFamily="2" charset="-78"/>
            </a:endParaRPr>
          </a:p>
          <a:p>
            <a:pPr algn="ctr"/>
            <a:r>
              <a:rPr lang="ar-SA" sz="2800" dirty="0">
                <a:solidFill>
                  <a:prstClr val="black"/>
                </a:solidFill>
                <a:cs typeface="MCS Jeddah S_U normal." pitchFamily="2" charset="-78"/>
              </a:rPr>
              <a:t>تُستخدم لتحديد كيفية استخدام البرمجيات من قبل الأفراد أو الكيانات الأخرى وتُحدد اتفاقيات الترخيص حقوق المستخدمين والتزاماتهم مثل الاستخدام الشخصي أو التجاري وحقوق إعادة توزيع البرمجيات</a:t>
            </a:r>
          </a:p>
        </p:txBody>
      </p:sp>
    </p:spTree>
    <p:extLst>
      <p:ext uri="{BB962C8B-B14F-4D97-AF65-F5344CB8AC3E}">
        <p14:creationId xmlns:p14="http://schemas.microsoft.com/office/powerpoint/2010/main" val="2031717216"/>
      </p:ext>
    </p:extLst>
  </p:cSld>
  <p:clrMapOvr>
    <a:masterClrMapping/>
  </p:clrMapOvr>
  <mc:AlternateContent xmlns:mc="http://schemas.openxmlformats.org/markup-compatibility/2006">
    <mc:Choice xmlns:p14="http://schemas.microsoft.com/office/powerpoint/2010/main" Requires="p14">
      <p:transition spd="slow" p14:dur="1600">
        <p14:prism dir="r"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7425914" y="-1694984"/>
            <a:ext cx="1712327" cy="2092881"/>
          </a:xfrm>
          <a:prstGeom prst="rect">
            <a:avLst/>
          </a:prstGeom>
        </p:spPr>
        <p:txBody>
          <a:bodyPr wrap="none">
            <a:spAutoFit/>
          </a:bodyPr>
          <a:lstStyle/>
          <a:p>
            <a:pPr algn="ctr">
              <a:defRPr/>
            </a:pP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a:p>
            <a:pPr algn="ctr">
              <a:defRPr/>
            </a:pPr>
            <a:endParaRPr lang="en-US" sz="7200" b="1" dirty="0" smtClean="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a:p>
            <a:pPr algn="ctr">
              <a:defRPr/>
            </a:pPr>
            <a:r>
              <a:rPr lang="ar-SA" sz="1400" dirty="0">
                <a:solidFill>
                  <a:srgbClr val="FFFF00"/>
                </a:solidFill>
                <a:cs typeface="MCS Jeddah S_U normal." pitchFamily="2" charset="-78"/>
              </a:rPr>
              <a:t>الملكية الفكرية بالحوسبة</a:t>
            </a:r>
          </a:p>
        </p:txBody>
      </p:sp>
      <p:sp>
        <p:nvSpPr>
          <p:cNvPr id="5" name="Rectangle 4"/>
          <p:cNvSpPr/>
          <p:nvPr/>
        </p:nvSpPr>
        <p:spPr>
          <a:xfrm>
            <a:off x="2267745" y="2132856"/>
            <a:ext cx="4824535" cy="2308324"/>
          </a:xfrm>
          <a:prstGeom prst="rect">
            <a:avLst/>
          </a:prstGeom>
        </p:spPr>
        <p:txBody>
          <a:bodyPr wrap="square">
            <a:spAutoFit/>
          </a:bodyPr>
          <a:lstStyle/>
          <a:p>
            <a:pPr algn="ctr"/>
            <a:endParaRPr lang="ar-SA" sz="7200" dirty="0" smtClean="0">
              <a:cs typeface="MCS Jeddah S_U normal." pitchFamily="2" charset="-78"/>
            </a:endParaRPr>
          </a:p>
          <a:p>
            <a:pPr algn="ctr"/>
            <a:endParaRPr lang="en-US" sz="7200" dirty="0">
              <a:cs typeface="MCS Jeddah S_U normal." pitchFamily="2" charset="-78"/>
            </a:endParaRPr>
          </a:p>
        </p:txBody>
      </p:sp>
      <p:sp>
        <p:nvSpPr>
          <p:cNvPr id="6" name="Rectangle 5"/>
          <p:cNvSpPr/>
          <p:nvPr/>
        </p:nvSpPr>
        <p:spPr>
          <a:xfrm>
            <a:off x="611560" y="2270482"/>
            <a:ext cx="8208912" cy="769441"/>
          </a:xfrm>
          <a:prstGeom prst="rect">
            <a:avLst/>
          </a:prstGeom>
        </p:spPr>
        <p:txBody>
          <a:bodyPr wrap="square">
            <a:spAutoFit/>
          </a:bodyPr>
          <a:lstStyle/>
          <a:p>
            <a:pPr algn="ct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p:txBody>
      </p:sp>
      <p:sp>
        <p:nvSpPr>
          <p:cNvPr id="8" name="Rectangle 7"/>
          <p:cNvSpPr/>
          <p:nvPr/>
        </p:nvSpPr>
        <p:spPr>
          <a:xfrm>
            <a:off x="467544" y="620688"/>
            <a:ext cx="7920880" cy="2736304"/>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الالتزام بالقوانين </a:t>
            </a:r>
            <a:r>
              <a:rPr lang="ar-SA" sz="4000" dirty="0" smtClean="0">
                <a:solidFill>
                  <a:prstClr val="black"/>
                </a:solidFill>
                <a:cs typeface="MCS Jeddah S_U normal." pitchFamily="2" charset="-78"/>
              </a:rPr>
              <a:t>الدولية</a:t>
            </a:r>
            <a:endParaRPr lang="ar-SA" sz="4000" dirty="0">
              <a:solidFill>
                <a:prstClr val="black"/>
              </a:solidFill>
              <a:cs typeface="MCS Jeddah S_U normal." pitchFamily="2" charset="-78"/>
            </a:endParaRPr>
          </a:p>
          <a:p>
            <a:pPr algn="ctr"/>
            <a:r>
              <a:rPr lang="ar-SA" sz="2800" dirty="0">
                <a:solidFill>
                  <a:prstClr val="black"/>
                </a:solidFill>
                <a:cs typeface="MCS Jeddah S_U normal." pitchFamily="2" charset="-78"/>
              </a:rPr>
              <a:t> يجب على محترفي الحوسبة أن يكونوا على دراية بالقوانين الخاصة بالملكية الفكرية في البلدان المختلفة لأنها قد تختلف من </a:t>
            </a:r>
            <a:r>
              <a:rPr lang="ar-SA" sz="2800" dirty="0" smtClean="0">
                <a:solidFill>
                  <a:prstClr val="black"/>
                </a:solidFill>
                <a:cs typeface="MCS Jeddah S_U normal." pitchFamily="2" charset="-78"/>
              </a:rPr>
              <a:t>بلد </a:t>
            </a:r>
            <a:r>
              <a:rPr lang="ar-SA" sz="2800" dirty="0">
                <a:solidFill>
                  <a:prstClr val="black"/>
                </a:solidFill>
                <a:cs typeface="MCS Jeddah S_U normal." pitchFamily="2" charset="-78"/>
              </a:rPr>
              <a:t>إلى أخرى </a:t>
            </a:r>
            <a:r>
              <a:rPr lang="ar-SA" sz="2800" dirty="0" smtClean="0">
                <a:solidFill>
                  <a:prstClr val="black"/>
                </a:solidFill>
                <a:cs typeface="MCS Jeddah S_U normal." pitchFamily="2" charset="-78"/>
              </a:rPr>
              <a:t>ويمكن </a:t>
            </a:r>
            <a:r>
              <a:rPr lang="ar-SA" sz="2800" dirty="0">
                <a:solidFill>
                  <a:prstClr val="black"/>
                </a:solidFill>
                <a:cs typeface="MCS Jeddah S_U normal." pitchFamily="2" charset="-78"/>
              </a:rPr>
              <a:t>أن تكون هناك اختلافات في كيفية حماية البراءات أو حقوق الطبع والنشر بين الدول</a:t>
            </a:r>
          </a:p>
        </p:txBody>
      </p:sp>
      <p:sp>
        <p:nvSpPr>
          <p:cNvPr id="10" name="Rectangle 9"/>
          <p:cNvSpPr/>
          <p:nvPr/>
        </p:nvSpPr>
        <p:spPr>
          <a:xfrm>
            <a:off x="467544" y="3602630"/>
            <a:ext cx="7920880" cy="2808312"/>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التحديات </a:t>
            </a:r>
            <a:r>
              <a:rPr lang="ar-SA" sz="4000" dirty="0" smtClean="0">
                <a:solidFill>
                  <a:prstClr val="black"/>
                </a:solidFill>
                <a:cs typeface="MCS Jeddah S_U normal." pitchFamily="2" charset="-78"/>
              </a:rPr>
              <a:t>الحالية</a:t>
            </a:r>
            <a:endParaRPr lang="ar-SA" sz="4000" dirty="0">
              <a:solidFill>
                <a:prstClr val="black"/>
              </a:solidFill>
              <a:cs typeface="MCS Jeddah S_U normal." pitchFamily="2" charset="-78"/>
            </a:endParaRPr>
          </a:p>
          <a:p>
            <a:pPr algn="ctr"/>
            <a:r>
              <a:rPr lang="ar-SA" sz="2800" dirty="0" smtClean="0">
                <a:solidFill>
                  <a:prstClr val="black"/>
                </a:solidFill>
                <a:cs typeface="MCS Jeddah S_U normal." pitchFamily="2" charset="-78"/>
              </a:rPr>
              <a:t>تزداد يوميا التحديات </a:t>
            </a:r>
            <a:r>
              <a:rPr lang="ar-SA" sz="2800" dirty="0">
                <a:solidFill>
                  <a:prstClr val="black"/>
                </a:solidFill>
                <a:cs typeface="MCS Jeddah S_U normal." pitchFamily="2" charset="-78"/>
              </a:rPr>
              <a:t>المتعلقة بانتهاك الملكية الفكرية ويشمل ذلك </a:t>
            </a:r>
            <a:r>
              <a:rPr lang="ar-SA" sz="2800" u="sng" dirty="0">
                <a:solidFill>
                  <a:prstClr val="black"/>
                </a:solidFill>
                <a:cs typeface="MCS Jeddah S_U normal." pitchFamily="2" charset="-78"/>
              </a:rPr>
              <a:t>القرصنة</a:t>
            </a:r>
            <a:r>
              <a:rPr lang="ar-SA" sz="2800" dirty="0">
                <a:solidFill>
                  <a:prstClr val="black"/>
                </a:solidFill>
                <a:cs typeface="MCS Jeddah S_U normal." pitchFamily="2" charset="-78"/>
              </a:rPr>
              <a:t> واستخدام البرمجيات بدون ترخيص مما </a:t>
            </a:r>
            <a:r>
              <a:rPr lang="ar-SA" sz="2800" u="sng" dirty="0">
                <a:solidFill>
                  <a:prstClr val="black"/>
                </a:solidFill>
                <a:cs typeface="MCS Jeddah S_U normal." pitchFamily="2" charset="-78"/>
              </a:rPr>
              <a:t>يؤثر </a:t>
            </a:r>
            <a:r>
              <a:rPr lang="ar-SA" sz="2800" u="sng" dirty="0" smtClean="0">
                <a:solidFill>
                  <a:prstClr val="black"/>
                </a:solidFill>
                <a:cs typeface="MCS Jeddah S_U normal." pitchFamily="2" charset="-78"/>
              </a:rPr>
              <a:t>سلبا</a:t>
            </a:r>
            <a:r>
              <a:rPr lang="ar-SA" sz="2800" dirty="0" smtClean="0">
                <a:solidFill>
                  <a:prstClr val="black"/>
                </a:solidFill>
                <a:cs typeface="MCS Jeddah S_U normal." pitchFamily="2" charset="-78"/>
              </a:rPr>
              <a:t> على </a:t>
            </a:r>
            <a:r>
              <a:rPr lang="ar-SA" sz="2800" dirty="0">
                <a:solidFill>
                  <a:prstClr val="black"/>
                </a:solidFill>
                <a:cs typeface="MCS Jeddah S_U normal." pitchFamily="2" charset="-78"/>
              </a:rPr>
              <a:t>المطورين والشركات</a:t>
            </a:r>
          </a:p>
        </p:txBody>
      </p:sp>
    </p:spTree>
    <p:extLst>
      <p:ext uri="{BB962C8B-B14F-4D97-AF65-F5344CB8AC3E}">
        <p14:creationId xmlns:p14="http://schemas.microsoft.com/office/powerpoint/2010/main" val="3230936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7404274" y="-1694984"/>
            <a:ext cx="1755610" cy="2092881"/>
          </a:xfrm>
          <a:prstGeom prst="rect">
            <a:avLst/>
          </a:prstGeom>
        </p:spPr>
        <p:txBody>
          <a:bodyPr wrap="none">
            <a:spAutoFit/>
          </a:bodyPr>
          <a:lstStyle/>
          <a:p>
            <a:pPr algn="ctr">
              <a:defRPr/>
            </a:pP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a:p>
            <a:pPr algn="ctr">
              <a:defRPr/>
            </a:pPr>
            <a:endParaRPr lang="en-US" sz="7200" b="1" dirty="0" smtClean="0">
              <a:ln w="18415" cmpd="sng">
                <a:solidFill>
                  <a:srgbClr val="FFFFFF"/>
                </a:solidFill>
                <a:prstDash val="solid"/>
              </a:ln>
              <a:solidFill>
                <a:srgbClr val="003217"/>
              </a:solidFill>
              <a:effectLst>
                <a:glow rad="50800">
                  <a:srgbClr val="FFFF00"/>
                </a:glow>
                <a:outerShdw blurRad="63500" dir="3600000" algn="tl" rotWithShape="0">
                  <a:srgbClr val="000000">
                    <a:alpha val="70000"/>
                  </a:srgbClr>
                </a:outerShdw>
              </a:effectLst>
              <a:latin typeface="Al hosam"/>
              <a:ea typeface="Times New Roman" pitchFamily="18" charset="0"/>
              <a:cs typeface="AL-Hosam" pitchFamily="2" charset="-78"/>
            </a:endParaRPr>
          </a:p>
          <a:p>
            <a:pPr algn="ctr">
              <a:defRPr/>
            </a:pPr>
            <a:r>
              <a:rPr lang="ar-SA" sz="1400" dirty="0">
                <a:solidFill>
                  <a:srgbClr val="FFFF00"/>
                </a:solidFill>
                <a:cs typeface="MCS Jeddah S_U normal." pitchFamily="2" charset="-78"/>
              </a:rPr>
              <a:t>الملكية الفكرية </a:t>
            </a:r>
            <a:r>
              <a:rPr lang="ar-SA" sz="1400" dirty="0" smtClean="0">
                <a:solidFill>
                  <a:srgbClr val="FFFF00"/>
                </a:solidFill>
                <a:cs typeface="MCS Jeddah S_U normal." pitchFamily="2" charset="-78"/>
              </a:rPr>
              <a:t>باالحوسبة</a:t>
            </a:r>
            <a:endParaRPr lang="ar-SA" sz="1400" dirty="0">
              <a:solidFill>
                <a:srgbClr val="FFFF00"/>
              </a:solidFill>
              <a:cs typeface="MCS Jeddah S_U normal." pitchFamily="2" charset="-78"/>
            </a:endParaRPr>
          </a:p>
        </p:txBody>
      </p:sp>
      <p:sp>
        <p:nvSpPr>
          <p:cNvPr id="5" name="Rectangle 4"/>
          <p:cNvSpPr/>
          <p:nvPr/>
        </p:nvSpPr>
        <p:spPr>
          <a:xfrm>
            <a:off x="2267745" y="2132856"/>
            <a:ext cx="4824535" cy="2308324"/>
          </a:xfrm>
          <a:prstGeom prst="rect">
            <a:avLst/>
          </a:prstGeom>
        </p:spPr>
        <p:txBody>
          <a:bodyPr wrap="square">
            <a:spAutoFit/>
          </a:bodyPr>
          <a:lstStyle/>
          <a:p>
            <a:pPr algn="ctr"/>
            <a:endParaRPr lang="ar-SA" sz="7200" dirty="0" smtClean="0">
              <a:cs typeface="MCS Jeddah S_U normal." pitchFamily="2" charset="-78"/>
            </a:endParaRPr>
          </a:p>
          <a:p>
            <a:pPr algn="ctr"/>
            <a:endParaRPr lang="en-US" sz="7200" dirty="0">
              <a:cs typeface="MCS Jeddah S_U normal." pitchFamily="2" charset="-78"/>
            </a:endParaRPr>
          </a:p>
        </p:txBody>
      </p:sp>
      <p:sp>
        <p:nvSpPr>
          <p:cNvPr id="6" name="Rectangle 5"/>
          <p:cNvSpPr/>
          <p:nvPr/>
        </p:nvSpPr>
        <p:spPr>
          <a:xfrm>
            <a:off x="611560" y="2270482"/>
            <a:ext cx="8208912" cy="769441"/>
          </a:xfrm>
          <a:prstGeom prst="rect">
            <a:avLst/>
          </a:prstGeom>
        </p:spPr>
        <p:txBody>
          <a:bodyPr wrap="square">
            <a:spAutoFit/>
          </a:bodyPr>
          <a:lstStyle/>
          <a:p>
            <a:pPr algn="ctr"/>
            <a:r>
              <a:rPr lang="ar-SA" sz="4400" dirty="0">
                <a:solidFill>
                  <a:srgbClr val="FFFF00"/>
                </a:solidFill>
                <a:cs typeface="MCS Jeddah S_U normal." pitchFamily="2" charset="-78"/>
              </a:rPr>
              <a:t> </a:t>
            </a:r>
            <a:endParaRPr lang="en-US" sz="4400" dirty="0">
              <a:solidFill>
                <a:srgbClr val="FFFF00"/>
              </a:solidFill>
              <a:cs typeface="MCS Jeddah S_U normal." pitchFamily="2" charset="-78"/>
            </a:endParaRPr>
          </a:p>
        </p:txBody>
      </p:sp>
      <p:sp>
        <p:nvSpPr>
          <p:cNvPr id="8" name="Rectangle 7"/>
          <p:cNvSpPr/>
          <p:nvPr/>
        </p:nvSpPr>
        <p:spPr>
          <a:xfrm>
            <a:off x="467544" y="620688"/>
            <a:ext cx="7920880" cy="2736304"/>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4000" dirty="0">
                <a:solidFill>
                  <a:prstClr val="black"/>
                </a:solidFill>
                <a:cs typeface="MCS Jeddah S_U normal." pitchFamily="2" charset="-78"/>
              </a:rPr>
              <a:t>التأثيرات على الابتكار </a:t>
            </a:r>
            <a:endParaRPr lang="ar-SA" sz="4000" dirty="0" smtClean="0">
              <a:solidFill>
                <a:prstClr val="black"/>
              </a:solidFill>
              <a:cs typeface="MCS Jeddah S_U normal." pitchFamily="2" charset="-78"/>
            </a:endParaRPr>
          </a:p>
          <a:p>
            <a:pPr algn="ctr"/>
            <a:r>
              <a:rPr lang="ar-SA" sz="2800" dirty="0" smtClean="0">
                <a:solidFill>
                  <a:prstClr val="black"/>
                </a:solidFill>
                <a:cs typeface="MCS Jeddah S_U normal." pitchFamily="2" charset="-78"/>
              </a:rPr>
              <a:t>تلعب </a:t>
            </a:r>
            <a:r>
              <a:rPr lang="ar-SA" sz="2800" dirty="0">
                <a:solidFill>
                  <a:prstClr val="black"/>
                </a:solidFill>
                <a:cs typeface="MCS Jeddah S_U normal." pitchFamily="2" charset="-78"/>
              </a:rPr>
              <a:t>الملكية الفكرية دورًا مهمًا في تشجيع الابتكار حيث تحمي حقوق المبدعين وتضمن أن يتمكنوا من جني فوائد </a:t>
            </a:r>
            <a:r>
              <a:rPr lang="ar-SA" sz="2800" dirty="0" smtClean="0">
                <a:solidFill>
                  <a:prstClr val="black"/>
                </a:solidFill>
                <a:cs typeface="MCS Jeddah S_U normal." pitchFamily="2" charset="-78"/>
              </a:rPr>
              <a:t>أعمالهم</a:t>
            </a:r>
            <a:endParaRPr lang="ar-SA" sz="2800" dirty="0">
              <a:solidFill>
                <a:prstClr val="black"/>
              </a:solidFill>
              <a:cs typeface="MCS Jeddah S_U normal." pitchFamily="2" charset="-78"/>
            </a:endParaRPr>
          </a:p>
        </p:txBody>
      </p:sp>
      <p:sp>
        <p:nvSpPr>
          <p:cNvPr id="10" name="Rectangle 9"/>
          <p:cNvSpPr/>
          <p:nvPr/>
        </p:nvSpPr>
        <p:spPr>
          <a:xfrm>
            <a:off x="539552" y="3602630"/>
            <a:ext cx="7848872" cy="2808312"/>
          </a:xfrm>
          <a:prstGeom prst="rect">
            <a:avLst/>
          </a:prstGeom>
          <a:solidFill>
            <a:srgbClr val="FFFF00"/>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2800" dirty="0">
                <a:solidFill>
                  <a:prstClr val="black"/>
                </a:solidFill>
                <a:cs typeface="MCS Jeddah S_U normal." pitchFamily="2" charset="-78"/>
              </a:rPr>
              <a:t>بناءً على ما تقدم يجب على المتخصصين في الحوسبة أن يكونوا على دراية بحقوق الملكية الفكرية وأهميتها في حماية أعمالهم وابتكاراتهم وكذلك الالتزام </a:t>
            </a:r>
            <a:r>
              <a:rPr lang="ar-SA" sz="2800" dirty="0" smtClean="0">
                <a:solidFill>
                  <a:prstClr val="black"/>
                </a:solidFill>
                <a:cs typeface="MCS Jeddah S_U normal." pitchFamily="2" charset="-78"/>
              </a:rPr>
              <a:t>بالقوانين</a:t>
            </a:r>
            <a:endParaRPr lang="ar-SA" sz="2800" dirty="0">
              <a:solidFill>
                <a:prstClr val="black"/>
              </a:solidFill>
              <a:cs typeface="MCS Jeddah S_U normal." pitchFamily="2" charset="-78"/>
            </a:endParaRPr>
          </a:p>
        </p:txBody>
      </p:sp>
    </p:spTree>
    <p:extLst>
      <p:ext uri="{BB962C8B-B14F-4D97-AF65-F5344CB8AC3E}">
        <p14:creationId xmlns:p14="http://schemas.microsoft.com/office/powerpoint/2010/main" val="19500122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invX="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2" name="Rectangle 1"/>
          <p:cNvSpPr/>
          <p:nvPr/>
        </p:nvSpPr>
        <p:spPr>
          <a:xfrm>
            <a:off x="-265599" y="267612"/>
            <a:ext cx="9649072" cy="1200329"/>
          </a:xfrm>
          <a:prstGeom prst="rect">
            <a:avLst/>
          </a:prstGeom>
        </p:spPr>
        <p:txBody>
          <a:bodyPr wrap="square">
            <a:spAutoFit/>
          </a:bodyPr>
          <a:lstStyle/>
          <a:p>
            <a:pPr lvl="0" algn="ctr">
              <a:defRPr/>
            </a:pPr>
            <a:r>
              <a:rPr lang="ar-SA" sz="7200" b="1" dirty="0">
                <a:ln w="18415" cmpd="sng">
                  <a:solidFill>
                    <a:srgbClr val="FFFFFF"/>
                  </a:solidFill>
                  <a:prstDash val="solid"/>
                </a:ln>
                <a:solidFill>
                  <a:srgbClr val="FF0000"/>
                </a:solidFill>
                <a:effectLst>
                  <a:glow rad="63500">
                    <a:srgbClr val="FFFF00"/>
                  </a:glow>
                  <a:outerShdw blurRad="63500" dir="3600000" algn="tl" rotWithShape="0">
                    <a:srgbClr val="000000">
                      <a:alpha val="70000"/>
                    </a:srgbClr>
                  </a:outerShdw>
                </a:effectLst>
                <a:latin typeface="Al hosam"/>
                <a:ea typeface="Times New Roman" pitchFamily="18" charset="0"/>
                <a:cs typeface="AL-Hosam" pitchFamily="2" charset="-78"/>
              </a:rPr>
              <a:t>عمليات تامين الحوسبة المهنية</a:t>
            </a:r>
          </a:p>
        </p:txBody>
      </p:sp>
      <p:sp>
        <p:nvSpPr>
          <p:cNvPr id="3" name="Rectangle 2"/>
          <p:cNvSpPr/>
          <p:nvPr/>
        </p:nvSpPr>
        <p:spPr>
          <a:xfrm>
            <a:off x="446966" y="3068960"/>
            <a:ext cx="8157482" cy="1384995"/>
          </a:xfrm>
          <a:prstGeom prst="rect">
            <a:avLst/>
          </a:prstGeom>
        </p:spPr>
        <p:txBody>
          <a:bodyPr wrap="square">
            <a:spAutoFit/>
          </a:bodyPr>
          <a:lstStyle/>
          <a:p>
            <a:r>
              <a:rPr lang="ar-SA" sz="2800" dirty="0" smtClean="0">
                <a:solidFill>
                  <a:srgbClr val="FFFF00"/>
                </a:solidFill>
                <a:cs typeface="MCS Jeddah S_U normal." pitchFamily="2" charset="-78"/>
              </a:rPr>
              <a:t>تشمل  </a:t>
            </a:r>
            <a:r>
              <a:rPr lang="ar-SA" sz="2800" dirty="0">
                <a:solidFill>
                  <a:srgbClr val="FFFF00"/>
                </a:solidFill>
                <a:cs typeface="MCS Jeddah S_U normal." pitchFamily="2" charset="-78"/>
              </a:rPr>
              <a:t>العمليات مجموعة من الاستراتيجيات والإجراءات </a:t>
            </a:r>
            <a:r>
              <a:rPr lang="ar-SA" sz="2800" dirty="0" smtClean="0">
                <a:solidFill>
                  <a:srgbClr val="FFFF00"/>
                </a:solidFill>
                <a:cs typeface="MCS Jeddah S_U normal." pitchFamily="2" charset="-78"/>
              </a:rPr>
              <a:t>التي</a:t>
            </a:r>
          </a:p>
          <a:p>
            <a:r>
              <a:rPr lang="ar-SA" sz="2800" dirty="0" smtClean="0">
                <a:solidFill>
                  <a:srgbClr val="FFFF00"/>
                </a:solidFill>
                <a:cs typeface="MCS Jeddah S_U normal." pitchFamily="2" charset="-78"/>
              </a:rPr>
              <a:t>تهدف </a:t>
            </a:r>
            <a:r>
              <a:rPr lang="ar-SA" sz="2800" dirty="0">
                <a:solidFill>
                  <a:srgbClr val="FFFF00"/>
                </a:solidFill>
                <a:cs typeface="MCS Jeddah S_U normal." pitchFamily="2" charset="-78"/>
              </a:rPr>
              <a:t>إلى حماية بيانات المؤسسة ومنع </a:t>
            </a:r>
            <a:r>
              <a:rPr lang="ar-SA" sz="2800" dirty="0" smtClean="0">
                <a:solidFill>
                  <a:srgbClr val="FFFF00"/>
                </a:solidFill>
                <a:cs typeface="MCS Jeddah S_U normal." pitchFamily="2" charset="-78"/>
              </a:rPr>
              <a:t>التهديدات السيبرانية</a:t>
            </a:r>
          </a:p>
          <a:p>
            <a:r>
              <a:rPr lang="ar-SA" sz="2800" dirty="0" smtClean="0">
                <a:solidFill>
                  <a:srgbClr val="FFFF00"/>
                </a:solidFill>
                <a:cs typeface="MCS Jeddah S_U normal." pitchFamily="2" charset="-78"/>
              </a:rPr>
              <a:t>وبعض </a:t>
            </a:r>
            <a:r>
              <a:rPr lang="ar-SA" sz="2800" dirty="0">
                <a:solidFill>
                  <a:srgbClr val="FFFF00"/>
                </a:solidFill>
                <a:cs typeface="MCS Jeddah S_U normal." pitchFamily="2" charset="-78"/>
              </a:rPr>
              <a:t>الخطوات الأساسية لعمليات أمن الحوسبة المهنية هي :</a:t>
            </a:r>
            <a:endParaRPr lang="en-US" sz="2800" dirty="0">
              <a:solidFill>
                <a:srgbClr val="FFFF00"/>
              </a:solidFill>
              <a:cs typeface="MCS Jeddah S_U normal." pitchFamily="2" charset="-78"/>
            </a:endParaRPr>
          </a:p>
        </p:txBody>
      </p:sp>
      <p:sp>
        <p:nvSpPr>
          <p:cNvPr id="4" name="Rectangle 3"/>
          <p:cNvSpPr/>
          <p:nvPr/>
        </p:nvSpPr>
        <p:spPr>
          <a:xfrm>
            <a:off x="755576" y="1628800"/>
            <a:ext cx="7704856" cy="954107"/>
          </a:xfrm>
          <a:prstGeom prst="rect">
            <a:avLst/>
          </a:prstGeom>
        </p:spPr>
        <p:txBody>
          <a:bodyPr wrap="square">
            <a:spAutoFit/>
          </a:bodyPr>
          <a:lstStyle/>
          <a:p>
            <a:r>
              <a:rPr lang="ar-SA" sz="2800" dirty="0">
                <a:solidFill>
                  <a:srgbClr val="FFFF00"/>
                </a:solidFill>
                <a:cs typeface="MCS Jeddah S_U normal." pitchFamily="2" charset="-78"/>
              </a:rPr>
              <a:t>تعتبر عمليات أمن الحوسبة المهنية جزءًا أساسيًا من حماية المعلومات والأنظمة في المؤسسات</a:t>
            </a:r>
            <a:endParaRPr lang="en-US" sz="2800" dirty="0">
              <a:solidFill>
                <a:srgbClr val="FFFF00"/>
              </a:solidFill>
              <a:cs typeface="MCS Jeddah S_U normal." pitchFamily="2" charset="-78"/>
            </a:endParaRPr>
          </a:p>
        </p:txBody>
      </p:sp>
      <p:sp>
        <p:nvSpPr>
          <p:cNvPr id="7" name="Rectangle 6"/>
          <p:cNvSpPr/>
          <p:nvPr/>
        </p:nvSpPr>
        <p:spPr>
          <a:xfrm>
            <a:off x="853291" y="4725144"/>
            <a:ext cx="7207494" cy="1951191"/>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تقييم </a:t>
            </a:r>
            <a:r>
              <a:rPr lang="ar-SA" sz="3600" b="1" dirty="0" smtClean="0">
                <a:solidFill>
                  <a:srgbClr val="FFFF00"/>
                </a:solidFill>
                <a:cs typeface="MCS Jeddah S_U normal." pitchFamily="2" charset="-78"/>
              </a:rPr>
              <a:t>المخاطر</a:t>
            </a:r>
            <a:endParaRPr lang="ar-SA" sz="3600" b="1" dirty="0">
              <a:solidFill>
                <a:srgbClr val="FFFF00"/>
              </a:solidFill>
              <a:cs typeface="MCS Jeddah S_U normal." pitchFamily="2" charset="-78"/>
            </a:endParaRPr>
          </a:p>
          <a:p>
            <a:pPr algn="ctr"/>
            <a:r>
              <a:rPr lang="ar-SA" sz="2400" dirty="0">
                <a:solidFill>
                  <a:srgbClr val="FFFF00"/>
                </a:solidFill>
                <a:cs typeface="MCS Jeddah S_U normal." pitchFamily="2" charset="-78"/>
              </a:rPr>
              <a:t> يجب على المؤسسات إجراء تقييم دوري للمخاطر لتحديد الثغرات المحتملة والتهديدات ويتضمن ذلك تحليل الأنظمة </a:t>
            </a:r>
            <a:r>
              <a:rPr lang="ar-SA" sz="2400" dirty="0" smtClean="0">
                <a:solidFill>
                  <a:srgbClr val="FFFF00"/>
                </a:solidFill>
                <a:cs typeface="MCS Jeddah S_U normal." pitchFamily="2" charset="-78"/>
              </a:rPr>
              <a:t>لتحديد </a:t>
            </a:r>
            <a:r>
              <a:rPr lang="ar-SA" sz="2400" dirty="0">
                <a:solidFill>
                  <a:srgbClr val="FFFF00"/>
                </a:solidFill>
                <a:cs typeface="MCS Jeddah S_U normal." pitchFamily="2" charset="-78"/>
              </a:rPr>
              <a:t>النقاط الضعيفة</a:t>
            </a:r>
          </a:p>
        </p:txBody>
      </p:sp>
    </p:spTree>
    <p:extLst>
      <p:ext uri="{BB962C8B-B14F-4D97-AF65-F5344CB8AC3E}">
        <p14:creationId xmlns:p14="http://schemas.microsoft.com/office/powerpoint/2010/main" val="3363314784"/>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3">
                                            <p:txEl>
                                              <p:pRg st="0" end="0"/>
                                            </p:txEl>
                                          </p:spTgt>
                                        </p:tgtEl>
                                      </p:cBhvr>
                                    </p:animEffect>
                                  </p:childTnLst>
                                </p:cTn>
                              </p:par>
                              <p:par>
                                <p:cTn id="17" presetID="53" presetClass="entr" presetSubtype="16"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p:cTn id="19"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
                                            <p:txEl>
                                              <p:pRg st="1" end="1"/>
                                            </p:txEl>
                                          </p:spTgt>
                                        </p:tgtEl>
                                      </p:cBhvr>
                                    </p:animEffect>
                                  </p:childTnLst>
                                </p:cTn>
                              </p:par>
                              <p:par>
                                <p:cTn id="22" presetID="53" presetClass="entr" presetSubtype="16"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p:cTn id="24"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5"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Effect transition="in" filter="fad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6" name="Rectangle 5"/>
          <p:cNvSpPr/>
          <p:nvPr/>
        </p:nvSpPr>
        <p:spPr>
          <a:xfrm>
            <a:off x="827584" y="764704"/>
            <a:ext cx="7207494" cy="2599263"/>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تطوير سياسة أمن </a:t>
            </a:r>
            <a:r>
              <a:rPr lang="ar-SA" sz="3600" b="1" dirty="0" smtClean="0">
                <a:solidFill>
                  <a:srgbClr val="FFFF00"/>
                </a:solidFill>
                <a:cs typeface="MCS Jeddah S_U normal." pitchFamily="2" charset="-78"/>
              </a:rPr>
              <a:t>المعلومات</a:t>
            </a:r>
            <a:endParaRPr lang="ar-SA" sz="3600" b="1" dirty="0">
              <a:solidFill>
                <a:srgbClr val="FFFF00"/>
              </a:solidFill>
              <a:cs typeface="MCS Jeddah S_U normal." pitchFamily="2" charset="-78"/>
            </a:endParaRPr>
          </a:p>
          <a:p>
            <a:pPr algn="ctr"/>
            <a:r>
              <a:rPr lang="ar-SA" sz="2400" dirty="0">
                <a:solidFill>
                  <a:srgbClr val="FFFF00"/>
                </a:solidFill>
                <a:cs typeface="MCS Jeddah S_U normal." pitchFamily="2" charset="-78"/>
              </a:rPr>
              <a:t> يجب إنشاء سياسات واضحة لأمن المعلومات تحدد الإجراءات </a:t>
            </a:r>
            <a:r>
              <a:rPr lang="ar-SA" sz="2400" dirty="0" smtClean="0">
                <a:solidFill>
                  <a:srgbClr val="FFFF00"/>
                </a:solidFill>
                <a:cs typeface="MCS Jeddah S_U normal." pitchFamily="2" charset="-78"/>
              </a:rPr>
              <a:t>التي </a:t>
            </a:r>
            <a:r>
              <a:rPr lang="ar-SA" sz="2400" dirty="0">
                <a:solidFill>
                  <a:srgbClr val="FFFF00"/>
                </a:solidFill>
                <a:cs typeface="MCS Jeddah S_U normal." pitchFamily="2" charset="-78"/>
              </a:rPr>
              <a:t>يجب اتباعها لحماية المعلومات </a:t>
            </a:r>
            <a:r>
              <a:rPr lang="ar-SA" sz="2400" dirty="0" smtClean="0">
                <a:solidFill>
                  <a:srgbClr val="FFFF00"/>
                </a:solidFill>
                <a:cs typeface="MCS Jeddah S_U normal." pitchFamily="2" charset="-78"/>
              </a:rPr>
              <a:t>والبيانات</a:t>
            </a:r>
            <a:endParaRPr lang="ar-SA" sz="2400" dirty="0">
              <a:solidFill>
                <a:srgbClr val="FFFF00"/>
              </a:solidFill>
              <a:cs typeface="MCS Jeddah S_U normal." pitchFamily="2" charset="-78"/>
            </a:endParaRPr>
          </a:p>
        </p:txBody>
      </p:sp>
      <p:sp>
        <p:nvSpPr>
          <p:cNvPr id="8" name="Rectangle 7"/>
          <p:cNvSpPr/>
          <p:nvPr/>
        </p:nvSpPr>
        <p:spPr>
          <a:xfrm>
            <a:off x="783193" y="3573016"/>
            <a:ext cx="7207494" cy="3024336"/>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تشفير البيانات </a:t>
            </a:r>
            <a:endParaRPr lang="en-US" sz="3600" b="1" dirty="0" smtClean="0">
              <a:solidFill>
                <a:srgbClr val="FFFF00"/>
              </a:solidFill>
              <a:cs typeface="MCS Jeddah S_U normal." pitchFamily="2" charset="-78"/>
            </a:endParaRPr>
          </a:p>
          <a:p>
            <a:pPr algn="ctr"/>
            <a:r>
              <a:rPr lang="ar-SA" sz="2400" dirty="0" smtClean="0">
                <a:solidFill>
                  <a:srgbClr val="FFFF00"/>
                </a:solidFill>
                <a:cs typeface="MCS Jeddah S_U normal." pitchFamily="2" charset="-78"/>
              </a:rPr>
              <a:t>يعتبر </a:t>
            </a:r>
            <a:r>
              <a:rPr lang="ar-SA" sz="2400" dirty="0">
                <a:solidFill>
                  <a:srgbClr val="FFFF00"/>
                </a:solidFill>
                <a:cs typeface="MCS Jeddah S_U normal." pitchFamily="2" charset="-78"/>
              </a:rPr>
              <a:t>تشفير البيانات واحدة من أهم العمليات حيث يتم استخدام تقنيات معينة لحماية البيانات بحيث تكون غير قابلة للقراءة إلا للأشخاص المصرح لهم</a:t>
            </a:r>
          </a:p>
        </p:txBody>
      </p:sp>
      <p:sp>
        <p:nvSpPr>
          <p:cNvPr id="2" name="Rectangle 1"/>
          <p:cNvSpPr/>
          <p:nvPr/>
        </p:nvSpPr>
        <p:spPr>
          <a:xfrm>
            <a:off x="6793677" y="53732"/>
            <a:ext cx="2350323" cy="369332"/>
          </a:xfrm>
          <a:prstGeom prst="rect">
            <a:avLst/>
          </a:prstGeom>
        </p:spPr>
        <p:txBody>
          <a:bodyPr wrap="none">
            <a:spAutoFit/>
          </a:bodyPr>
          <a:lstStyle/>
          <a:p>
            <a:r>
              <a:rPr lang="ar-SA" dirty="0">
                <a:solidFill>
                  <a:schemeClr val="bg1"/>
                </a:solidFill>
              </a:rPr>
              <a:t>عمليات تامين الحوسبة المهنية</a:t>
            </a:r>
          </a:p>
        </p:txBody>
      </p:sp>
    </p:spTree>
    <p:extLst>
      <p:ext uri="{BB962C8B-B14F-4D97-AF65-F5344CB8AC3E}">
        <p14:creationId xmlns:p14="http://schemas.microsoft.com/office/powerpoint/2010/main" val="1874517171"/>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6" name="Rectangle 5"/>
          <p:cNvSpPr/>
          <p:nvPr/>
        </p:nvSpPr>
        <p:spPr>
          <a:xfrm>
            <a:off x="827584" y="764704"/>
            <a:ext cx="7207494" cy="2599263"/>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استخدام </a:t>
            </a:r>
            <a:r>
              <a:rPr lang="ar-SA" sz="3600" b="1" dirty="0" smtClean="0">
                <a:solidFill>
                  <a:srgbClr val="FFFF00"/>
                </a:solidFill>
                <a:cs typeface="MCS Jeddah S_U normal." pitchFamily="2" charset="-78"/>
              </a:rPr>
              <a:t>أنظمة الحماية</a:t>
            </a:r>
            <a:endParaRPr lang="ar-SA" sz="3600" b="1" dirty="0">
              <a:solidFill>
                <a:srgbClr val="FFFF00"/>
              </a:solidFill>
              <a:cs typeface="MCS Jeddah S_U normal." pitchFamily="2" charset="-78"/>
            </a:endParaRPr>
          </a:p>
          <a:p>
            <a:pPr algn="ctr"/>
            <a:r>
              <a:rPr lang="ar-SA" sz="3600" b="1" dirty="0">
                <a:solidFill>
                  <a:srgbClr val="FFFF00"/>
                </a:solidFill>
                <a:cs typeface="MCS Jeddah S_U normal." pitchFamily="2" charset="-78"/>
              </a:rPr>
              <a:t> </a:t>
            </a:r>
            <a:r>
              <a:rPr lang="ar-SA" sz="2400" dirty="0">
                <a:solidFill>
                  <a:srgbClr val="FFFF00"/>
                </a:solidFill>
                <a:cs typeface="MCS Jeddah S_U normal." pitchFamily="2" charset="-78"/>
              </a:rPr>
              <a:t>يجب تركيب أنظمة حماية لتأمين الشبكات ضد الهجمات الخارجية تساعد </a:t>
            </a:r>
            <a:r>
              <a:rPr lang="ar-SA" sz="2400" u="sng" dirty="0">
                <a:solidFill>
                  <a:srgbClr val="FFFF00"/>
                </a:solidFill>
                <a:cs typeface="MCS Jeddah S_U normal." pitchFamily="2" charset="-78"/>
              </a:rPr>
              <a:t>جدران الحماية</a:t>
            </a:r>
            <a:r>
              <a:rPr lang="ar-SA" sz="2400" dirty="0">
                <a:solidFill>
                  <a:srgbClr val="FFFF00"/>
                </a:solidFill>
                <a:cs typeface="MCS Jeddah S_U normal." pitchFamily="2" charset="-78"/>
              </a:rPr>
              <a:t> في التحكم في حركة مرور البيانات وتصفية حركة المرور المشبوهة</a:t>
            </a:r>
          </a:p>
        </p:txBody>
      </p:sp>
      <p:sp>
        <p:nvSpPr>
          <p:cNvPr id="8" name="Rectangle 7"/>
          <p:cNvSpPr/>
          <p:nvPr/>
        </p:nvSpPr>
        <p:spPr>
          <a:xfrm>
            <a:off x="827584" y="3573016"/>
            <a:ext cx="7207494" cy="3024336"/>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تطبيق طبقة أمان إضافية </a:t>
            </a:r>
            <a:endParaRPr lang="ar-SA" sz="3600" b="1" dirty="0" smtClean="0">
              <a:solidFill>
                <a:srgbClr val="FFFF00"/>
              </a:solidFill>
              <a:cs typeface="MCS Jeddah S_U normal." pitchFamily="2" charset="-78"/>
            </a:endParaRPr>
          </a:p>
          <a:p>
            <a:pPr algn="ctr"/>
            <a:r>
              <a:rPr lang="ar-SA" sz="2400" dirty="0" smtClean="0">
                <a:solidFill>
                  <a:srgbClr val="FFFF00"/>
                </a:solidFill>
                <a:cs typeface="MCS Jeddah S_U normal." pitchFamily="2" charset="-78"/>
              </a:rPr>
              <a:t>يساعد </a:t>
            </a:r>
            <a:r>
              <a:rPr lang="ar-SA" sz="2400" dirty="0">
                <a:solidFill>
                  <a:srgbClr val="FFFF00"/>
                </a:solidFill>
                <a:cs typeface="MCS Jeddah S_U normal." pitchFamily="2" charset="-78"/>
              </a:rPr>
              <a:t>استخدام </a:t>
            </a:r>
            <a:r>
              <a:rPr lang="ar-SA" sz="2400" dirty="0" smtClean="0">
                <a:solidFill>
                  <a:srgbClr val="FFFF00"/>
                </a:solidFill>
                <a:cs typeface="MCS Jeddah S_U normal." pitchFamily="2" charset="-78"/>
              </a:rPr>
              <a:t>طبقة </a:t>
            </a:r>
            <a:r>
              <a:rPr lang="ar-SA" sz="2400" dirty="0">
                <a:solidFill>
                  <a:srgbClr val="FFFF00"/>
                </a:solidFill>
                <a:cs typeface="MCS Jeddah S_U normal." pitchFamily="2" charset="-78"/>
              </a:rPr>
              <a:t>أمان إضافية للحسابات مما يقلل من فرص الوصول غير المصرح به</a:t>
            </a:r>
          </a:p>
        </p:txBody>
      </p:sp>
      <p:sp>
        <p:nvSpPr>
          <p:cNvPr id="2" name="Rectangle 1"/>
          <p:cNvSpPr/>
          <p:nvPr/>
        </p:nvSpPr>
        <p:spPr>
          <a:xfrm>
            <a:off x="6793677" y="53732"/>
            <a:ext cx="2350323" cy="369332"/>
          </a:xfrm>
          <a:prstGeom prst="rect">
            <a:avLst/>
          </a:prstGeom>
        </p:spPr>
        <p:txBody>
          <a:bodyPr wrap="none">
            <a:spAutoFit/>
          </a:bodyPr>
          <a:lstStyle/>
          <a:p>
            <a:r>
              <a:rPr lang="ar-SA" dirty="0">
                <a:solidFill>
                  <a:schemeClr val="bg1"/>
                </a:solidFill>
              </a:rPr>
              <a:t>عمليات تامين الحوسبة المهنية</a:t>
            </a:r>
          </a:p>
        </p:txBody>
      </p:sp>
    </p:spTree>
    <p:extLst>
      <p:ext uri="{BB962C8B-B14F-4D97-AF65-F5344CB8AC3E}">
        <p14:creationId xmlns:p14="http://schemas.microsoft.com/office/powerpoint/2010/main" val="3059220413"/>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6" name="Rectangle 5"/>
          <p:cNvSpPr/>
          <p:nvPr/>
        </p:nvSpPr>
        <p:spPr>
          <a:xfrm>
            <a:off x="827584" y="764704"/>
            <a:ext cx="7207494" cy="2599263"/>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تحديث البرمجيات </a:t>
            </a:r>
            <a:endParaRPr lang="ar-SA" sz="3600" b="1" dirty="0" smtClean="0">
              <a:solidFill>
                <a:srgbClr val="FFFF00"/>
              </a:solidFill>
              <a:cs typeface="MCS Jeddah S_U normal." pitchFamily="2" charset="-78"/>
            </a:endParaRPr>
          </a:p>
          <a:p>
            <a:pPr algn="ctr"/>
            <a:r>
              <a:rPr lang="ar-SA" sz="2400" dirty="0">
                <a:solidFill>
                  <a:srgbClr val="FFFF00"/>
                </a:solidFill>
                <a:cs typeface="MCS Jeddah S_U normal." pitchFamily="2" charset="-78"/>
              </a:rPr>
              <a:t>يجب أن يتم تحديث أنظمة التشغيل والتطبيقات بشكل دوري لتصحيح الثغرات </a:t>
            </a:r>
            <a:r>
              <a:rPr lang="ar-SA" sz="2400" dirty="0" smtClean="0">
                <a:solidFill>
                  <a:srgbClr val="FFFF00"/>
                </a:solidFill>
                <a:cs typeface="MCS Jeddah S_U normal." pitchFamily="2" charset="-78"/>
              </a:rPr>
              <a:t>الأمنية</a:t>
            </a:r>
            <a:endParaRPr lang="ar-SA" sz="2400" dirty="0">
              <a:solidFill>
                <a:srgbClr val="FFFF00"/>
              </a:solidFill>
              <a:cs typeface="MCS Jeddah S_U normal." pitchFamily="2" charset="-78"/>
            </a:endParaRPr>
          </a:p>
        </p:txBody>
      </p:sp>
      <p:sp>
        <p:nvSpPr>
          <p:cNvPr id="8" name="Rectangle 7"/>
          <p:cNvSpPr/>
          <p:nvPr/>
        </p:nvSpPr>
        <p:spPr>
          <a:xfrm>
            <a:off x="783193" y="3573016"/>
            <a:ext cx="7207494" cy="3024336"/>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التصميم الإيجابي </a:t>
            </a:r>
            <a:r>
              <a:rPr lang="ar-SA" sz="3600" b="1" dirty="0" smtClean="0">
                <a:solidFill>
                  <a:srgbClr val="FFFF00"/>
                </a:solidFill>
                <a:cs typeface="MCS Jeddah S_U normal." pitchFamily="2" charset="-78"/>
              </a:rPr>
              <a:t>للأمان</a:t>
            </a:r>
            <a:endParaRPr lang="ar-SA" sz="3600" b="1" dirty="0">
              <a:solidFill>
                <a:srgbClr val="FFFF00"/>
              </a:solidFill>
              <a:cs typeface="MCS Jeddah S_U normal." pitchFamily="2" charset="-78"/>
            </a:endParaRPr>
          </a:p>
          <a:p>
            <a:pPr algn="ctr"/>
            <a:r>
              <a:rPr lang="ar-SA" sz="3600" b="1" dirty="0">
                <a:solidFill>
                  <a:srgbClr val="FFFF00"/>
                </a:solidFill>
                <a:cs typeface="MCS Jeddah S_U normal." pitchFamily="2" charset="-78"/>
              </a:rPr>
              <a:t> </a:t>
            </a:r>
            <a:r>
              <a:rPr lang="ar-SA" sz="2400" dirty="0">
                <a:solidFill>
                  <a:srgbClr val="FFFF00"/>
                </a:solidFill>
                <a:cs typeface="MCS Jeddah S_U normal." pitchFamily="2" charset="-78"/>
              </a:rPr>
              <a:t>يتعين على المطورين وفرق التكنولوجيا دمج الأمان في جميع مراحل تطوير المشاريع بدءًا من التصميم إلى الاختبار</a:t>
            </a:r>
          </a:p>
        </p:txBody>
      </p:sp>
      <p:sp>
        <p:nvSpPr>
          <p:cNvPr id="2" name="Rectangle 1"/>
          <p:cNvSpPr/>
          <p:nvPr/>
        </p:nvSpPr>
        <p:spPr>
          <a:xfrm>
            <a:off x="6793677" y="53732"/>
            <a:ext cx="2350323" cy="369332"/>
          </a:xfrm>
          <a:prstGeom prst="rect">
            <a:avLst/>
          </a:prstGeom>
        </p:spPr>
        <p:txBody>
          <a:bodyPr wrap="none">
            <a:spAutoFit/>
          </a:bodyPr>
          <a:lstStyle/>
          <a:p>
            <a:r>
              <a:rPr lang="ar-SA" dirty="0">
                <a:solidFill>
                  <a:schemeClr val="bg1"/>
                </a:solidFill>
              </a:rPr>
              <a:t>عمليات تامين الحوسبة المهنية</a:t>
            </a:r>
          </a:p>
        </p:txBody>
      </p:sp>
    </p:spTree>
    <p:extLst>
      <p:ext uri="{BB962C8B-B14F-4D97-AF65-F5344CB8AC3E}">
        <p14:creationId xmlns:p14="http://schemas.microsoft.com/office/powerpoint/2010/main" val="1776283795"/>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6" name="Rectangle 5"/>
          <p:cNvSpPr/>
          <p:nvPr/>
        </p:nvSpPr>
        <p:spPr>
          <a:xfrm>
            <a:off x="827584" y="764704"/>
            <a:ext cx="7207494" cy="2599263"/>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التدريب </a:t>
            </a:r>
            <a:r>
              <a:rPr lang="ar-SA" sz="3600" b="1" dirty="0" smtClean="0">
                <a:solidFill>
                  <a:srgbClr val="FFFF00"/>
                </a:solidFill>
                <a:cs typeface="MCS Jeddah S_U normal." pitchFamily="2" charset="-78"/>
              </a:rPr>
              <a:t>والتوعية</a:t>
            </a:r>
            <a:endParaRPr lang="ar-SA" sz="3600" b="1" dirty="0">
              <a:solidFill>
                <a:srgbClr val="FFFF00"/>
              </a:solidFill>
              <a:cs typeface="MCS Jeddah S_U normal." pitchFamily="2" charset="-78"/>
            </a:endParaRPr>
          </a:p>
          <a:p>
            <a:pPr algn="ctr"/>
            <a:r>
              <a:rPr lang="ar-SA" sz="3600" b="1" dirty="0">
                <a:solidFill>
                  <a:srgbClr val="FFFF00"/>
                </a:solidFill>
                <a:cs typeface="MCS Jeddah S_U normal." pitchFamily="2" charset="-78"/>
              </a:rPr>
              <a:t> </a:t>
            </a:r>
            <a:r>
              <a:rPr lang="ar-SA" sz="2400" dirty="0">
                <a:solidFill>
                  <a:srgbClr val="FFFF00"/>
                </a:solidFill>
                <a:cs typeface="MCS Jeddah S_U normal." pitchFamily="2" charset="-78"/>
              </a:rPr>
              <a:t>يعتبر التدريب المستمر للموظفين على أفضل ممارسات الأمان أمرًا أساسيًا ويجب أن يكون جميع الموظفين واعين لمخاطر الأمان السيبراني وكيفية التعامل معها</a:t>
            </a:r>
          </a:p>
        </p:txBody>
      </p:sp>
      <p:sp>
        <p:nvSpPr>
          <p:cNvPr id="8" name="Rectangle 7"/>
          <p:cNvSpPr/>
          <p:nvPr/>
        </p:nvSpPr>
        <p:spPr>
          <a:xfrm>
            <a:off x="783193" y="3573016"/>
            <a:ext cx="7207494" cy="3024336"/>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استجابة </a:t>
            </a:r>
            <a:r>
              <a:rPr lang="ar-SA" sz="3600" b="1" dirty="0" smtClean="0">
                <a:solidFill>
                  <a:srgbClr val="FFFF00"/>
                </a:solidFill>
                <a:cs typeface="MCS Jeddah S_U normal." pitchFamily="2" charset="-78"/>
              </a:rPr>
              <a:t>الحوادث</a:t>
            </a:r>
            <a:endParaRPr lang="ar-SA" sz="3600" b="1" dirty="0">
              <a:solidFill>
                <a:srgbClr val="FFFF00"/>
              </a:solidFill>
              <a:cs typeface="MCS Jeddah S_U normal." pitchFamily="2" charset="-78"/>
            </a:endParaRPr>
          </a:p>
          <a:p>
            <a:pPr algn="ctr"/>
            <a:r>
              <a:rPr lang="ar-SA" sz="3600" b="1" dirty="0">
                <a:solidFill>
                  <a:srgbClr val="FFFF00"/>
                </a:solidFill>
                <a:cs typeface="MCS Jeddah S_U normal." pitchFamily="2" charset="-78"/>
              </a:rPr>
              <a:t> </a:t>
            </a:r>
            <a:r>
              <a:rPr lang="ar-SA" sz="2400" dirty="0">
                <a:solidFill>
                  <a:srgbClr val="FFFF00"/>
                </a:solidFill>
                <a:cs typeface="MCS Jeddah S_U normal." pitchFamily="2" charset="-78"/>
              </a:rPr>
              <a:t>تطوير خطة استجابة للحوادث تحدد كيفية التعامل مع الهجمات والاختراقات عند حدوثها بما في ذلك تحديد الفرق المسؤولة والاستراتيجيات اللازمة للتعافي</a:t>
            </a:r>
          </a:p>
        </p:txBody>
      </p:sp>
      <p:sp>
        <p:nvSpPr>
          <p:cNvPr id="2" name="Rectangle 1"/>
          <p:cNvSpPr/>
          <p:nvPr/>
        </p:nvSpPr>
        <p:spPr>
          <a:xfrm>
            <a:off x="6793677" y="53732"/>
            <a:ext cx="2350323" cy="369332"/>
          </a:xfrm>
          <a:prstGeom prst="rect">
            <a:avLst/>
          </a:prstGeom>
        </p:spPr>
        <p:txBody>
          <a:bodyPr wrap="none">
            <a:spAutoFit/>
          </a:bodyPr>
          <a:lstStyle/>
          <a:p>
            <a:r>
              <a:rPr lang="ar-SA" dirty="0">
                <a:solidFill>
                  <a:schemeClr val="bg1"/>
                </a:solidFill>
              </a:rPr>
              <a:t>عمليات تامين الحوسبة المهنية</a:t>
            </a:r>
          </a:p>
        </p:txBody>
      </p:sp>
    </p:spTree>
    <p:extLst>
      <p:ext uri="{BB962C8B-B14F-4D97-AF65-F5344CB8AC3E}">
        <p14:creationId xmlns:p14="http://schemas.microsoft.com/office/powerpoint/2010/main" val="2765086158"/>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l="-4000" r="-4000"/>
          </a:stretch>
        </a:blipFill>
        <a:effectLst/>
      </p:bgPr>
    </p:bg>
    <p:spTree>
      <p:nvGrpSpPr>
        <p:cNvPr id="1" name=""/>
        <p:cNvGrpSpPr/>
        <p:nvPr/>
      </p:nvGrpSpPr>
      <p:grpSpPr>
        <a:xfrm>
          <a:off x="0" y="0"/>
          <a:ext cx="0" cy="0"/>
          <a:chOff x="0" y="0"/>
          <a:chExt cx="0" cy="0"/>
        </a:xfrm>
      </p:grpSpPr>
      <p:sp>
        <p:nvSpPr>
          <p:cNvPr id="6" name="Rectangle 5"/>
          <p:cNvSpPr/>
          <p:nvPr/>
        </p:nvSpPr>
        <p:spPr>
          <a:xfrm>
            <a:off x="827584" y="764704"/>
            <a:ext cx="7207494" cy="2599263"/>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3600" b="1" dirty="0">
                <a:solidFill>
                  <a:srgbClr val="FFFF00"/>
                </a:solidFill>
                <a:cs typeface="MCS Jeddah S_U normal." pitchFamily="2" charset="-78"/>
              </a:rPr>
              <a:t>نسخ احتياطية </a:t>
            </a:r>
            <a:r>
              <a:rPr lang="ar-SA" sz="3600" b="1" dirty="0" smtClean="0">
                <a:solidFill>
                  <a:srgbClr val="FFFF00"/>
                </a:solidFill>
                <a:cs typeface="MCS Jeddah S_U normal." pitchFamily="2" charset="-78"/>
              </a:rPr>
              <a:t>للبيانات</a:t>
            </a:r>
            <a:endParaRPr lang="ar-SA" sz="3600" b="1" dirty="0">
              <a:solidFill>
                <a:srgbClr val="FFFF00"/>
              </a:solidFill>
              <a:cs typeface="MCS Jeddah S_U normal." pitchFamily="2" charset="-78"/>
            </a:endParaRPr>
          </a:p>
          <a:p>
            <a:pPr algn="ctr"/>
            <a:r>
              <a:rPr lang="ar-SA" sz="3600" b="1" dirty="0">
                <a:solidFill>
                  <a:srgbClr val="FFFF00"/>
                </a:solidFill>
                <a:cs typeface="MCS Jeddah S_U normal." pitchFamily="2" charset="-78"/>
              </a:rPr>
              <a:t> </a:t>
            </a:r>
            <a:r>
              <a:rPr lang="ar-SA" sz="2400" dirty="0">
                <a:solidFill>
                  <a:srgbClr val="FFFF00"/>
                </a:solidFill>
                <a:cs typeface="MCS Jeddah S_U normal." pitchFamily="2" charset="-78"/>
              </a:rPr>
              <a:t>يجب إجراء نسخ احتياطية دورية للبيانات لضمان استعادة المعلومات في حال حدوث فقدان أو تلف للبيانات</a:t>
            </a:r>
          </a:p>
        </p:txBody>
      </p:sp>
      <p:sp>
        <p:nvSpPr>
          <p:cNvPr id="8" name="Rectangle 7"/>
          <p:cNvSpPr/>
          <p:nvPr/>
        </p:nvSpPr>
        <p:spPr>
          <a:xfrm>
            <a:off x="783193" y="3573016"/>
            <a:ext cx="7207494" cy="3024336"/>
          </a:xfrm>
          <a:prstGeom prst="rect">
            <a:avLst/>
          </a:prstGeom>
          <a:solidFill>
            <a:srgbClr val="FF0000"/>
          </a:solidFill>
          <a:ln w="571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2400" smtClean="0">
                <a:solidFill>
                  <a:srgbClr val="FFFF00"/>
                </a:solidFill>
                <a:cs typeface="MCS Jeddah S_U normal." pitchFamily="2" charset="-78"/>
              </a:rPr>
              <a:t>بشكل </a:t>
            </a:r>
            <a:r>
              <a:rPr lang="ar-SA" sz="2400" dirty="0">
                <a:solidFill>
                  <a:srgbClr val="FFFF00"/>
                </a:solidFill>
                <a:cs typeface="MCS Jeddah S_U normal." pitchFamily="2" charset="-78"/>
              </a:rPr>
              <a:t>عام تعتبر عمليات أمن الحوسبة المهنية ضرورية لضمان حماية المعلومات والأنظمة من الهجمات والتهديدات  ومن خلال تنفيذ هذه العمليات بشكل فعال يمكن للمؤسسات تقليل المخاطر وتعزيز ثقة المستخدمين والمستثمرين في أنظمتها</a:t>
            </a:r>
          </a:p>
        </p:txBody>
      </p:sp>
      <p:sp>
        <p:nvSpPr>
          <p:cNvPr id="2" name="Rectangle 1"/>
          <p:cNvSpPr/>
          <p:nvPr/>
        </p:nvSpPr>
        <p:spPr>
          <a:xfrm>
            <a:off x="6793677" y="53732"/>
            <a:ext cx="2350323" cy="369332"/>
          </a:xfrm>
          <a:prstGeom prst="rect">
            <a:avLst/>
          </a:prstGeom>
        </p:spPr>
        <p:txBody>
          <a:bodyPr wrap="none">
            <a:spAutoFit/>
          </a:bodyPr>
          <a:lstStyle/>
          <a:p>
            <a:r>
              <a:rPr lang="ar-SA" dirty="0">
                <a:solidFill>
                  <a:schemeClr val="bg1"/>
                </a:solidFill>
              </a:rPr>
              <a:t>عمليات تامين الحوسبة المهنية</a:t>
            </a:r>
          </a:p>
        </p:txBody>
      </p:sp>
    </p:spTree>
    <p:extLst>
      <p:ext uri="{BB962C8B-B14F-4D97-AF65-F5344CB8AC3E}">
        <p14:creationId xmlns:p14="http://schemas.microsoft.com/office/powerpoint/2010/main" val="4094854460"/>
      </p:ext>
    </p:extLst>
  </p:cSld>
  <p:clrMapOvr>
    <a:masterClrMapping/>
  </p:clrMapOvr>
  <mc:AlternateContent xmlns:mc="http://schemas.openxmlformats.org/markup-compatibility/2006" xmlns:p14="http://schemas.microsoft.com/office/powerpoint/2010/main">
    <mc:Choice Requires="p14">
      <p:transition spd="slow" p14:dur="1200">
        <p14:prism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1043608" y="188640"/>
            <a:ext cx="2952328" cy="1196752"/>
          </a:xfrm>
          <a:prstGeom prst="rect">
            <a:avLst/>
          </a:prstGeom>
          <a:noFill/>
          <a:ln w="9525">
            <a:noFill/>
            <a:miter lim="800000"/>
            <a:headEnd/>
            <a:tailEnd/>
          </a:ln>
        </p:spPr>
      </p:pic>
      <p:sp>
        <p:nvSpPr>
          <p:cNvPr id="3" name="Rectangle 2"/>
          <p:cNvSpPr/>
          <p:nvPr/>
        </p:nvSpPr>
        <p:spPr>
          <a:xfrm rot="305261">
            <a:off x="2423224" y="462461"/>
            <a:ext cx="4572000" cy="461665"/>
          </a:xfrm>
          <a:prstGeom prst="rect">
            <a:avLst/>
          </a:prstGeom>
        </p:spPr>
        <p:txBody>
          <a:bodyPr>
            <a:spAutoFit/>
          </a:bodyPr>
          <a:lstStyle/>
          <a:p>
            <a:pPr fontAlgn="base">
              <a:spcBef>
                <a:spcPct val="0"/>
              </a:spcBef>
              <a:spcAft>
                <a:spcPct val="0"/>
              </a:spcAft>
              <a:defRPr/>
            </a:pPr>
            <a:r>
              <a:rPr lang="ar-SA" sz="2400" dirty="0">
                <a:solidFill>
                  <a:srgbClr val="FF0000"/>
                </a:solidFill>
                <a:cs typeface="MCS Taybah S_U normal." pitchFamily="2" charset="-78"/>
              </a:rPr>
              <a:t>قضايا أخلاقية ومهنية</a:t>
            </a:r>
          </a:p>
        </p:txBody>
      </p:sp>
    </p:spTree>
    <p:extLst>
      <p:ext uri="{BB962C8B-B14F-4D97-AF65-F5344CB8AC3E}">
        <p14:creationId xmlns:p14="http://schemas.microsoft.com/office/powerpoint/2010/main" val="30213209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Facet</Template>
  <TotalTime>9238</TotalTime>
  <Words>743</Words>
  <Application>Microsoft Office PowerPoint</Application>
  <PresentationFormat>On-screen Show (4:3)</PresentationFormat>
  <Paragraphs>94</Paragraphs>
  <Slides>15</Slides>
  <Notes>0</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15</vt:i4>
      </vt:variant>
    </vt:vector>
  </HeadingPairs>
  <TitlesOfParts>
    <vt:vector size="30" baseType="lpstr">
      <vt:lpstr>Aharoni</vt:lpstr>
      <vt:lpstr>Al hosam</vt:lpstr>
      <vt:lpstr>AL-Hosam</vt:lpstr>
      <vt:lpstr>Arial</vt:lpstr>
      <vt:lpstr>Calibri</vt:lpstr>
      <vt:lpstr>Constantia</vt:lpstr>
      <vt:lpstr>Franklin Gothic Heavy</vt:lpstr>
      <vt:lpstr>Majalla UI</vt:lpstr>
      <vt:lpstr>MCS Jeddah S_U normal.</vt:lpstr>
      <vt:lpstr>MCS Taybah S_U normal.</vt:lpstr>
      <vt:lpstr>Times New Roman</vt:lpstr>
      <vt:lpstr>Traditional Arabic</vt:lpstr>
      <vt:lpstr>Wingdings 2</vt:lpstr>
      <vt:lpstr>Office Theme</vt:lpstr>
      <vt:lpstr>1_Flow</vt:lpstr>
      <vt:lpstr>PowerPoint Presentation</vt:lpstr>
      <vt:lpstr>المحاضرة السابقة</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mosab</dc:creator>
  <cp:lastModifiedBy>hisham</cp:lastModifiedBy>
  <cp:revision>1308</cp:revision>
  <dcterms:created xsi:type="dcterms:W3CDTF">2011-08-17T19:43:41Z</dcterms:created>
  <dcterms:modified xsi:type="dcterms:W3CDTF">2026-01-17T16:05:15Z</dcterms:modified>
</cp:coreProperties>
</file>