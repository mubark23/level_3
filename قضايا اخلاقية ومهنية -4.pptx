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20"/>
  </p:notesMasterIdLst>
  <p:sldIdLst>
    <p:sldId id="500" r:id="rId3"/>
    <p:sldId id="608" r:id="rId4"/>
    <p:sldId id="625" r:id="rId5"/>
    <p:sldId id="512" r:id="rId6"/>
    <p:sldId id="498" r:id="rId7"/>
    <p:sldId id="609" r:id="rId8"/>
    <p:sldId id="630" r:id="rId9"/>
    <p:sldId id="631" r:id="rId10"/>
    <p:sldId id="632" r:id="rId11"/>
    <p:sldId id="633" r:id="rId12"/>
    <p:sldId id="596" r:id="rId13"/>
    <p:sldId id="626" r:id="rId14"/>
    <p:sldId id="634" r:id="rId15"/>
    <p:sldId id="635" r:id="rId16"/>
    <p:sldId id="636" r:id="rId17"/>
    <p:sldId id="637" r:id="rId18"/>
    <p:sldId id="514" r:id="rId19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479" autoAdjust="0"/>
    <p:restoredTop sz="94849" autoAdjust="0"/>
  </p:normalViewPr>
  <p:slideViewPr>
    <p:cSldViewPr>
      <p:cViewPr varScale="1">
        <p:scale>
          <a:sx n="70" d="100"/>
          <a:sy n="70" d="100"/>
        </p:scale>
        <p:origin x="12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قضايا أخلاقية ومهنية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635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7544" y="1916832"/>
            <a:ext cx="8480014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Ethical  and  professional</a:t>
            </a:r>
            <a:endParaRPr lang="ar-SA" sz="54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  <a:p>
            <a:pPr algn="ctr"/>
            <a:r>
              <a:rPr lang="en-US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</a:t>
            </a:r>
            <a:r>
              <a:rPr lang="en-US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issues</a:t>
            </a:r>
            <a:r>
              <a:rPr lang="ar-SA" sz="5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   </a:t>
            </a:r>
            <a:endParaRPr lang="en-US" sz="5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91880" y="6359778"/>
            <a:ext cx="2643672" cy="523220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د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.</a:t>
            </a:r>
            <a:r>
              <a:rPr lang="ar-SA" dirty="0" smtClean="0">
                <a:solidFill>
                  <a:srgbClr val="FFFF00"/>
                </a:solidFill>
                <a:cs typeface="MCS Jeddah S_U normal." pitchFamily="2" charset="-78"/>
              </a:rPr>
              <a:t>هشام </a:t>
            </a:r>
            <a:r>
              <a:rPr lang="ar-SA" dirty="0">
                <a:solidFill>
                  <a:srgbClr val="FFFF00"/>
                </a:solidFill>
                <a:cs typeface="MCS Jeddah S_U normal." pitchFamily="2" charset="-78"/>
              </a:rPr>
              <a:t>كمال محمد درونكي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031" y="3599249"/>
            <a:ext cx="5273040" cy="276052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0" y="6482415"/>
            <a:ext cx="1525960" cy="277946"/>
          </a:xfrm>
          <a:prstGeom prst="ellipse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575290" y="6486942"/>
            <a:ext cx="1525960" cy="277946"/>
          </a:xfrm>
          <a:prstGeom prst="ellipse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>
            <a:normAutofit/>
          </a:bodyPr>
          <a:lstStyle/>
          <a:p>
            <a:r>
              <a:rPr lang="ar-SA" sz="4000" dirty="0" smtClean="0">
                <a:solidFill>
                  <a:srgbClr val="0000FF"/>
                </a:solidFill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4000" dirty="0">
              <a:solidFill>
                <a:srgbClr val="0000FF"/>
              </a:solidFill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6512" y="620688"/>
            <a:ext cx="918051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ar-SA" sz="2800" dirty="0">
                <a:cs typeface="MCS Jeddah S_U normal." pitchFamily="2" charset="-78"/>
              </a:rPr>
              <a:t>أهمية الأخلاقيات المهنية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بناء 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الثقة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الاستقرار  الاجتماعي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توجيه  السلوك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تحسين  الأداء</a:t>
            </a:r>
          </a:p>
          <a:p>
            <a:pPr lvl="0">
              <a:spcBef>
                <a:spcPct val="0"/>
              </a:spcBef>
              <a:defRPr/>
            </a:pPr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800" dirty="0">
                <a:cs typeface="MCS Jeddah S_U normal." pitchFamily="2" charset="-78"/>
              </a:rPr>
              <a:t>أهمية الأخلاقيات المهنية على الفرد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بناء 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الشخصية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الحماية  من  الانحراف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تحسين  الأداء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تعزيز  الثقة 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بالنفس</a:t>
            </a: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endParaRPr lang="en-US" sz="2000" dirty="0" smtClean="0">
              <a:solidFill>
                <a:srgbClr val="0070C0"/>
              </a:solidFill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800" dirty="0">
                <a:cs typeface="MCS Jeddah S_U normal." pitchFamily="2" charset="-78"/>
              </a:rPr>
              <a:t>أهمية الأخلاقيات المهنية على المجتمع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بناء الثقة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حماية المصلحة العامة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حقيق </a:t>
            </a: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العدالة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الاجتماعية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توجه الجهود نحو أهداف سامية </a:t>
            </a:r>
          </a:p>
        </p:txBody>
      </p:sp>
    </p:spTree>
    <p:extLst>
      <p:ext uri="{BB962C8B-B14F-4D97-AF65-F5344CB8AC3E}">
        <p14:creationId xmlns:p14="http://schemas.microsoft.com/office/powerpoint/2010/main" val="185008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99992" y="-243408"/>
            <a:ext cx="8229600" cy="864096"/>
          </a:xfrm>
        </p:spPr>
        <p:txBody>
          <a:bodyPr>
            <a:normAutofit/>
          </a:bodyPr>
          <a:lstStyle/>
          <a:p>
            <a:r>
              <a:rPr lang="ar-SA" sz="1200" dirty="0" smtClean="0"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12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06288" y="1500460"/>
            <a:ext cx="9180511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ar-SA" sz="2800" dirty="0">
                <a:cs typeface="MCS Jeddah S_U normal." pitchFamily="2" charset="-78"/>
              </a:rPr>
              <a:t>أهمية الأخلاقيات المهنية على </a:t>
            </a:r>
            <a:r>
              <a:rPr lang="ar-SA" sz="2800" dirty="0" smtClean="0">
                <a:cs typeface="MCS Jeddah S_U normal." pitchFamily="2" charset="-78"/>
              </a:rPr>
              <a:t>المنظمات</a:t>
            </a:r>
          </a:p>
          <a:p>
            <a:pPr>
              <a:spcBef>
                <a:spcPct val="0"/>
              </a:spcBef>
              <a:defRPr/>
            </a:pPr>
            <a:endParaRPr lang="ar-SA" sz="2400" dirty="0">
              <a:cs typeface="MCS Jeddah S_U normal." pitchFamily="2" charset="-78"/>
            </a:endParaRP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تعزيز  </a:t>
            </a: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السمعة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 smtClean="0">
                <a:solidFill>
                  <a:srgbClr val="0070C0"/>
                </a:solidFill>
                <a:cs typeface="MCS Jeddah S_U normal." pitchFamily="2" charset="-78"/>
              </a:rPr>
              <a:t>بئة عمل صحية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الاستقرار  والنمو</a:t>
            </a:r>
          </a:p>
          <a:p>
            <a:pPr lvl="0">
              <a:spcBef>
                <a:spcPct val="0"/>
              </a:spcBef>
              <a:defRPr/>
            </a:pPr>
            <a:r>
              <a:rPr lang="ar-SA" sz="2000" dirty="0">
                <a:solidFill>
                  <a:srgbClr val="0070C0"/>
                </a:solidFill>
                <a:cs typeface="MCS Jeddah S_U normal." pitchFamily="2" charset="-78"/>
              </a:rPr>
              <a:t>التزام المنظمة بالمسؤولية تجاه أصحاب المصلحة </a:t>
            </a:r>
          </a:p>
          <a:p>
            <a:pPr lvl="0">
              <a:spcBef>
                <a:spcPct val="0"/>
              </a:spcBef>
              <a:defRPr/>
            </a:pPr>
            <a:endParaRPr lang="ar-SA" sz="2000" dirty="0">
              <a:solidFill>
                <a:srgbClr val="0070C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0904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762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762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043608" y="1556792"/>
            <a:ext cx="7257473" cy="1800200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اداب مهنة </a:t>
            </a:r>
            <a:r>
              <a:rPr lang="ar-SA" sz="3600" dirty="0" smtClean="0">
                <a:solidFill>
                  <a:srgbClr val="FFFF00"/>
                </a:solidFill>
                <a:cs typeface="MCS Jeddah S_U normal." pitchFamily="2" charset="-78"/>
              </a:rPr>
              <a:t>الحاسوب</a:t>
            </a:r>
            <a:endParaRPr lang="ar-SA" sz="36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Flowchart: Multidocument 3"/>
          <p:cNvSpPr/>
          <p:nvPr/>
        </p:nvSpPr>
        <p:spPr>
          <a:xfrm>
            <a:off x="1170349" y="3789041"/>
            <a:ext cx="7103152" cy="208823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200" dirty="0" smtClean="0">
                <a:solidFill>
                  <a:srgbClr val="FFFF00"/>
                </a:solidFill>
                <a:cs typeface="MCS Jeddah S_U normal." pitchFamily="2" charset="-78"/>
              </a:rPr>
              <a:t>الخيارات </a:t>
            </a:r>
            <a:r>
              <a:rPr lang="ar-SA" sz="3200" dirty="0">
                <a:solidFill>
                  <a:srgbClr val="FFFF00"/>
                </a:solidFill>
                <a:cs typeface="MCS Jeddah S_U normal." pitchFamily="2" charset="-78"/>
              </a:rPr>
              <a:t>المهنية في مجال مهنة الحاسوب</a:t>
            </a: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9155" y="-1801711"/>
            <a:ext cx="5578771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اداب مهنة الحاسوب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1560" y="1009471"/>
            <a:ext cx="797396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تشمل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اداب مهنة الحاسوب مجموعة من المبادئ والسلوكيات التي ينبغي على المحترفين اتباعها لضمان ممارسة مهنية أخلاقية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ومسؤولة</a:t>
            </a:r>
            <a:endParaRPr lang="en-US" sz="28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endParaRPr lang="ar-SA" sz="28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هذه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الآداب تعكس الالتزام بالقيم الإنسانية والاجتماعية ويمكن تلخيصها في النقاط التالية :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608" y="3950252"/>
            <a:ext cx="6906290" cy="253048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1- احترام الخصوصية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يجب على المهنيين في مجال الحوسبة حماية معلومات المستخدمين والبيانات الشخصية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وعليهم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تجنب جمع أو استخدام المعلومات بطرق تضر بالأفراد واتباع القوانين المعمول بها في حماية البيانات</a:t>
            </a: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08304" y="-1710573"/>
            <a:ext cx="1871025" cy="21544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dirty="0">
                <a:solidFill>
                  <a:srgbClr val="FFFF00"/>
                </a:solidFill>
                <a:cs typeface="MCS Jeddah S_U normal." pitchFamily="2" charset="-78"/>
              </a:rPr>
              <a:t>اداب مهنة الحاسوب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9632" y="1052736"/>
            <a:ext cx="6408712" cy="23762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2- النزاهة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والشفافية </a:t>
            </a:r>
            <a:endParaRPr lang="ar-SA" sz="3600" b="1" dirty="0" smtClean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ينبغي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أن يكون عمل المحترف قائمًا على النزاهة.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ويتوجب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توضيح المعلومات المتعلقة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بالمنتجات والخدمات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التي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يقدمونها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والاعتراف بأخطاءهم عند حدوثها والعمل على تصحيحها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9632" y="3933056"/>
            <a:ext cx="6480720" cy="280831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3- المسؤولية الاجتماعية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يجب على المختصين في الحوسبة أن يكونوا واعين للتأثيرات الاجتماعية لتقنياتهم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وعليهم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التفكير في كيف يمكن أن تؤثر الحلول التكنولوجية التي يبتكرونها على المجتمع بشكل إيجابي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0759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03683" y="-1710573"/>
            <a:ext cx="168026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600" dirty="0">
                <a:solidFill>
                  <a:srgbClr val="FFFF00"/>
                </a:solidFill>
                <a:cs typeface="MCS Jeddah S_U normal." pitchFamily="2" charset="-78"/>
              </a:rPr>
              <a:t>اداب مهنة الحاسوب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9632" y="1052736"/>
            <a:ext cx="6408712" cy="237626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4- احترام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حقوق الملكية الفكرية </a:t>
            </a:r>
            <a:endParaRPr lang="ar-SA" sz="3600" b="1" dirty="0" smtClean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يجب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الالتزام بحقوق الملكية الفكرية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للآخرين ويتطلب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ذلك تجنب استخدام البرمجيات أو المحتوى دون إذن والامتثال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لقوانين البراءات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وحقوق النشر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9632" y="3717032"/>
            <a:ext cx="6480720" cy="280831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5- تعزيز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التنوع </a:t>
            </a:r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والشمول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يجب على المحترفين في الحوسبة العمل على خلق بيئات عمل متنوعة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وشاملة تذيد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من فرص الجميع دون تمييز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ويعتبر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تشجيع التنوع جزءًا أساسيًا من الابتكار والإبداع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3707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03683" y="-1710573"/>
            <a:ext cx="168026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600" dirty="0">
                <a:solidFill>
                  <a:srgbClr val="FFFF00"/>
                </a:solidFill>
                <a:cs typeface="MCS Jeddah S_U normal." pitchFamily="2" charset="-78"/>
              </a:rPr>
              <a:t>اداب مهنة الحاسوب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9632" y="692696"/>
            <a:ext cx="6408712" cy="273630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6- تحقيق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الجودة والأداء 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ينبغي أن يسعى المحترفون إلى تقديم خدمات ومنتجات عالية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الجودة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ويتطلب ذلك الالتزام بممارسات تطوير البرمجيات الفعالة واختبار الحلول بشكل مستمر للتأكد من التوافق مع احتياجات المستخدمين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9632" y="3933056"/>
            <a:ext cx="6480720" cy="280831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7- حماية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الأمن السيبراني 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يتحمل المتخصصون مسؤولية حماية الأنظمة والمعلومات ضد التهديدات السيبرانية وينبغي عليهم تطبيق أفضل الممارسات في الأمان والتأكد من أن الحلول التي يقدمونها آمنة ومستقرة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43222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03683" y="-1710573"/>
            <a:ext cx="168026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600" dirty="0">
                <a:solidFill>
                  <a:srgbClr val="FFFF00"/>
                </a:solidFill>
                <a:cs typeface="MCS Jeddah S_U normal." pitchFamily="2" charset="-78"/>
              </a:rPr>
              <a:t>اداب مهنة الحاسوب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9632" y="692696"/>
            <a:ext cx="6408712" cy="273630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8- التعلم المستمر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يتوجب على المحترفين في الحوسبة متابعة التطورات في مجالهم والتكيف مع التغييرات التقنية السريعة ويعتبر التعليم المستمر جزءًا أساسيًا للحفاظ على المهارات وكفاءة العمل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9632" y="3933056"/>
            <a:ext cx="6480720" cy="2365521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9- تعاون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وإيجابية في العمل 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يجب تعزيز التعاون بين الفرق المهنية وتبادل المعرفة والخبرات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ويعتبر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العمل بروح الفريق جزءًا مهمًا من تحقيق الأهداف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المشتركة</a:t>
            </a:r>
          </a:p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3111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03683" y="-1710573"/>
            <a:ext cx="168026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1600" dirty="0">
                <a:solidFill>
                  <a:srgbClr val="FFFF00"/>
                </a:solidFill>
                <a:cs typeface="MCS Jeddah S_U normal." pitchFamily="2" charset="-78"/>
              </a:rPr>
              <a:t>اداب مهنة الحاسوب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59632" y="692696"/>
            <a:ext cx="6408712" cy="2736304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10- الالتزام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بالمعايير </a:t>
            </a:r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المهنية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يجب على المتخصصين الالتزام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بالمعايي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ر المطلوبة من قبل المؤسسات المهنية واتباع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الأكواد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الأخلاقية المعتمدة في مجال الحوسبة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9632" y="3933056"/>
            <a:ext cx="6480720" cy="2808312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تمثل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هذه الآداب إطار العمل الأخلاقي الذي يساهم في تعزيز </a:t>
            </a:r>
            <a:r>
              <a:rPr lang="ar-SA" sz="2800" u="sng" dirty="0">
                <a:solidFill>
                  <a:prstClr val="black"/>
                </a:solidFill>
                <a:cs typeface="MCS Jeddah S_U normal." pitchFamily="2" charset="-78"/>
              </a:rPr>
              <a:t>ثقة المجتمع في التقنيات الحديثة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ويساعد في ترسيخ قيم المسؤولية والثقة في مجالات الحوسبة والمعلومات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endParaRPr lang="en-US" sz="2800" dirty="0" smtClean="0">
              <a:solidFill>
                <a:prstClr val="black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6480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53050" y="188640"/>
            <a:ext cx="9649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الخيارات المهنية في مجال مهنة الحاسوب</a:t>
            </a:r>
          </a:p>
        </p:txBody>
      </p:sp>
      <p:sp>
        <p:nvSpPr>
          <p:cNvPr id="6" name="Rectangle 5"/>
          <p:cNvSpPr/>
          <p:nvPr/>
        </p:nvSpPr>
        <p:spPr>
          <a:xfrm>
            <a:off x="955190" y="3284984"/>
            <a:ext cx="7207494" cy="3057016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>
                <a:solidFill>
                  <a:schemeClr val="bg1"/>
                </a:solidFill>
                <a:cs typeface="MCS Jeddah S_U normal." pitchFamily="2" charset="-78"/>
              </a:rPr>
              <a:t>مطور </a:t>
            </a:r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برمجيات</a:t>
            </a:r>
            <a:endParaRPr lang="ar-SA" sz="40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يختص بتصميم وتطوير التطبيقات والبرمجيات للحواسيب والهواتف الذكية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وغيرها من </a:t>
            </a:r>
            <a:r>
              <a:rPr lang="ar-SA" sz="2800" u="sng" dirty="0" smtClean="0">
                <a:solidFill>
                  <a:srgbClr val="FFFF00"/>
                </a:solidFill>
                <a:cs typeface="MCS Jeddah S_U normal." pitchFamily="2" charset="-78"/>
              </a:rPr>
              <a:t>الأجهزة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ويطلب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منهم فهم لغات البرمجة مثل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جافا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وغيرها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853" y="1340768"/>
            <a:ext cx="867416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مجال الحوسبة يتميز بتنوع واسع من الخيارات المهنية التي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تتزايد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2800" dirty="0" smtClean="0">
              <a:solidFill>
                <a:srgbClr val="FFFF00"/>
              </a:solidFill>
              <a:cs typeface="MCS Jeddah S_U normal." pitchFamily="2" charset="-78"/>
            </a:endParaRPr>
          </a:p>
          <a:p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باستمرار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مع تطور التكنولوجيا وبعض الخيارات المهنية المتاحة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في</a:t>
            </a:r>
          </a:p>
          <a:p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هذا المجال هي :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331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116632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الخيارات المهنية في مجال الحوسبة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576" y="1484784"/>
            <a:ext cx="7207494" cy="202365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>
                <a:solidFill>
                  <a:schemeClr val="bg1"/>
                </a:solidFill>
                <a:cs typeface="MCS Jeddah S_U normal." pitchFamily="2" charset="-78"/>
              </a:rPr>
              <a:t>مهندس </a:t>
            </a:r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نظم</a:t>
            </a:r>
            <a:endParaRPr lang="ar-SA" sz="40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يقوم بتصميم وتطوير وتحليل الأنظمة الحاسوبية التي تتضمن البرمجيات والأجهزة مما يساعد المؤسسات على تحقيق أهدافها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4005064"/>
            <a:ext cx="7207494" cy="202365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مستشار </a:t>
            </a:r>
            <a:r>
              <a:rPr lang="ar-SA" sz="4000" dirty="0">
                <a:solidFill>
                  <a:schemeClr val="bg1"/>
                </a:solidFill>
                <a:cs typeface="MCS Jeddah S_U normal." pitchFamily="2" charset="-78"/>
              </a:rPr>
              <a:t>تكنولوجيا المعلومات </a:t>
            </a:r>
            <a:endParaRPr lang="ar-SA" sz="4000" dirty="0" smtClean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يقدم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المشورة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للخدمات والشركات حول أفضل الممارسات في استخدام التكنولوجيا لتحسين الأداء وزيادة الكفاءة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5892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116632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الخيارات المهنية في مجال الحوسبة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576" y="908720"/>
            <a:ext cx="7207494" cy="2520280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محلل بيانات</a:t>
            </a:r>
            <a:endParaRPr lang="ar-SA" sz="40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40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يختص بتحليل البيانات الخام وتفسيرها لاستخراج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رؤى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قيمة تساعد المؤسسات على اتخاذ قرارات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مستنيرة صحيحة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5576" y="3861048"/>
            <a:ext cx="7207494" cy="2599723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أخصائي </a:t>
            </a:r>
            <a:r>
              <a:rPr lang="ar-SA" sz="4000" dirty="0">
                <a:solidFill>
                  <a:schemeClr val="bg1"/>
                </a:solidFill>
                <a:cs typeface="MCS Jeddah S_U normal." pitchFamily="2" charset="-78"/>
              </a:rPr>
              <a:t>أمن </a:t>
            </a:r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المعلومات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يقوم بحماية الأنظمة والشبكات من الهجمات السيبرانية وضمان حماية البيانات الحساسة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0038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116632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الخيارات المهنية في مجال الحوسبة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474" y="1052736"/>
            <a:ext cx="7207494" cy="238369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مهندس شبكات</a:t>
            </a:r>
            <a:endParaRPr lang="ar-SA" sz="40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40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يعمل على تصميم وتنفيذ وصيانة الشبكات وضمان انسيابية المعلومات بين مختلف الأنظمة والأجهزة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4005064"/>
            <a:ext cx="7207494" cy="259228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4000" dirty="0">
                <a:solidFill>
                  <a:schemeClr val="bg1"/>
                </a:solidFill>
                <a:cs typeface="MCS Jeddah S_U normal." pitchFamily="2" charset="-78"/>
              </a:rPr>
              <a:t>مصمم واجهات </a:t>
            </a:r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المستخدم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يركز على تصميم واجهات المستخدم وتجربة المستخدم لتحسين التفاعل مع التطبيقات والمواقع الإلكترونية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768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116632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الخيارات المهنية في مجال الحوسبة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474" y="1052736"/>
            <a:ext cx="7207494" cy="2383699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مطوّر ألعاب</a:t>
            </a:r>
            <a:endParaRPr lang="ar-SA" sz="4000" dirty="0">
              <a:solidFill>
                <a:schemeClr val="bg1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يختص بتصميم وتطوير ألعاب الفيديو بدءًا من المفاهيم والأفكار إلى البرمجة والرسوم المتحركة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592" y="4005064"/>
            <a:ext cx="7207494" cy="259228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40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4000" dirty="0">
                <a:solidFill>
                  <a:schemeClr val="bg1"/>
                </a:solidFill>
                <a:cs typeface="MCS Jeddah S_U normal." pitchFamily="2" charset="-78"/>
              </a:rPr>
              <a:t>مدير مشاريع تقنية </a:t>
            </a:r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المعلومات</a:t>
            </a:r>
          </a:p>
          <a:p>
            <a:pPr algn="ctr"/>
            <a:r>
              <a:rPr lang="ar-SA" sz="40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يتولى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مسؤولية إدارة فرق التكنولوجيا وضمان تنفيذ المشاريع وفقًا للخطط الزمنية والميزانية المحددة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207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3024" y="116632"/>
            <a:ext cx="92170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الخيارات المهنية في مجال الحوسبة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616" y="1844824"/>
            <a:ext cx="7207494" cy="3960440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4000" dirty="0" smtClean="0">
                <a:solidFill>
                  <a:schemeClr val="bg1"/>
                </a:solidFill>
                <a:cs typeface="MCS Jeddah S_U normal." pitchFamily="2" charset="-78"/>
              </a:rPr>
              <a:t>مدرب تقني</a:t>
            </a:r>
          </a:p>
          <a:p>
            <a:pPr algn="ctr"/>
            <a:endParaRPr lang="ar-SA" sz="40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يعمل على تعليم وتدريب الأفراد أو 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فرق العمل على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استخدام التقنيات الحديثة وتطوير المهارات اللازمة في مجال الحوسبة</a:t>
            </a:r>
          </a:p>
        </p:txBody>
      </p:sp>
    </p:spTree>
    <p:extLst>
      <p:ext uri="{BB962C8B-B14F-4D97-AF65-F5344CB8AC3E}">
        <p14:creationId xmlns:p14="http://schemas.microsoft.com/office/powerpoint/2010/main" val="343994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423224" y="46246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2400" dirty="0">
                <a:solidFill>
                  <a:srgbClr val="FF0000"/>
                </a:solidFill>
                <a:cs typeface="MCS Taybah S_U normal." pitchFamily="2" charset="-78"/>
              </a:rPr>
              <a:t>قضايا أخلاقية ومهنية</a:t>
            </a: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8865</TotalTime>
  <Words>677</Words>
  <Application>Microsoft Office PowerPoint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المحاضرة السابقة</vt:lpstr>
      <vt:lpstr>المحاضرة السابقة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1271</cp:revision>
  <dcterms:created xsi:type="dcterms:W3CDTF">2011-08-17T19:43:41Z</dcterms:created>
  <dcterms:modified xsi:type="dcterms:W3CDTF">2025-12-30T16:19:29Z</dcterms:modified>
</cp:coreProperties>
</file>